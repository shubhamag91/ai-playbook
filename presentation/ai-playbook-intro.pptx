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Input ($/1M tokens)</c:v>
                </c:pt>
              </c:strCache>
            </c:strRef>
          </c:tx>
          <c:spPr>
            <a:solidFill>
              <a:srgbClr val="3B82F6"/>
            </a:solidFill>
          </c:spPr>
          <c:cat>
            <c:strRef>
              <c:f>Sheet1!$A$2:$A$7</c:f>
              <c:strCache>
                <c:ptCount val="6"/>
                <c:pt idx="0">
                  <c:v>Claude
Opus 4.7</c:v>
                </c:pt>
                <c:pt idx="1">
                  <c:v>Claude
Sonnet</c:v>
                </c:pt>
                <c:pt idx="2">
                  <c:v>GPT-5.5</c:v>
                </c:pt>
                <c:pt idx="3">
                  <c:v>Gemini
3.1 Pro</c:v>
                </c:pt>
                <c:pt idx="4">
                  <c:v>DeepSeek
V4</c:v>
                </c:pt>
                <c:pt idx="5">
                  <c:v>Llama 4
(self-host)</c:v>
                </c:pt>
              </c:strCache>
            </c:strRef>
          </c:cat>
          <c:val>
            <c:numRef>
              <c:f>Sheet1!$B$2:$B$7</c:f>
              <c:numCache>
                <c:formatCode>General</c:formatCode>
                <c:ptCount val="6"/>
                <c:pt idx="0">
                  <c:v>15</c:v>
                </c:pt>
                <c:pt idx="1">
                  <c:v>3</c:v>
                </c:pt>
                <c:pt idx="2">
                  <c:v>2</c:v>
                </c:pt>
                <c:pt idx="3">
                  <c:v>2</c:v>
                </c:pt>
                <c:pt idx="4">
                  <c:v>0.14</c:v>
                </c:pt>
                <c:pt idx="5">
                  <c:v>0</c:v>
                </c:pt>
              </c:numCache>
            </c:numRef>
          </c:val>
        </c:ser>
        <c:ser>
          <c:idx val="1"/>
          <c:order val="1"/>
          <c:tx>
            <c:strRef>
              <c:f>Sheet1!$C$1</c:f>
              <c:strCache>
                <c:ptCount val="1"/>
                <c:pt idx="0">
                  <c:v>Output ($/1M tokens)</c:v>
                </c:pt>
              </c:strCache>
            </c:strRef>
          </c:tx>
          <c:spPr>
            <a:solidFill>
              <a:srgbClr val="16A34A"/>
            </a:solidFill>
          </c:spPr>
          <c:cat>
            <c:strRef>
              <c:f>Sheet1!$A$2:$A$7</c:f>
              <c:strCache>
                <c:ptCount val="6"/>
                <c:pt idx="0">
                  <c:v>Claude
Opus 4.7</c:v>
                </c:pt>
                <c:pt idx="1">
                  <c:v>Claude
Sonnet</c:v>
                </c:pt>
                <c:pt idx="2">
                  <c:v>GPT-5.5</c:v>
                </c:pt>
                <c:pt idx="3">
                  <c:v>Gemini
3.1 Pro</c:v>
                </c:pt>
                <c:pt idx="4">
                  <c:v>DeepSeek
V4</c:v>
                </c:pt>
                <c:pt idx="5">
                  <c:v>Llama 4
(self-host)</c:v>
                </c:pt>
              </c:strCache>
            </c:strRef>
          </c:cat>
          <c:val>
            <c:numRef>
              <c:f>Sheet1!$C$2:$C$7</c:f>
              <c:numCache>
                <c:formatCode>General</c:formatCode>
                <c:ptCount val="6"/>
                <c:pt idx="0">
                  <c:v>75</c:v>
                </c:pt>
                <c:pt idx="1">
                  <c:v>15</c:v>
                </c:pt>
                <c:pt idx="2">
                  <c:v>8</c:v>
                </c:pt>
                <c:pt idx="3">
                  <c:v>12</c:v>
                </c:pt>
                <c:pt idx="4">
                  <c:v>0.28</c:v>
                </c:pt>
                <c:pt idx="5">
                  <c:v>0</c:v>
                </c:pt>
              </c:numCache>
            </c:numRef>
          </c:val>
        </c:ser>
        <c:dLbls>
          <c:numFmt formatCode="$#,##0.00" sourceLinked="0"/>
          <c:txPr>
            <a:bodyPr/>
            <a:lstStyle/>
            <a:p>
              <a:pPr>
                <a:defRPr sz="9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Today's goal: a practical understanding of AI/LLMs — what they are, how they work, which tools matter, and how to get started. No prior AI knowledge needed.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start with the big picture — what LLMs are, the current landscape, and separate reality from hype.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 software that predicts text. The word 'large' = lots of data, lots of parameters, lots of context. Timeline shows astonishing pace: 2017 transformer paper to fully capable reasoning models in just 9 years.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landscape at May 2026. Four stats capture the pace of change. DeepSeek at $0.14/1M tokens is 100x cheaper than Claude Opus at $15/1M. Open-weight means free to self-host. This changes the economics of building with 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 ratings show relative capability. DeepSeek matches or exceeds Claude on reasoning at 100x lower cost. Llama is free but 2 stars on reasoning. The gap between open and closed is closing fast.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capabilities slide is mission-critical for setting expectations. Key message: AI is a powerful tool, not magic. Know what it can and can't 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understand what AI can do. Let's understand how it actually works — just enough depth to make informed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pipeline: pretraining (expensive, foundation) → fine-tuning (cheap, adapt) → RLHF (makes it polite). Think of pretraining as elementary school, fine-tuning as college major, RLHF as etiquette training.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core concepts in one slide: tokens (the currency), parameters (the engine size), context (the memory). For cost decisions: more context = more tokens per request = higher cost.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concepts that every AI user should understand. Temperature is why the same question gets different answers. RAG is the most practical way to make AI work with your company's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Adaptation spectrum: prompting (free, instant) → RAG (add documents) → fine-tuning (train on examples). Most companies never need fine-tuning. Prompting + RAG covers 95% of use cases.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detail slide for the curious. Key point: decoder-only dominates modern LLMs. MoE is how they scale parameters without proportional cost.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practical part: which tools exist, what they cost, and how to choose the right approach for your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categories of AI tools. Most teams need one from each category: a chat tool, a coding tool, a content tool, and an API for building custom solutions.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tree for build vs buy. Most companies should use APIs. Only self-host when privacy demands it or volume exceeds 50M tokens/month.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bar chart. DeepSeek's cost advantage is staggering: $0.14 vs $15 per 1M input tokens. But price isn't everything — Claude and GPT offer better reliability and ecosystem.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pairing and use cases. Key message: you don't need everything. Start with free tiers, add tools as you need them. All 6 use cases achievable with existing 2026 tools.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getting-started roadmap with specific actions at each stage. Make it feel achievable — 30 minutes today, gradual ramp over a month.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practices distilled into actionable DOs and DON'Ts. The privacy point is critical — never paste confidential data into public AI services.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2-3 years. Key message: the pace is accelerating. What seems cutting-edge today will be table stakes in 18 months.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closing argument. AI + humans outperform either alone. The key skill of the next decade: knowing how to leverage AI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7 key takeaways. These should be memorable enough to repeat in the hallway after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Q&amp;A. Be prepared for questions about: cost, security/privacy, when to use AI, specific tools.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10332720" cy="1371600"/>
          </a:xfrm>
          <a:prstGeom prst="rect">
            <a:avLst/>
          </a:prstGeom>
          <a:noFill/>
        </p:spPr>
        <p:txBody>
          <a:bodyPr wrap="square">
            <a:spAutoFit/>
          </a:bodyPr>
          <a:lstStyle/>
          <a:p>
            <a:pPr algn="l">
              <a:defRPr sz="4800" b="1">
                <a:solidFill>
                  <a:srgbClr val="3B82F6"/>
                </a:solidFill>
              </a:defRPr>
            </a:pPr>
            <a:r>
              <a:t>AI &amp; LLMs</a:t>
            </a:r>
          </a:p>
        </p:txBody>
      </p:sp>
      <p:sp>
        <p:nvSpPr>
          <p:cNvPr id="3" name="TextBox 2"/>
          <p:cNvSpPr txBox="1"/>
          <p:nvPr/>
        </p:nvSpPr>
        <p:spPr>
          <a:xfrm>
            <a:off x="914400" y="2743200"/>
            <a:ext cx="10332720" cy="914400"/>
          </a:xfrm>
          <a:prstGeom prst="rect">
            <a:avLst/>
          </a:prstGeom>
          <a:noFill/>
        </p:spPr>
        <p:txBody>
          <a:bodyPr wrap="square">
            <a:spAutoFit/>
          </a:bodyPr>
          <a:lstStyle/>
          <a:p>
            <a:pPr algn="l">
              <a:defRPr sz="2400" b="0">
                <a:solidFill>
                  <a:srgbClr val="1A1A1A"/>
                </a:solidFill>
              </a:defRPr>
            </a:pPr>
            <a:r>
              <a:t>A Practical Introduction for Decision Makers</a:t>
            </a:r>
          </a:p>
        </p:txBody>
      </p:sp>
      <p:sp>
        <p:nvSpPr>
          <p:cNvPr id="4" name="TextBox 3"/>
          <p:cNvSpPr txBox="1"/>
          <p:nvPr/>
        </p:nvSpPr>
        <p:spPr>
          <a:xfrm>
            <a:off x="914400" y="3657600"/>
            <a:ext cx="10332720" cy="548640"/>
          </a:xfrm>
          <a:prstGeom prst="rect">
            <a:avLst/>
          </a:prstGeom>
          <a:noFill/>
        </p:spPr>
        <p:txBody>
          <a:bodyPr wrap="square">
            <a:spAutoFit/>
          </a:bodyPr>
          <a:lstStyle/>
          <a:p>
            <a:pPr algn="l">
              <a:defRPr sz="1400" b="0">
                <a:solidFill>
                  <a:srgbClr val="888880"/>
                </a:solidFill>
              </a:defRPr>
            </a:pPr>
            <a:r>
              <a:t>From the AI Playbook — May 2026</a:t>
            </a:r>
          </a:p>
        </p:txBody>
      </p:sp>
      <p:sp>
        <p:nvSpPr>
          <p:cNvPr id="5" name="Rectangle 4"/>
          <p:cNvSpPr/>
          <p:nvPr/>
        </p:nvSpPr>
        <p:spPr>
          <a:xfrm>
            <a:off x="914400" y="2743200"/>
            <a:ext cx="13716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1</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The AI Landscape</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What AI is, where we are, and what's real vs hype</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What Are LLMs?</a:t>
            </a:r>
          </a:p>
        </p:txBody>
      </p:sp>
      <p:sp>
        <p:nvSpPr>
          <p:cNvPr id="3" name="TextBox 2"/>
          <p:cNvSpPr txBox="1"/>
          <p:nvPr/>
        </p:nvSpPr>
        <p:spPr>
          <a:xfrm>
            <a:off x="914400" y="914400"/>
            <a:ext cx="5029200" cy="2286000"/>
          </a:xfrm>
          <a:prstGeom prst="rect">
            <a:avLst/>
          </a:prstGeom>
          <a:noFill/>
        </p:spPr>
        <p:txBody>
          <a:bodyPr wrap="square">
            <a:spAutoFit/>
          </a:bodyPr>
          <a:lstStyle/>
          <a:p>
            <a:pPr algn="l">
              <a:defRPr sz="1400" b="0">
                <a:solidFill>
                  <a:srgbClr val="1A1A1A"/>
                </a:solidFill>
              </a:defRPr>
            </a:pPr>
            <a:r>
              <a:t>A Large Language Model is software that predicts the next word in a sentence.</a:t>
            </a:r>
            <a:br/>
            <a:br/>
            <a:r>
              <a:t>Think of autocomplete on your phone — but trained on trillions of words from the internet, books, and code.</a:t>
            </a:r>
            <a:br/>
            <a:br/>
            <a:r>
              <a:t>Not magic. Pattern matching at massive scale.</a:t>
            </a:r>
            <a:br/>
            <a:br/>
            <a:r>
              <a:t>"Large" refers to three things:</a:t>
            </a:r>
            <a:br/>
            <a:r>
              <a:t>• Training data: trillions of words</a:t>
            </a:r>
            <a:br/>
            <a:r>
              <a:t>• Parameters: billions of prediction "dials"</a:t>
            </a:r>
            <a:br/>
            <a:r>
              <a:t>• Context: up to 1 million tokens of memory</a:t>
            </a:r>
          </a:p>
        </p:txBody>
      </p:sp>
      <p:sp>
        <p:nvSpPr>
          <p:cNvPr id="4" name="TextBox 3"/>
          <p:cNvSpPr txBox="1"/>
          <p:nvPr/>
        </p:nvSpPr>
        <p:spPr>
          <a:xfrm>
            <a:off x="6583680" y="914400"/>
            <a:ext cx="4572000" cy="457200"/>
          </a:xfrm>
          <a:prstGeom prst="rect">
            <a:avLst/>
          </a:prstGeom>
          <a:noFill/>
        </p:spPr>
        <p:txBody>
          <a:bodyPr wrap="square">
            <a:spAutoFit/>
          </a:bodyPr>
          <a:lstStyle/>
          <a:p>
            <a:pPr algn="l">
              <a:defRPr sz="1600" b="1">
                <a:solidFill>
                  <a:srgbClr val="3B82F6"/>
                </a:solidFill>
              </a:defRPr>
            </a:pPr>
            <a:r>
              <a:t>Evolution (2017–2026)</a:t>
            </a:r>
          </a:p>
        </p:txBody>
      </p:sp>
      <p:sp>
        <p:nvSpPr>
          <p:cNvPr id="5" name="Rectangle 4"/>
          <p:cNvSpPr/>
          <p:nvPr/>
        </p:nvSpPr>
        <p:spPr>
          <a:xfrm>
            <a:off x="7315200" y="1645920"/>
            <a:ext cx="25400" cy="36576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42048" y="1645920"/>
            <a:ext cx="137160" cy="137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620520"/>
            <a:ext cx="640080" cy="274320"/>
          </a:xfrm>
          <a:prstGeom prst="rect">
            <a:avLst/>
          </a:prstGeom>
          <a:noFill/>
        </p:spPr>
        <p:txBody>
          <a:bodyPr wrap="square">
            <a:spAutoFit/>
          </a:bodyPr>
          <a:lstStyle/>
          <a:p>
            <a:pPr algn="l">
              <a:defRPr sz="1100" b="1">
                <a:solidFill>
                  <a:srgbClr val="3B82F6"/>
                </a:solidFill>
              </a:defRPr>
            </a:pPr>
            <a:r>
              <a:t>2017</a:t>
            </a:r>
          </a:p>
        </p:txBody>
      </p:sp>
      <p:sp>
        <p:nvSpPr>
          <p:cNvPr id="8" name="TextBox 7"/>
          <p:cNvSpPr txBox="1"/>
          <p:nvPr/>
        </p:nvSpPr>
        <p:spPr>
          <a:xfrm>
            <a:off x="8229600" y="1620520"/>
            <a:ext cx="2743200" cy="274320"/>
          </a:xfrm>
          <a:prstGeom prst="rect">
            <a:avLst/>
          </a:prstGeom>
          <a:noFill/>
        </p:spPr>
        <p:txBody>
          <a:bodyPr wrap="square">
            <a:spAutoFit/>
          </a:bodyPr>
          <a:lstStyle/>
          <a:p>
            <a:pPr algn="l">
              <a:defRPr sz="1000" b="0">
                <a:solidFill>
                  <a:srgbClr val="1A1A1A"/>
                </a:solidFill>
              </a:defRPr>
            </a:pPr>
            <a:r>
              <a:t>Transformers paper</a:t>
            </a:r>
          </a:p>
        </p:txBody>
      </p:sp>
      <p:sp>
        <p:nvSpPr>
          <p:cNvPr id="9" name="Oval 8"/>
          <p:cNvSpPr/>
          <p:nvPr/>
        </p:nvSpPr>
        <p:spPr>
          <a:xfrm>
            <a:off x="7242048" y="2194560"/>
            <a:ext cx="137160" cy="137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2169160"/>
            <a:ext cx="640080" cy="274320"/>
          </a:xfrm>
          <a:prstGeom prst="rect">
            <a:avLst/>
          </a:prstGeom>
          <a:noFill/>
        </p:spPr>
        <p:txBody>
          <a:bodyPr wrap="square">
            <a:spAutoFit/>
          </a:bodyPr>
          <a:lstStyle/>
          <a:p>
            <a:pPr algn="l">
              <a:defRPr sz="1100" b="1">
                <a:solidFill>
                  <a:srgbClr val="3B82F6"/>
                </a:solidFill>
              </a:defRPr>
            </a:pPr>
            <a:r>
              <a:t>2020</a:t>
            </a:r>
          </a:p>
        </p:txBody>
      </p:sp>
      <p:sp>
        <p:nvSpPr>
          <p:cNvPr id="11" name="TextBox 10"/>
          <p:cNvSpPr txBox="1"/>
          <p:nvPr/>
        </p:nvSpPr>
        <p:spPr>
          <a:xfrm>
            <a:off x="8229600" y="2169160"/>
            <a:ext cx="2743200" cy="274320"/>
          </a:xfrm>
          <a:prstGeom prst="rect">
            <a:avLst/>
          </a:prstGeom>
          <a:noFill/>
        </p:spPr>
        <p:txBody>
          <a:bodyPr wrap="square">
            <a:spAutoFit/>
          </a:bodyPr>
          <a:lstStyle/>
          <a:p>
            <a:pPr algn="l">
              <a:defRPr sz="1000" b="0">
                <a:solidFill>
                  <a:srgbClr val="1A1A1A"/>
                </a:solidFill>
              </a:defRPr>
            </a:pPr>
            <a:r>
              <a:t>GPT-3 (175B)</a:t>
            </a:r>
          </a:p>
        </p:txBody>
      </p:sp>
      <p:sp>
        <p:nvSpPr>
          <p:cNvPr id="12" name="Oval 11"/>
          <p:cNvSpPr/>
          <p:nvPr/>
        </p:nvSpPr>
        <p:spPr>
          <a:xfrm>
            <a:off x="7242048" y="2743200"/>
            <a:ext cx="137160" cy="137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2717800"/>
            <a:ext cx="640080" cy="274320"/>
          </a:xfrm>
          <a:prstGeom prst="rect">
            <a:avLst/>
          </a:prstGeom>
          <a:noFill/>
        </p:spPr>
        <p:txBody>
          <a:bodyPr wrap="square">
            <a:spAutoFit/>
          </a:bodyPr>
          <a:lstStyle/>
          <a:p>
            <a:pPr algn="l">
              <a:defRPr sz="1100" b="1">
                <a:solidFill>
                  <a:srgbClr val="3B82F6"/>
                </a:solidFill>
              </a:defRPr>
            </a:pPr>
            <a:r>
              <a:t>2022</a:t>
            </a:r>
          </a:p>
        </p:txBody>
      </p:sp>
      <p:sp>
        <p:nvSpPr>
          <p:cNvPr id="14" name="TextBox 13"/>
          <p:cNvSpPr txBox="1"/>
          <p:nvPr/>
        </p:nvSpPr>
        <p:spPr>
          <a:xfrm>
            <a:off x="8229600" y="2717800"/>
            <a:ext cx="2743200" cy="274320"/>
          </a:xfrm>
          <a:prstGeom prst="rect">
            <a:avLst/>
          </a:prstGeom>
          <a:noFill/>
        </p:spPr>
        <p:txBody>
          <a:bodyPr wrap="square">
            <a:spAutoFit/>
          </a:bodyPr>
          <a:lstStyle/>
          <a:p>
            <a:pPr algn="l">
              <a:defRPr sz="1000" b="0">
                <a:solidFill>
                  <a:srgbClr val="1A1A1A"/>
                </a:solidFill>
              </a:defRPr>
            </a:pPr>
            <a:r>
              <a:t>ChatGPT launch</a:t>
            </a:r>
          </a:p>
        </p:txBody>
      </p:sp>
      <p:sp>
        <p:nvSpPr>
          <p:cNvPr id="15" name="Oval 14"/>
          <p:cNvSpPr/>
          <p:nvPr/>
        </p:nvSpPr>
        <p:spPr>
          <a:xfrm>
            <a:off x="7242048" y="3291840"/>
            <a:ext cx="137160" cy="137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3266440"/>
            <a:ext cx="640080" cy="274320"/>
          </a:xfrm>
          <a:prstGeom prst="rect">
            <a:avLst/>
          </a:prstGeom>
          <a:noFill/>
        </p:spPr>
        <p:txBody>
          <a:bodyPr wrap="square">
            <a:spAutoFit/>
          </a:bodyPr>
          <a:lstStyle/>
          <a:p>
            <a:pPr algn="l">
              <a:defRPr sz="1100" b="1">
                <a:solidFill>
                  <a:srgbClr val="3B82F6"/>
                </a:solidFill>
              </a:defRPr>
            </a:pPr>
            <a:r>
              <a:t>2023</a:t>
            </a:r>
          </a:p>
        </p:txBody>
      </p:sp>
      <p:sp>
        <p:nvSpPr>
          <p:cNvPr id="17" name="TextBox 16"/>
          <p:cNvSpPr txBox="1"/>
          <p:nvPr/>
        </p:nvSpPr>
        <p:spPr>
          <a:xfrm>
            <a:off x="8229600" y="3266440"/>
            <a:ext cx="2743200" cy="274320"/>
          </a:xfrm>
          <a:prstGeom prst="rect">
            <a:avLst/>
          </a:prstGeom>
          <a:noFill/>
        </p:spPr>
        <p:txBody>
          <a:bodyPr wrap="square">
            <a:spAutoFit/>
          </a:bodyPr>
          <a:lstStyle/>
          <a:p>
            <a:pPr algn="l">
              <a:defRPr sz="1000" b="0">
                <a:solidFill>
                  <a:srgbClr val="1A1A1A"/>
                </a:solidFill>
              </a:defRPr>
            </a:pPr>
            <a:r>
              <a:t>GPT-4, Claude 2</a:t>
            </a:r>
          </a:p>
        </p:txBody>
      </p:sp>
      <p:sp>
        <p:nvSpPr>
          <p:cNvPr id="18" name="Oval 17"/>
          <p:cNvSpPr/>
          <p:nvPr/>
        </p:nvSpPr>
        <p:spPr>
          <a:xfrm>
            <a:off x="7242048" y="3840480"/>
            <a:ext cx="137160" cy="137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3815080"/>
            <a:ext cx="640080" cy="274320"/>
          </a:xfrm>
          <a:prstGeom prst="rect">
            <a:avLst/>
          </a:prstGeom>
          <a:noFill/>
        </p:spPr>
        <p:txBody>
          <a:bodyPr wrap="square">
            <a:spAutoFit/>
          </a:bodyPr>
          <a:lstStyle/>
          <a:p>
            <a:pPr algn="l">
              <a:defRPr sz="1100" b="1">
                <a:solidFill>
                  <a:srgbClr val="3B82F6"/>
                </a:solidFill>
              </a:defRPr>
            </a:pPr>
            <a:r>
              <a:t>2024</a:t>
            </a:r>
          </a:p>
        </p:txBody>
      </p:sp>
      <p:sp>
        <p:nvSpPr>
          <p:cNvPr id="20" name="TextBox 19"/>
          <p:cNvSpPr txBox="1"/>
          <p:nvPr/>
        </p:nvSpPr>
        <p:spPr>
          <a:xfrm>
            <a:off x="8229600" y="3815080"/>
            <a:ext cx="2743200" cy="274320"/>
          </a:xfrm>
          <a:prstGeom prst="rect">
            <a:avLst/>
          </a:prstGeom>
          <a:noFill/>
        </p:spPr>
        <p:txBody>
          <a:bodyPr wrap="square">
            <a:spAutoFit/>
          </a:bodyPr>
          <a:lstStyle/>
          <a:p>
            <a:pPr algn="l">
              <a:defRPr sz="1000" b="0">
                <a:solidFill>
                  <a:srgbClr val="1A1A1A"/>
                </a:solidFill>
              </a:defRPr>
            </a:pPr>
            <a:r>
              <a:t>Claude 3.5, GPT-4o</a:t>
            </a:r>
          </a:p>
        </p:txBody>
      </p:sp>
      <p:sp>
        <p:nvSpPr>
          <p:cNvPr id="21" name="Oval 20"/>
          <p:cNvSpPr/>
          <p:nvPr/>
        </p:nvSpPr>
        <p:spPr>
          <a:xfrm>
            <a:off x="7242048" y="4389120"/>
            <a:ext cx="137160" cy="137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4363720"/>
            <a:ext cx="640080" cy="274320"/>
          </a:xfrm>
          <a:prstGeom prst="rect">
            <a:avLst/>
          </a:prstGeom>
          <a:noFill/>
        </p:spPr>
        <p:txBody>
          <a:bodyPr wrap="square">
            <a:spAutoFit/>
          </a:bodyPr>
          <a:lstStyle/>
          <a:p>
            <a:pPr algn="l">
              <a:defRPr sz="1100" b="1">
                <a:solidFill>
                  <a:srgbClr val="3B82F6"/>
                </a:solidFill>
              </a:defRPr>
            </a:pPr>
            <a:r>
              <a:t>2025</a:t>
            </a:r>
          </a:p>
        </p:txBody>
      </p:sp>
      <p:sp>
        <p:nvSpPr>
          <p:cNvPr id="23" name="TextBox 22"/>
          <p:cNvSpPr txBox="1"/>
          <p:nvPr/>
        </p:nvSpPr>
        <p:spPr>
          <a:xfrm>
            <a:off x="8229600" y="4363720"/>
            <a:ext cx="2743200" cy="274320"/>
          </a:xfrm>
          <a:prstGeom prst="rect">
            <a:avLst/>
          </a:prstGeom>
          <a:noFill/>
        </p:spPr>
        <p:txBody>
          <a:bodyPr wrap="square">
            <a:spAutoFit/>
          </a:bodyPr>
          <a:lstStyle/>
          <a:p>
            <a:pPr algn="l">
              <a:defRPr sz="1000" b="0">
                <a:solidFill>
                  <a:srgbClr val="1A1A1A"/>
                </a:solidFill>
              </a:defRPr>
            </a:pPr>
            <a:r>
              <a:t>o1, o3 reasoning</a:t>
            </a:r>
          </a:p>
        </p:txBody>
      </p:sp>
      <p:sp>
        <p:nvSpPr>
          <p:cNvPr id="24" name="Oval 23"/>
          <p:cNvSpPr/>
          <p:nvPr/>
        </p:nvSpPr>
        <p:spPr>
          <a:xfrm>
            <a:off x="7242048" y="4937760"/>
            <a:ext cx="137160" cy="137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0" y="4912360"/>
            <a:ext cx="640080" cy="274320"/>
          </a:xfrm>
          <a:prstGeom prst="rect">
            <a:avLst/>
          </a:prstGeom>
          <a:noFill/>
        </p:spPr>
        <p:txBody>
          <a:bodyPr wrap="square">
            <a:spAutoFit/>
          </a:bodyPr>
          <a:lstStyle/>
          <a:p>
            <a:pPr algn="l">
              <a:defRPr sz="1100" b="1">
                <a:solidFill>
                  <a:srgbClr val="3B82F6"/>
                </a:solidFill>
              </a:defRPr>
            </a:pPr>
            <a:r>
              <a:t>2026</a:t>
            </a:r>
          </a:p>
        </p:txBody>
      </p:sp>
      <p:sp>
        <p:nvSpPr>
          <p:cNvPr id="26" name="TextBox 25"/>
          <p:cNvSpPr txBox="1"/>
          <p:nvPr/>
        </p:nvSpPr>
        <p:spPr>
          <a:xfrm>
            <a:off x="8229600" y="4912360"/>
            <a:ext cx="2743200" cy="274320"/>
          </a:xfrm>
          <a:prstGeom prst="rect">
            <a:avLst/>
          </a:prstGeom>
          <a:noFill/>
        </p:spPr>
        <p:txBody>
          <a:bodyPr wrap="square">
            <a:spAutoFit/>
          </a:bodyPr>
          <a:lstStyle/>
          <a:p>
            <a:pPr algn="l">
              <a:defRPr sz="1000" b="0">
                <a:solidFill>
                  <a:srgbClr val="1A1A1A"/>
                </a:solidFill>
              </a:defRPr>
            </a:pPr>
            <a:r>
              <a:t>Claude 4.7, GPT-5.5</a:t>
            </a:r>
          </a:p>
        </p:txBody>
      </p:sp>
      <p:sp>
        <p:nvSpPr>
          <p:cNvPr id="27" name="Rounded Rectangle 26"/>
          <p:cNvSpPr/>
          <p:nvPr/>
        </p:nvSpPr>
        <p:spPr>
          <a:xfrm>
            <a:off x="914400" y="5303520"/>
            <a:ext cx="10332720" cy="82296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5440680"/>
            <a:ext cx="9784080" cy="548640"/>
          </a:xfrm>
          <a:prstGeom prst="rect">
            <a:avLst/>
          </a:prstGeom>
          <a:noFill/>
        </p:spPr>
        <p:txBody>
          <a:bodyPr wrap="square">
            <a:spAutoFit/>
          </a:bodyPr>
          <a:lstStyle/>
          <a:p>
            <a:pPr algn="l">
              <a:defRPr sz="1200" b="1">
                <a:solidFill>
                  <a:srgbClr val="3B82F6"/>
                </a:solidFill>
              </a:defRPr>
            </a:pPr>
            <a:r>
              <a:t>▶ Key: Prices dropping 50%+ per year. What cost $1 in 2023 costs ~$0.10 today. Frontier models are becoming free.</a:t>
            </a:r>
          </a:p>
        </p:txBody>
      </p:sp>
      <p:sp>
        <p:nvSpPr>
          <p:cNvPr id="29" name="TextBox 2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The 2026 AI Landscape</a:t>
            </a:r>
          </a:p>
        </p:txBody>
      </p:sp>
      <p:sp>
        <p:nvSpPr>
          <p:cNvPr id="3" name="Rounded Rectangle 2"/>
          <p:cNvSpPr/>
          <p:nvPr/>
        </p:nvSpPr>
        <p:spPr>
          <a:xfrm>
            <a:off x="914400" y="914400"/>
            <a:ext cx="2286000" cy="91440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16A34A"/>
                </a:solidFill>
              </a:defRPr>
            </a:pPr>
            <a:r>
              <a:t>50%+</a:t>
            </a:r>
          </a:p>
          <a:p>
            <a:pPr algn="ctr">
              <a:defRPr sz="1000">
                <a:solidFill>
                  <a:srgbClr val="888880"/>
                </a:solidFill>
              </a:defRPr>
            </a:pPr>
            <a:r>
              <a:t>Price drop per year</a:t>
            </a:r>
          </a:p>
        </p:txBody>
      </p:sp>
      <p:sp>
        <p:nvSpPr>
          <p:cNvPr id="4" name="Rounded Rectangle 3"/>
          <p:cNvSpPr/>
          <p:nvPr/>
        </p:nvSpPr>
        <p:spPr>
          <a:xfrm>
            <a:off x="3474720" y="914400"/>
            <a:ext cx="2286000" cy="91440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3B82F6"/>
                </a:solidFill>
              </a:defRPr>
            </a:pPr>
            <a:r>
              <a:t>1M</a:t>
            </a:r>
          </a:p>
          <a:p>
            <a:pPr algn="ctr">
              <a:defRPr sz="1000">
                <a:solidFill>
                  <a:srgbClr val="888880"/>
                </a:solidFill>
              </a:defRPr>
            </a:pPr>
            <a:r>
              <a:t>Max context tokens</a:t>
            </a:r>
          </a:p>
        </p:txBody>
      </p:sp>
      <p:sp>
        <p:nvSpPr>
          <p:cNvPr id="5" name="Rounded Rectangle 4"/>
          <p:cNvSpPr/>
          <p:nvPr/>
        </p:nvSpPr>
        <p:spPr>
          <a:xfrm>
            <a:off x="6035040" y="914400"/>
            <a:ext cx="2286000" cy="91440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D97706"/>
                </a:solidFill>
              </a:defRPr>
            </a:pPr>
            <a:r>
              <a:t>87%</a:t>
            </a:r>
          </a:p>
          <a:p>
            <a:pPr algn="ctr">
              <a:defRPr sz="1000">
                <a:solidFill>
                  <a:srgbClr val="888880"/>
                </a:solidFill>
              </a:defRPr>
            </a:pPr>
            <a:r>
              <a:t>Devs using AI tools</a:t>
            </a:r>
          </a:p>
        </p:txBody>
      </p:sp>
      <p:sp>
        <p:nvSpPr>
          <p:cNvPr id="6" name="Rounded Rectangle 5"/>
          <p:cNvSpPr/>
          <p:nvPr/>
        </p:nvSpPr>
        <p:spPr>
          <a:xfrm>
            <a:off x="8595360" y="914400"/>
            <a:ext cx="2560320" cy="91440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16A34A"/>
                </a:solidFill>
              </a:defRPr>
            </a:pPr>
            <a:r>
              <a:t>$0.14/1M</a:t>
            </a:r>
          </a:p>
          <a:p>
            <a:pPr algn="ctr">
              <a:defRPr sz="1000">
                <a:solidFill>
                  <a:srgbClr val="888880"/>
                </a:solidFill>
              </a:defRPr>
            </a:pPr>
            <a:r>
              <a:t>Cheapest frontier model</a:t>
            </a:r>
          </a:p>
        </p:txBody>
      </p:sp>
      <p:graphicFrame>
        <p:nvGraphicFramePr>
          <p:cNvPr id="7" name="Table 6"/>
          <p:cNvGraphicFramePr>
            <a:graphicFrameLocks noGrp="1"/>
          </p:cNvGraphicFramePr>
          <p:nvPr/>
        </p:nvGraphicFramePr>
        <p:xfrm>
          <a:off x="914400" y="2103120"/>
          <a:ext cx="10032720" cy="3008376"/>
        </p:xfrm>
        <a:graphic>
          <a:graphicData uri="http://schemas.openxmlformats.org/drawingml/2006/table">
            <a:tbl>
              <a:tblPr firstRow="1" bandRow="1">
                <a:tableStyleId>{5C22544A-7EE6-4342-B048-85BDC9FD1C3A}</a:tableStyleId>
              </a:tblPr>
              <a:tblGrid>
                <a:gridCol w="2006544"/>
                <a:gridCol w="2006544"/>
                <a:gridCol w="2006544"/>
                <a:gridCol w="2006544"/>
                <a:gridCol w="2006544"/>
              </a:tblGrid>
              <a:tr h="429768">
                <a:tc>
                  <a:txBody>
                    <a:bodyPr/>
                    <a:lstStyle/>
                    <a:p>
                      <a:pPr>
                        <a:defRPr sz="1000" b="1">
                          <a:solidFill>
                            <a:srgbClr val="FFFFFF"/>
                          </a:solidFill>
                        </a:defRPr>
                      </a:pPr>
                      <a:r>
                        <a:t>Company</a:t>
                      </a:r>
                    </a:p>
                  </a:txBody>
                  <a:tcPr>
                    <a:solidFill>
                      <a:srgbClr val="3B82F6"/>
                    </a:solidFill>
                  </a:tcPr>
                </a:tc>
                <a:tc>
                  <a:txBody>
                    <a:bodyPr/>
                    <a:lstStyle/>
                    <a:p>
                      <a:pPr>
                        <a:defRPr sz="1000" b="1">
                          <a:solidFill>
                            <a:srgbClr val="FFFFFF"/>
                          </a:solidFill>
                        </a:defRPr>
                      </a:pPr>
                      <a:r>
                        <a:t>Model</a:t>
                      </a:r>
                    </a:p>
                  </a:txBody>
                  <a:tcPr>
                    <a:solidFill>
                      <a:srgbClr val="3B82F6"/>
                    </a:solidFill>
                  </a:tcPr>
                </a:tc>
                <a:tc>
                  <a:txBody>
                    <a:bodyPr/>
                    <a:lstStyle/>
                    <a:p>
                      <a:pPr>
                        <a:defRPr sz="1000" b="1">
                          <a:solidFill>
                            <a:srgbClr val="FFFFFF"/>
                          </a:solidFill>
                        </a:defRPr>
                      </a:pPr>
                      <a:r>
                        <a:t>Context</a:t>
                      </a:r>
                    </a:p>
                  </a:txBody>
                  <a:tcPr>
                    <a:solidFill>
                      <a:srgbClr val="3B82F6"/>
                    </a:solidFill>
                  </a:tcPr>
                </a:tc>
                <a:tc>
                  <a:txBody>
                    <a:bodyPr/>
                    <a:lstStyle/>
                    <a:p>
                      <a:pPr>
                        <a:defRPr sz="1000" b="1">
                          <a:solidFill>
                            <a:srgbClr val="FFFFFF"/>
                          </a:solidFill>
                        </a:defRPr>
                      </a:pPr>
                      <a:r>
                        <a:t>Best Strength</a:t>
                      </a:r>
                    </a:p>
                  </a:txBody>
                  <a:tcPr>
                    <a:solidFill>
                      <a:srgbClr val="3B82F6"/>
                    </a:solidFill>
                  </a:tcPr>
                </a:tc>
                <a:tc>
                  <a:txBody>
                    <a:bodyPr/>
                    <a:lstStyle/>
                    <a:p>
                      <a:pPr>
                        <a:defRPr sz="1000" b="1">
                          <a:solidFill>
                            <a:srgbClr val="FFFFFF"/>
                          </a:solidFill>
                        </a:defRPr>
                      </a:pPr>
                      <a:r>
                        <a:t>Input Price/1M</a:t>
                      </a:r>
                    </a:p>
                  </a:txBody>
                  <a:tcPr>
                    <a:solidFill>
                      <a:srgbClr val="3B82F6"/>
                    </a:solidFill>
                  </a:tcPr>
                </a:tc>
              </a:tr>
              <a:tr h="429768">
                <a:tc>
                  <a:txBody>
                    <a:bodyPr/>
                    <a:lstStyle/>
                    <a:p>
                      <a:pPr>
                        <a:defRPr sz="1100">
                          <a:solidFill>
                            <a:srgbClr val="1A1A1A"/>
                          </a:solidFill>
                        </a:defRPr>
                      </a:pPr>
                      <a:r>
                        <a:t>Anthropic</a:t>
                      </a:r>
                    </a:p>
                  </a:txBody>
                  <a:tcPr>
                    <a:solidFill>
                      <a:srgbClr val="E0DCD6"/>
                    </a:solidFill>
                  </a:tcPr>
                </a:tc>
                <a:tc>
                  <a:txBody>
                    <a:bodyPr/>
                    <a:lstStyle/>
                    <a:p>
                      <a:pPr>
                        <a:defRPr sz="1100">
                          <a:solidFill>
                            <a:srgbClr val="1A1A1A"/>
                          </a:solidFill>
                        </a:defRPr>
                      </a:pPr>
                      <a:r>
                        <a:t>Claude Opus 4.7</a:t>
                      </a:r>
                    </a:p>
                  </a:txBody>
                  <a:tcPr>
                    <a:solidFill>
                      <a:srgbClr val="E0DCD6"/>
                    </a:solidFill>
                  </a:tcPr>
                </a:tc>
                <a:tc>
                  <a:txBody>
                    <a:bodyPr/>
                    <a:lstStyle/>
                    <a:p>
                      <a:pPr>
                        <a:defRPr sz="1100">
                          <a:solidFill>
                            <a:srgbClr val="1A1A1A"/>
                          </a:solidFill>
                        </a:defRPr>
                      </a:pPr>
                      <a:r>
                        <a:t>400K</a:t>
                      </a:r>
                    </a:p>
                  </a:txBody>
                  <a:tcPr>
                    <a:solidFill>
                      <a:srgbClr val="E0DCD6"/>
                    </a:solidFill>
                  </a:tcPr>
                </a:tc>
                <a:tc>
                  <a:txBody>
                    <a:bodyPr/>
                    <a:lstStyle/>
                    <a:p>
                      <a:pPr>
                        <a:defRPr sz="1100">
                          <a:solidFill>
                            <a:srgbClr val="1A1A1A"/>
                          </a:solidFill>
                        </a:defRPr>
                      </a:pPr>
                      <a:r>
                        <a:t>Best reasoning &amp; writing</a:t>
                      </a:r>
                    </a:p>
                  </a:txBody>
                  <a:tcPr>
                    <a:solidFill>
                      <a:srgbClr val="E0DCD6"/>
                    </a:solidFill>
                  </a:tcPr>
                </a:tc>
                <a:tc>
                  <a:txBody>
                    <a:bodyPr/>
                    <a:lstStyle/>
                    <a:p>
                      <a:pPr>
                        <a:defRPr sz="1100">
                          <a:solidFill>
                            <a:srgbClr val="1A1A1A"/>
                          </a:solidFill>
                        </a:defRPr>
                      </a:pPr>
                      <a:r>
                        <a:t>$15</a:t>
                      </a:r>
                    </a:p>
                  </a:txBody>
                  <a:tcPr>
                    <a:solidFill>
                      <a:srgbClr val="E0DCD6"/>
                    </a:solidFill>
                  </a:tcPr>
                </a:tc>
              </a:tr>
              <a:tr h="429768">
                <a:tc>
                  <a:txBody>
                    <a:bodyPr/>
                    <a:lstStyle/>
                    <a:p>
                      <a:pPr>
                        <a:defRPr sz="1100">
                          <a:solidFill>
                            <a:srgbClr val="1A1A1A"/>
                          </a:solidFill>
                        </a:defRPr>
                      </a:pPr>
                      <a:r>
                        <a:t>OpenAI</a:t>
                      </a:r>
                    </a:p>
                  </a:txBody>
                  <a:tcPr/>
                </a:tc>
                <a:tc>
                  <a:txBody>
                    <a:bodyPr/>
                    <a:lstStyle/>
                    <a:p>
                      <a:pPr>
                        <a:defRPr sz="1100">
                          <a:solidFill>
                            <a:srgbClr val="1A1A1A"/>
                          </a:solidFill>
                        </a:defRPr>
                      </a:pPr>
                      <a:r>
                        <a:t>GPT-5.5</a:t>
                      </a:r>
                    </a:p>
                  </a:txBody>
                  <a:tcPr/>
                </a:tc>
                <a:tc>
                  <a:txBody>
                    <a:bodyPr/>
                    <a:lstStyle/>
                    <a:p>
                      <a:pPr>
                        <a:defRPr sz="1100">
                          <a:solidFill>
                            <a:srgbClr val="1A1A1A"/>
                          </a:solidFill>
                        </a:defRPr>
                      </a:pPr>
                      <a:r>
                        <a:t>128K</a:t>
                      </a:r>
                    </a:p>
                  </a:txBody>
                  <a:tcPr/>
                </a:tc>
                <a:tc>
                  <a:txBody>
                    <a:bodyPr/>
                    <a:lstStyle/>
                    <a:p>
                      <a:pPr>
                        <a:defRPr sz="1100">
                          <a:solidFill>
                            <a:srgbClr val="1A1A1A"/>
                          </a:solidFill>
                        </a:defRPr>
                      </a:pPr>
                      <a:r>
                        <a:t>All-purpose, fastest</a:t>
                      </a:r>
                    </a:p>
                  </a:txBody>
                  <a:tcPr/>
                </a:tc>
                <a:tc>
                  <a:txBody>
                    <a:bodyPr/>
                    <a:lstStyle/>
                    <a:p>
                      <a:pPr>
                        <a:defRPr sz="1100">
                          <a:solidFill>
                            <a:srgbClr val="1A1A1A"/>
                          </a:solidFill>
                        </a:defRPr>
                      </a:pPr>
                      <a:r>
                        <a:t>$2</a:t>
                      </a:r>
                    </a:p>
                  </a:txBody>
                  <a:tcPr/>
                </a:tc>
              </a:tr>
              <a:tr h="429768">
                <a:tc>
                  <a:txBody>
                    <a:bodyPr/>
                    <a:lstStyle/>
                    <a:p>
                      <a:pPr>
                        <a:defRPr sz="1100">
                          <a:solidFill>
                            <a:srgbClr val="1A1A1A"/>
                          </a:solidFill>
                        </a:defRPr>
                      </a:pPr>
                      <a:r>
                        <a:t>Google</a:t>
                      </a:r>
                    </a:p>
                  </a:txBody>
                  <a:tcPr>
                    <a:solidFill>
                      <a:srgbClr val="E0DCD6"/>
                    </a:solidFill>
                  </a:tcPr>
                </a:tc>
                <a:tc>
                  <a:txBody>
                    <a:bodyPr/>
                    <a:lstStyle/>
                    <a:p>
                      <a:pPr>
                        <a:defRPr sz="1100">
                          <a:solidFill>
                            <a:srgbClr val="1A1A1A"/>
                          </a:solidFill>
                        </a:defRPr>
                      </a:pPr>
                      <a:r>
                        <a:t>Gemini 3.1 Pro</a:t>
                      </a:r>
                    </a:p>
                  </a:txBody>
                  <a:tcPr>
                    <a:solidFill>
                      <a:srgbClr val="E0DCD6"/>
                    </a:solidFill>
                  </a:tcPr>
                </a:tc>
                <a:tc>
                  <a:txBody>
                    <a:bodyPr/>
                    <a:lstStyle/>
                    <a:p>
                      <a:pPr>
                        <a:defRPr sz="1100">
                          <a:solidFill>
                            <a:srgbClr val="1A1A1A"/>
                          </a:solidFill>
                        </a:defRPr>
                      </a:pPr>
                      <a:r>
                        <a:t>1M (largest)</a:t>
                      </a:r>
                    </a:p>
                  </a:txBody>
                  <a:tcPr>
                    <a:solidFill>
                      <a:srgbClr val="E0DCD6"/>
                    </a:solidFill>
                  </a:tcPr>
                </a:tc>
                <a:tc>
                  <a:txBody>
                    <a:bodyPr/>
                    <a:lstStyle/>
                    <a:p>
                      <a:pPr>
                        <a:defRPr sz="1100">
                          <a:solidFill>
                            <a:srgbClr val="1A1A1A"/>
                          </a:solidFill>
                        </a:defRPr>
                      </a:pPr>
                      <a:r>
                        <a:t>Research, long docs</a:t>
                      </a:r>
                    </a:p>
                  </a:txBody>
                  <a:tcPr>
                    <a:solidFill>
                      <a:srgbClr val="E0DCD6"/>
                    </a:solidFill>
                  </a:tcPr>
                </a:tc>
                <a:tc>
                  <a:txBody>
                    <a:bodyPr/>
                    <a:lstStyle/>
                    <a:p>
                      <a:pPr>
                        <a:defRPr sz="1100">
                          <a:solidFill>
                            <a:srgbClr val="1A1A1A"/>
                          </a:solidFill>
                        </a:defRPr>
                      </a:pPr>
                      <a:r>
                        <a:t>$2</a:t>
                      </a:r>
                    </a:p>
                  </a:txBody>
                  <a:tcPr>
                    <a:solidFill>
                      <a:srgbClr val="E0DCD6"/>
                    </a:solidFill>
                  </a:tcPr>
                </a:tc>
              </a:tr>
              <a:tr h="429768">
                <a:tc>
                  <a:txBody>
                    <a:bodyPr/>
                    <a:lstStyle/>
                    <a:p>
                      <a:pPr>
                        <a:defRPr sz="1100">
                          <a:solidFill>
                            <a:srgbClr val="1A1A1A"/>
                          </a:solidFill>
                        </a:defRPr>
                      </a:pPr>
                      <a:r>
                        <a:t>DeepSeek</a:t>
                      </a:r>
                    </a:p>
                  </a:txBody>
                  <a:tcPr/>
                </a:tc>
                <a:tc>
                  <a:txBody>
                    <a:bodyPr/>
                    <a:lstStyle/>
                    <a:p>
                      <a:pPr>
                        <a:defRPr sz="1100">
                          <a:solidFill>
                            <a:srgbClr val="1A1A1A"/>
                          </a:solidFill>
                        </a:defRPr>
                      </a:pPr>
                      <a:r>
                        <a:t>DeepSeek V4</a:t>
                      </a:r>
                    </a:p>
                  </a:txBody>
                  <a:tcPr/>
                </a:tc>
                <a:tc>
                  <a:txBody>
                    <a:bodyPr/>
                    <a:lstStyle/>
                    <a:p>
                      <a:pPr>
                        <a:defRPr sz="1100">
                          <a:solidFill>
                            <a:srgbClr val="1A1A1A"/>
                          </a:solidFill>
                        </a:defRPr>
                      </a:pPr>
                      <a:r>
                        <a:t>256K</a:t>
                      </a:r>
                    </a:p>
                  </a:txBody>
                  <a:tcPr/>
                </a:tc>
                <a:tc>
                  <a:txBody>
                    <a:bodyPr/>
                    <a:lstStyle/>
                    <a:p>
                      <a:pPr>
                        <a:defRPr sz="1100">
                          <a:solidFill>
                            <a:srgbClr val="1A1A1A"/>
                          </a:solidFill>
                        </a:defRPr>
                      </a:pPr>
                      <a:r>
                        <a:t>10-50x cheaper, open</a:t>
                      </a:r>
                    </a:p>
                  </a:txBody>
                  <a:tcPr/>
                </a:tc>
                <a:tc>
                  <a:txBody>
                    <a:bodyPr/>
                    <a:lstStyle/>
                    <a:p>
                      <a:pPr>
                        <a:defRPr sz="1100">
                          <a:solidFill>
                            <a:srgbClr val="1A1A1A"/>
                          </a:solidFill>
                        </a:defRPr>
                      </a:pPr>
                      <a:r>
                        <a:t>$0.14</a:t>
                      </a:r>
                    </a:p>
                  </a:txBody>
                  <a:tcPr/>
                </a:tc>
              </a:tr>
              <a:tr h="429768">
                <a:tc>
                  <a:txBody>
                    <a:bodyPr/>
                    <a:lstStyle/>
                    <a:p>
                      <a:pPr>
                        <a:defRPr sz="1100">
                          <a:solidFill>
                            <a:srgbClr val="1A1A1A"/>
                          </a:solidFill>
                        </a:defRPr>
                      </a:pPr>
                      <a:r>
                        <a:t>Meta</a:t>
                      </a:r>
                    </a:p>
                  </a:txBody>
                  <a:tcPr>
                    <a:solidFill>
                      <a:srgbClr val="E0DCD6"/>
                    </a:solidFill>
                  </a:tcPr>
                </a:tc>
                <a:tc>
                  <a:txBody>
                    <a:bodyPr/>
                    <a:lstStyle/>
                    <a:p>
                      <a:pPr>
                        <a:defRPr sz="1100">
                          <a:solidFill>
                            <a:srgbClr val="1A1A1A"/>
                          </a:solidFill>
                        </a:defRPr>
                      </a:pPr>
                      <a:r>
                        <a:t>Llama 4 Scout</a:t>
                      </a:r>
                    </a:p>
                  </a:txBody>
                  <a:tcPr>
                    <a:solidFill>
                      <a:srgbClr val="E0DCD6"/>
                    </a:solidFill>
                  </a:tcPr>
                </a:tc>
                <a:tc>
                  <a:txBody>
                    <a:bodyPr/>
                    <a:lstStyle/>
                    <a:p>
                      <a:pPr>
                        <a:defRPr sz="1100">
                          <a:solidFill>
                            <a:srgbClr val="1A1A1A"/>
                          </a:solidFill>
                        </a:defRPr>
                      </a:pPr>
                      <a:r>
                        <a:t>128K</a:t>
                      </a:r>
                    </a:p>
                  </a:txBody>
                  <a:tcPr>
                    <a:solidFill>
                      <a:srgbClr val="E0DCD6"/>
                    </a:solidFill>
                  </a:tcPr>
                </a:tc>
                <a:tc>
                  <a:txBody>
                    <a:bodyPr/>
                    <a:lstStyle/>
                    <a:p>
                      <a:pPr>
                        <a:defRPr sz="1100">
                          <a:solidFill>
                            <a:srgbClr val="1A1A1A"/>
                          </a:solidFill>
                        </a:defRPr>
                      </a:pPr>
                      <a:r>
                        <a:t>Open-weight, free</a:t>
                      </a:r>
                    </a:p>
                  </a:txBody>
                  <a:tcPr>
                    <a:solidFill>
                      <a:srgbClr val="E0DCD6"/>
                    </a:solidFill>
                  </a:tcPr>
                </a:tc>
                <a:tc>
                  <a:txBody>
                    <a:bodyPr/>
                    <a:lstStyle/>
                    <a:p>
                      <a:pPr>
                        <a:defRPr sz="1100">
                          <a:solidFill>
                            <a:srgbClr val="1A1A1A"/>
                          </a:solidFill>
                        </a:defRPr>
                      </a:pPr>
                      <a:r>
                        <a:t>Free (MIT)</a:t>
                      </a:r>
                    </a:p>
                  </a:txBody>
                  <a:tcPr>
                    <a:solidFill>
                      <a:srgbClr val="E0DCD6"/>
                    </a:solidFill>
                  </a:tcPr>
                </a:tc>
              </a:tr>
              <a:tr h="429768">
                <a:tc>
                  <a:txBody>
                    <a:bodyPr/>
                    <a:lstStyle/>
                    <a:p>
                      <a:pPr>
                        <a:defRPr sz="1100">
                          <a:solidFill>
                            <a:srgbClr val="1A1A1A"/>
                          </a:solidFill>
                        </a:defRPr>
                      </a:pPr>
                      <a:r>
                        <a:t>xAI</a:t>
                      </a:r>
                    </a:p>
                  </a:txBody>
                  <a:tcPr/>
                </a:tc>
                <a:tc>
                  <a:txBody>
                    <a:bodyPr/>
                    <a:lstStyle/>
                    <a:p>
                      <a:pPr>
                        <a:defRPr sz="1100">
                          <a:solidFill>
                            <a:srgbClr val="1A1A1A"/>
                          </a:solidFill>
                        </a:defRPr>
                      </a:pPr>
                      <a:r>
                        <a:t>Grok 3 Pro</a:t>
                      </a:r>
                    </a:p>
                  </a:txBody>
                  <a:tcPr/>
                </a:tc>
                <a:tc>
                  <a:txBody>
                    <a:bodyPr/>
                    <a:lstStyle/>
                    <a:p>
                      <a:pPr>
                        <a:defRPr sz="1100">
                          <a:solidFill>
                            <a:srgbClr val="1A1A1A"/>
                          </a:solidFill>
                        </a:defRPr>
                      </a:pPr>
                      <a:r>
                        <a:t>256K</a:t>
                      </a:r>
                    </a:p>
                  </a:txBody>
                  <a:tcPr/>
                </a:tc>
                <a:tc>
                  <a:txBody>
                    <a:bodyPr/>
                    <a:lstStyle/>
                    <a:p>
                      <a:pPr>
                        <a:defRPr sz="1100">
                          <a:solidFill>
                            <a:srgbClr val="1A1A1A"/>
                          </a:solidFill>
                        </a:defRPr>
                      </a:pPr>
                      <a:r>
                        <a:t>Real-time X/Twitter data</a:t>
                      </a:r>
                    </a:p>
                  </a:txBody>
                  <a:tcPr/>
                </a:tc>
                <a:tc>
                  <a:txBody>
                    <a:bodyPr/>
                    <a:lstStyle/>
                    <a:p>
                      <a:pPr>
                        <a:defRPr sz="1100">
                          <a:solidFill>
                            <a:srgbClr val="1A1A1A"/>
                          </a:solidFill>
                        </a:defRPr>
                      </a:pPr>
                      <a:r>
                        <a:t>API pricing</a:t>
                      </a:r>
                    </a:p>
                  </a:txBody>
                  <a:tcPr/>
                </a:tc>
              </a:tr>
            </a:tbl>
          </a:graphicData>
        </a:graphic>
      </p:graphicFrame>
      <p:sp>
        <p:nvSpPr>
          <p:cNvPr id="8" name="Rounded Rectangle 7"/>
          <p:cNvSpPr/>
          <p:nvPr/>
        </p:nvSpPr>
        <p:spPr>
          <a:xfrm>
            <a:off x="914400" y="4846320"/>
            <a:ext cx="10332720" cy="128016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937760"/>
            <a:ext cx="9784080" cy="1097280"/>
          </a:xfrm>
          <a:prstGeom prst="rect">
            <a:avLst/>
          </a:prstGeom>
          <a:noFill/>
        </p:spPr>
        <p:txBody>
          <a:bodyPr wrap="square">
            <a:spAutoFit/>
          </a:bodyPr>
          <a:lstStyle/>
          <a:p>
            <a:pPr algn="l">
              <a:defRPr sz="1200" b="0">
                <a:solidFill>
                  <a:srgbClr val="16A34A"/>
                </a:solidFill>
              </a:defRPr>
            </a:pPr>
            <a:r>
              <a:t>Key Trends</a:t>
            </a:r>
            <a:br/>
            <a:r>
              <a:t>• Open models (Llama, DeepSeek, Qwen) matching closed models on benchmarks</a:t>
            </a:r>
            <a:br/>
            <a:r>
              <a:t>• Context windows growing from 8K (2022) → 400K (2025) → 1M tokens (2026)</a:t>
            </a:r>
            <a:br/>
            <a:r>
              <a:t>• Agentic AI moving from demos to production — tools that plan, code, and execute</a:t>
            </a:r>
          </a:p>
        </p:txBody>
      </p:sp>
      <p:sp>
        <p:nvSpPr>
          <p:cNvPr id="10" name="TextBox 9"/>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Model Capability Comparison</a:t>
            </a:r>
          </a:p>
        </p:txBody>
      </p:sp>
      <p:graphicFrame>
        <p:nvGraphicFramePr>
          <p:cNvPr id="3" name="Table 2"/>
          <p:cNvGraphicFramePr>
            <a:graphicFrameLocks noGrp="1"/>
          </p:cNvGraphicFramePr>
          <p:nvPr/>
        </p:nvGraphicFramePr>
        <p:xfrm>
          <a:off x="914400" y="914400"/>
          <a:ext cx="10032720" cy="4160520"/>
        </p:xfrm>
        <a:graphic>
          <a:graphicData uri="http://schemas.openxmlformats.org/drawingml/2006/table">
            <a:tbl>
              <a:tblPr firstRow="1" bandRow="1">
                <a:tableStyleId>{5C22544A-7EE6-4342-B048-85BDC9FD1C3A}</a:tableStyleId>
              </a:tblPr>
              <a:tblGrid>
                <a:gridCol w="1672120"/>
                <a:gridCol w="1672120"/>
                <a:gridCol w="1672120"/>
                <a:gridCol w="1672120"/>
                <a:gridCol w="1672120"/>
                <a:gridCol w="1672120"/>
              </a:tblGrid>
              <a:tr h="594360">
                <a:tc>
                  <a:txBody>
                    <a:bodyPr/>
                    <a:lstStyle/>
                    <a:p>
                      <a:pPr>
                        <a:defRPr sz="1000" b="1">
                          <a:solidFill>
                            <a:srgbClr val="FFFFFF"/>
                          </a:solidFill>
                        </a:defRPr>
                      </a:pPr>
                      <a:r>
                        <a:t>Model</a:t>
                      </a:r>
                    </a:p>
                  </a:txBody>
                  <a:tcPr>
                    <a:solidFill>
                      <a:srgbClr val="3B82F6"/>
                    </a:solidFill>
                  </a:tcPr>
                </a:tc>
                <a:tc>
                  <a:txBody>
                    <a:bodyPr/>
                    <a:lstStyle/>
                    <a:p>
                      <a:pPr>
                        <a:defRPr sz="1000" b="1">
                          <a:solidFill>
                            <a:srgbClr val="FFFFFF"/>
                          </a:solidFill>
                        </a:defRPr>
                      </a:pPr>
                      <a:r>
                        <a:t>Writing</a:t>
                      </a:r>
                    </a:p>
                  </a:txBody>
                  <a:tcPr>
                    <a:solidFill>
                      <a:srgbClr val="3B82F6"/>
                    </a:solidFill>
                  </a:tcPr>
                </a:tc>
                <a:tc>
                  <a:txBody>
                    <a:bodyPr/>
                    <a:lstStyle/>
                    <a:p>
                      <a:pPr>
                        <a:defRPr sz="1000" b="1">
                          <a:solidFill>
                            <a:srgbClr val="FFFFFF"/>
                          </a:solidFill>
                        </a:defRPr>
                      </a:pPr>
                      <a:r>
                        <a:t>Coding</a:t>
                      </a:r>
                    </a:p>
                  </a:txBody>
                  <a:tcPr>
                    <a:solidFill>
                      <a:srgbClr val="3B82F6"/>
                    </a:solidFill>
                  </a:tcPr>
                </a:tc>
                <a:tc>
                  <a:txBody>
                    <a:bodyPr/>
                    <a:lstStyle/>
                    <a:p>
                      <a:pPr>
                        <a:defRPr sz="1000" b="1">
                          <a:solidFill>
                            <a:srgbClr val="FFFFFF"/>
                          </a:solidFill>
                        </a:defRPr>
                      </a:pPr>
                      <a:r>
                        <a:t>Reasoning</a:t>
                      </a:r>
                    </a:p>
                  </a:txBody>
                  <a:tcPr>
                    <a:solidFill>
                      <a:srgbClr val="3B82F6"/>
                    </a:solidFill>
                  </a:tcPr>
                </a:tc>
                <a:tc>
                  <a:txBody>
                    <a:bodyPr/>
                    <a:lstStyle/>
                    <a:p>
                      <a:pPr>
                        <a:defRPr sz="1000" b="1">
                          <a:solidFill>
                            <a:srgbClr val="FFFFFF"/>
                          </a:solidFill>
                        </a:defRPr>
                      </a:pPr>
                      <a:r>
                        <a:t>Context</a:t>
                      </a:r>
                    </a:p>
                  </a:txBody>
                  <a:tcPr>
                    <a:solidFill>
                      <a:srgbClr val="3B82F6"/>
                    </a:solidFill>
                  </a:tcPr>
                </a:tc>
                <a:tc>
                  <a:txBody>
                    <a:bodyPr/>
                    <a:lstStyle/>
                    <a:p>
                      <a:pPr>
                        <a:defRPr sz="1000" b="1">
                          <a:solidFill>
                            <a:srgbClr val="FFFFFF"/>
                          </a:solidFill>
                        </a:defRPr>
                      </a:pPr>
                      <a:r>
                        <a:t>Cost/Value</a:t>
                      </a:r>
                    </a:p>
                  </a:txBody>
                  <a:tcPr>
                    <a:solidFill>
                      <a:srgbClr val="3B82F6"/>
                    </a:solidFill>
                  </a:tcPr>
                </a:tc>
              </a:tr>
              <a:tr h="594360">
                <a:tc>
                  <a:txBody>
                    <a:bodyPr/>
                    <a:lstStyle/>
                    <a:p>
                      <a:pPr>
                        <a:defRPr sz="1100">
                          <a:solidFill>
                            <a:srgbClr val="1A1A1A"/>
                          </a:solidFill>
                        </a:defRPr>
                      </a:pPr>
                      <a:r>
                        <a:t>Claude Opus 4.7</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400K</a:t>
                      </a:r>
                    </a:p>
                  </a:txBody>
                  <a:tcPr>
                    <a:solidFill>
                      <a:srgbClr val="E0DCD6"/>
                    </a:solidFill>
                  </a:tcPr>
                </a:tc>
                <a:tc>
                  <a:txBody>
                    <a:bodyPr/>
                    <a:lstStyle/>
                    <a:p>
                      <a:pPr>
                        <a:defRPr sz="1100">
                          <a:solidFill>
                            <a:srgbClr val="1A1A1A"/>
                          </a:solidFill>
                        </a:defRPr>
                      </a:pPr>
                      <a:r>
                        <a:t>★★</a:t>
                      </a:r>
                    </a:p>
                  </a:txBody>
                  <a:tcPr>
                    <a:solidFill>
                      <a:srgbClr val="E0DCD6"/>
                    </a:solidFill>
                  </a:tcPr>
                </a:tc>
              </a:tr>
              <a:tr h="594360">
                <a:tc>
                  <a:txBody>
                    <a:bodyPr/>
                    <a:lstStyle/>
                    <a:p>
                      <a:pPr>
                        <a:defRPr sz="1100">
                          <a:solidFill>
                            <a:srgbClr val="1A1A1A"/>
                          </a:solidFill>
                        </a:defRPr>
                      </a:pPr>
                      <a:r>
                        <a:t>GPT-5.5</a:t>
                      </a:r>
                    </a:p>
                  </a:txBody>
                  <a:tcPr/>
                </a:tc>
                <a:tc>
                  <a:txBody>
                    <a:bodyPr/>
                    <a:lstStyle/>
                    <a:p>
                      <a:pPr>
                        <a:defRPr sz="1100">
                          <a:solidFill>
                            <a:srgbClr val="1A1A1A"/>
                          </a:solidFill>
                        </a:defRPr>
                      </a:pPr>
                      <a:r>
                        <a:t>★★★★</a:t>
                      </a:r>
                    </a:p>
                  </a:txBody>
                  <a:tcPr/>
                </a:tc>
                <a:tc>
                  <a:txBody>
                    <a:bodyPr/>
                    <a:lstStyle/>
                    <a:p>
                      <a:pPr>
                        <a:defRPr sz="1100">
                          <a:solidFill>
                            <a:srgbClr val="1A1A1A"/>
                          </a:solidFill>
                        </a:defRPr>
                      </a:pPr>
                      <a:r>
                        <a:t>★★★★</a:t>
                      </a:r>
                    </a:p>
                  </a:txBody>
                  <a:tcPr/>
                </a:tc>
                <a:tc>
                  <a:txBody>
                    <a:bodyPr/>
                    <a:lstStyle/>
                    <a:p>
                      <a:pPr>
                        <a:defRPr sz="1100">
                          <a:solidFill>
                            <a:srgbClr val="1A1A1A"/>
                          </a:solidFill>
                        </a:defRPr>
                      </a:pPr>
                      <a:r>
                        <a:t>★★★★</a:t>
                      </a:r>
                    </a:p>
                  </a:txBody>
                  <a:tcPr/>
                </a:tc>
                <a:tc>
                  <a:txBody>
                    <a:bodyPr/>
                    <a:lstStyle/>
                    <a:p>
                      <a:pPr>
                        <a:defRPr sz="1100">
                          <a:solidFill>
                            <a:srgbClr val="1A1A1A"/>
                          </a:solidFill>
                        </a:defRPr>
                      </a:pPr>
                      <a:r>
                        <a:t>128K</a:t>
                      </a:r>
                    </a:p>
                  </a:txBody>
                  <a:tcPr/>
                </a:tc>
                <a:tc>
                  <a:txBody>
                    <a:bodyPr/>
                    <a:lstStyle/>
                    <a:p>
                      <a:pPr>
                        <a:defRPr sz="1100">
                          <a:solidFill>
                            <a:srgbClr val="1A1A1A"/>
                          </a:solidFill>
                        </a:defRPr>
                      </a:pPr>
                      <a:r>
                        <a:t>★★★★</a:t>
                      </a:r>
                    </a:p>
                  </a:txBody>
                  <a:tcPr/>
                </a:tc>
              </a:tr>
              <a:tr h="594360">
                <a:tc>
                  <a:txBody>
                    <a:bodyPr/>
                    <a:lstStyle/>
                    <a:p>
                      <a:pPr>
                        <a:defRPr sz="1100">
                          <a:solidFill>
                            <a:srgbClr val="1A1A1A"/>
                          </a:solidFill>
                        </a:defRPr>
                      </a:pPr>
                      <a:r>
                        <a:t>Gemini 3.1 Pro</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1M</a:t>
                      </a:r>
                    </a:p>
                  </a:txBody>
                  <a:tcPr>
                    <a:solidFill>
                      <a:srgbClr val="E0DCD6"/>
                    </a:solidFill>
                  </a:tcPr>
                </a:tc>
                <a:tc>
                  <a:txBody>
                    <a:bodyPr/>
                    <a:lstStyle/>
                    <a:p>
                      <a:pPr>
                        <a:defRPr sz="1100">
                          <a:solidFill>
                            <a:srgbClr val="1A1A1A"/>
                          </a:solidFill>
                        </a:defRPr>
                      </a:pPr>
                      <a:r>
                        <a:t>★★★★</a:t>
                      </a:r>
                    </a:p>
                  </a:txBody>
                  <a:tcPr>
                    <a:solidFill>
                      <a:srgbClr val="E0DCD6"/>
                    </a:solidFill>
                  </a:tcPr>
                </a:tc>
              </a:tr>
              <a:tr h="594360">
                <a:tc>
                  <a:txBody>
                    <a:bodyPr/>
                    <a:lstStyle/>
                    <a:p>
                      <a:pPr>
                        <a:defRPr sz="1100">
                          <a:solidFill>
                            <a:srgbClr val="1A1A1A"/>
                          </a:solidFill>
                        </a:defRPr>
                      </a:pPr>
                      <a:r>
                        <a:t>DeepSeek V4</a:t>
                      </a:r>
                    </a:p>
                  </a:txBody>
                  <a:tcPr/>
                </a:tc>
                <a:tc>
                  <a:txBody>
                    <a:bodyPr/>
                    <a:lstStyle/>
                    <a:p>
                      <a:pPr>
                        <a:defRPr sz="1100">
                          <a:solidFill>
                            <a:srgbClr val="1A1A1A"/>
                          </a:solidFill>
                        </a:defRPr>
                      </a:pPr>
                      <a:r>
                        <a:t>★★★</a:t>
                      </a:r>
                    </a:p>
                  </a:txBody>
                  <a:tcPr/>
                </a:tc>
                <a:tc>
                  <a:txBody>
                    <a:bodyPr/>
                    <a:lstStyle/>
                    <a:p>
                      <a:pPr>
                        <a:defRPr sz="1100">
                          <a:solidFill>
                            <a:srgbClr val="1A1A1A"/>
                          </a:solidFill>
                        </a:defRPr>
                      </a:pPr>
                      <a:r>
                        <a:t>★★★★</a:t>
                      </a:r>
                    </a:p>
                  </a:txBody>
                  <a:tcPr/>
                </a:tc>
                <a:tc>
                  <a:txBody>
                    <a:bodyPr/>
                    <a:lstStyle/>
                    <a:p>
                      <a:pPr>
                        <a:defRPr sz="1100">
                          <a:solidFill>
                            <a:srgbClr val="1A1A1A"/>
                          </a:solidFill>
                        </a:defRPr>
                      </a:pPr>
                      <a:r>
                        <a:t>★★★★★</a:t>
                      </a:r>
                    </a:p>
                  </a:txBody>
                  <a:tcPr/>
                </a:tc>
                <a:tc>
                  <a:txBody>
                    <a:bodyPr/>
                    <a:lstStyle/>
                    <a:p>
                      <a:pPr>
                        <a:defRPr sz="1100">
                          <a:solidFill>
                            <a:srgbClr val="1A1A1A"/>
                          </a:solidFill>
                        </a:defRPr>
                      </a:pPr>
                      <a:r>
                        <a:t>256K</a:t>
                      </a:r>
                    </a:p>
                  </a:txBody>
                  <a:tcPr/>
                </a:tc>
                <a:tc>
                  <a:txBody>
                    <a:bodyPr/>
                    <a:lstStyle/>
                    <a:p>
                      <a:pPr>
                        <a:defRPr sz="1100">
                          <a:solidFill>
                            <a:srgbClr val="1A1A1A"/>
                          </a:solidFill>
                        </a:defRPr>
                      </a:pPr>
                      <a:r>
                        <a:t>★★★★★</a:t>
                      </a:r>
                    </a:p>
                  </a:txBody>
                  <a:tcPr/>
                </a:tc>
              </a:tr>
              <a:tr h="594360">
                <a:tc>
                  <a:txBody>
                    <a:bodyPr/>
                    <a:lstStyle/>
                    <a:p>
                      <a:pPr>
                        <a:defRPr sz="1100">
                          <a:solidFill>
                            <a:srgbClr val="1A1A1A"/>
                          </a:solidFill>
                        </a:defRPr>
                      </a:pPr>
                      <a:r>
                        <a:t>Llama 4 Scout</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a:t>
                      </a:r>
                    </a:p>
                  </a:txBody>
                  <a:tcPr>
                    <a:solidFill>
                      <a:srgbClr val="E0DCD6"/>
                    </a:solidFill>
                  </a:tcPr>
                </a:tc>
                <a:tc>
                  <a:txBody>
                    <a:bodyPr/>
                    <a:lstStyle/>
                    <a:p>
                      <a:pPr>
                        <a:defRPr sz="1100">
                          <a:solidFill>
                            <a:srgbClr val="1A1A1A"/>
                          </a:solidFill>
                        </a:defRPr>
                      </a:pPr>
                      <a:r>
                        <a:t>128K</a:t>
                      </a:r>
                    </a:p>
                  </a:txBody>
                  <a:tcPr>
                    <a:solidFill>
                      <a:srgbClr val="E0DCD6"/>
                    </a:solidFill>
                  </a:tcPr>
                </a:tc>
                <a:tc>
                  <a:txBody>
                    <a:bodyPr/>
                    <a:lstStyle/>
                    <a:p>
                      <a:pPr>
                        <a:defRPr sz="1100">
                          <a:solidFill>
                            <a:srgbClr val="1A1A1A"/>
                          </a:solidFill>
                        </a:defRPr>
                      </a:pPr>
                      <a:r>
                        <a:t>★★★★★</a:t>
                      </a:r>
                    </a:p>
                  </a:txBody>
                  <a:tcPr>
                    <a:solidFill>
                      <a:srgbClr val="E0DCD6"/>
                    </a:solidFill>
                  </a:tcPr>
                </a:tc>
              </a:tr>
              <a:tr h="594360">
                <a:tc>
                  <a:txBody>
                    <a:bodyPr/>
                    <a:lstStyle/>
                    <a:p>
                      <a:pPr>
                        <a:defRPr sz="1100">
                          <a:solidFill>
                            <a:srgbClr val="1A1A1A"/>
                          </a:solidFill>
                        </a:defRPr>
                      </a:pPr>
                      <a:r>
                        <a:t>Grok 3 Pro</a:t>
                      </a:r>
                    </a:p>
                  </a:txBody>
                  <a:tcPr/>
                </a:tc>
                <a:tc>
                  <a:txBody>
                    <a:bodyPr/>
                    <a:lstStyle/>
                    <a:p>
                      <a:pPr>
                        <a:defRPr sz="1100">
                          <a:solidFill>
                            <a:srgbClr val="1A1A1A"/>
                          </a:solidFill>
                        </a:defRPr>
                      </a:pPr>
                      <a:r>
                        <a:t>★★★★</a:t>
                      </a:r>
                    </a:p>
                  </a:txBody>
                  <a:tcPr/>
                </a:tc>
                <a:tc>
                  <a:txBody>
                    <a:bodyPr/>
                    <a:lstStyle/>
                    <a:p>
                      <a:pPr>
                        <a:defRPr sz="1100">
                          <a:solidFill>
                            <a:srgbClr val="1A1A1A"/>
                          </a:solidFill>
                        </a:defRPr>
                      </a:pPr>
                      <a:r>
                        <a:t>★★★★</a:t>
                      </a:r>
                    </a:p>
                  </a:txBody>
                  <a:tcPr/>
                </a:tc>
                <a:tc>
                  <a:txBody>
                    <a:bodyPr/>
                    <a:lstStyle/>
                    <a:p>
                      <a:pPr>
                        <a:defRPr sz="1100">
                          <a:solidFill>
                            <a:srgbClr val="1A1A1A"/>
                          </a:solidFill>
                        </a:defRPr>
                      </a:pPr>
                      <a:r>
                        <a:t>★★★★</a:t>
                      </a:r>
                    </a:p>
                  </a:txBody>
                  <a:tcPr/>
                </a:tc>
                <a:tc>
                  <a:txBody>
                    <a:bodyPr/>
                    <a:lstStyle/>
                    <a:p>
                      <a:pPr>
                        <a:defRPr sz="1100">
                          <a:solidFill>
                            <a:srgbClr val="1A1A1A"/>
                          </a:solidFill>
                        </a:defRPr>
                      </a:pPr>
                      <a:r>
                        <a:t>256K</a:t>
                      </a:r>
                    </a:p>
                  </a:txBody>
                  <a:tcPr/>
                </a:tc>
                <a:tc>
                  <a:txBody>
                    <a:bodyPr/>
                    <a:lstStyle/>
                    <a:p>
                      <a:pPr>
                        <a:defRPr sz="1100">
                          <a:solidFill>
                            <a:srgbClr val="1A1A1A"/>
                          </a:solidFill>
                        </a:defRPr>
                      </a:pPr>
                      <a:r>
                        <a:t>★★★</a:t>
                      </a:r>
                    </a:p>
                  </a:txBody>
                  <a:tcPr/>
                </a:tc>
              </a:tr>
            </a:tbl>
          </a:graphicData>
        </a:graphic>
      </p:graphicFrame>
      <p:sp>
        <p:nvSpPr>
          <p:cNvPr id="4" name="TextBox 3"/>
          <p:cNvSpPr txBox="1"/>
          <p:nvPr/>
        </p:nvSpPr>
        <p:spPr>
          <a:xfrm>
            <a:off x="914400" y="4754880"/>
            <a:ext cx="10332720" cy="457200"/>
          </a:xfrm>
          <a:prstGeom prst="rect">
            <a:avLst/>
          </a:prstGeom>
          <a:noFill/>
        </p:spPr>
        <p:txBody>
          <a:bodyPr wrap="square">
            <a:spAutoFit/>
          </a:bodyPr>
          <a:lstStyle/>
          <a:p>
            <a:pPr algn="l">
              <a:defRPr sz="1000" b="0">
                <a:solidFill>
                  <a:srgbClr val="888880"/>
                </a:solidFill>
              </a:defRPr>
            </a:pPr>
            <a:r>
              <a:t>★ = Star rating: 5 = world-class, 1 = limited. Based on published benchmarks and public evaluations.</a:t>
            </a:r>
          </a:p>
        </p:txBody>
      </p:sp>
      <p:sp>
        <p:nvSpPr>
          <p:cNvPr id="5" name="Rounded Rectangle 4"/>
          <p:cNvSpPr/>
          <p:nvPr/>
        </p:nvSpPr>
        <p:spPr>
          <a:xfrm>
            <a:off x="914400" y="5303520"/>
            <a:ext cx="10332720" cy="91440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5394960"/>
            <a:ext cx="9784080" cy="731520"/>
          </a:xfrm>
          <a:prstGeom prst="rect">
            <a:avLst/>
          </a:prstGeom>
          <a:noFill/>
        </p:spPr>
        <p:txBody>
          <a:bodyPr wrap="square">
            <a:spAutoFit/>
          </a:bodyPr>
          <a:lstStyle/>
          <a:p>
            <a:pPr algn="l">
              <a:defRPr sz="1200" b="0">
                <a:solidFill>
                  <a:srgbClr val="3B82F6"/>
                </a:solidFill>
              </a:defRPr>
            </a:pPr>
            <a:r>
              <a:t>Key Insight: There is no single "best" model. Claude excels at reasoning. GPT at speed. Gemini at context. DeepSeek at cost. Llama at control. Choose based on your specific use case.</a:t>
            </a:r>
          </a:p>
        </p:txBody>
      </p:sp>
      <p:sp>
        <p:nvSpPr>
          <p:cNvPr id="7" name="TextBox 6"/>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Reality Check: What AI Can &amp; Cannot Do</a:t>
            </a:r>
          </a:p>
        </p:txBody>
      </p:sp>
      <p:sp>
        <p:nvSpPr>
          <p:cNvPr id="3" name="TextBox 2"/>
          <p:cNvSpPr txBox="1"/>
          <p:nvPr/>
        </p:nvSpPr>
        <p:spPr>
          <a:xfrm>
            <a:off x="914400" y="822960"/>
            <a:ext cx="5029200" cy="365760"/>
          </a:xfrm>
          <a:prstGeom prst="rect">
            <a:avLst/>
          </a:prstGeom>
          <a:noFill/>
        </p:spPr>
        <p:txBody>
          <a:bodyPr wrap="square">
            <a:spAutoFit/>
          </a:bodyPr>
          <a:lstStyle/>
          <a:p>
            <a:pPr algn="l">
              <a:defRPr sz="1600" b="1">
                <a:solidFill>
                  <a:srgbClr val="DC2626"/>
                </a:solidFill>
              </a:defRPr>
            </a:pPr>
            <a:r>
              <a:t>Common Myths</a:t>
            </a:r>
          </a:p>
        </p:txBody>
      </p:sp>
      <p:sp>
        <p:nvSpPr>
          <p:cNvPr id="4" name="TextBox 3"/>
          <p:cNvSpPr txBox="1"/>
          <p:nvPr/>
        </p:nvSpPr>
        <p:spPr>
          <a:xfrm>
            <a:off x="914400" y="1371600"/>
            <a:ext cx="5029200" cy="4114800"/>
          </a:xfrm>
          <a:prstGeom prst="rect">
            <a:avLst/>
          </a:prstGeom>
          <a:noFill/>
        </p:spPr>
        <p:txBody>
          <a:bodyPr wrap="square">
            <a:spAutoFit/>
          </a:bodyPr>
          <a:lstStyle/>
          <a:p>
            <a:pPr>
              <a:spcAft>
                <a:spcPts val="1400"/>
              </a:spcAft>
              <a:defRPr sz="1200">
                <a:solidFill>
                  <a:srgbClr val="1A1A1A"/>
                </a:solidFill>
              </a:defRPr>
            </a:pPr>
            <a:r>
              <a:t>✕  "LLMs understand language" — They pattern-match. Understanding is our projection.</a:t>
            </a:r>
          </a:p>
          <a:p>
            <a:pPr>
              <a:spcAft>
                <a:spcPts val="1400"/>
              </a:spcAft>
              <a:defRPr sz="1200">
                <a:solidFill>
                  <a:srgbClr val="1A1A1A"/>
                </a:solidFill>
              </a:defRPr>
            </a:pPr>
            <a:r>
              <a:t>✕  "LLMs are general intelligences" — They're narrow: good at text, weak at uncertainty.</a:t>
            </a:r>
          </a:p>
          <a:p>
            <a:pPr>
              <a:spcAft>
                <a:spcPts val="1400"/>
              </a:spcAft>
              <a:defRPr sz="1200">
                <a:solidFill>
                  <a:srgbClr val="1A1A1A"/>
                </a:solidFill>
              </a:defRPr>
            </a:pPr>
            <a:r>
              <a:t>✕  "ChatGPT is always right" — No. They hallucinate. Verify critical facts.</a:t>
            </a:r>
          </a:p>
          <a:p>
            <a:pPr>
              <a:spcAft>
                <a:spcPts val="1400"/>
              </a:spcAft>
              <a:defRPr sz="1200">
                <a:solidFill>
                  <a:srgbClr val="1A1A1A"/>
                </a:solidFill>
              </a:defRPr>
            </a:pPr>
            <a:r>
              <a:t>✕  "More parameters = smarter" — Architecture and data quality matter more.</a:t>
            </a:r>
          </a:p>
          <a:p>
            <a:pPr>
              <a:spcAft>
                <a:spcPts val="1400"/>
              </a:spcAft>
              <a:defRPr sz="1200">
                <a:solidFill>
                  <a:srgbClr val="1A1A1A"/>
                </a:solidFill>
              </a:defRPr>
            </a:pPr>
            <a:r>
              <a:t>✕  "LLMs will replace humans" — Humans + LLMs outperform either alone.</a:t>
            </a:r>
          </a:p>
        </p:txBody>
      </p:sp>
      <p:sp>
        <p:nvSpPr>
          <p:cNvPr id="5" name="TextBox 4"/>
          <p:cNvSpPr txBox="1"/>
          <p:nvPr/>
        </p:nvSpPr>
        <p:spPr>
          <a:xfrm>
            <a:off x="6583680" y="822960"/>
            <a:ext cx="5029200" cy="365760"/>
          </a:xfrm>
          <a:prstGeom prst="rect">
            <a:avLst/>
          </a:prstGeom>
          <a:noFill/>
        </p:spPr>
        <p:txBody>
          <a:bodyPr wrap="square">
            <a:spAutoFit/>
          </a:bodyPr>
          <a:lstStyle/>
          <a:p>
            <a:pPr algn="l">
              <a:defRPr sz="1600" b="1">
                <a:solidFill>
                  <a:srgbClr val="16A34A"/>
                </a:solidFill>
              </a:defRPr>
            </a:pPr>
            <a:r>
              <a:t>What They Actually Do</a:t>
            </a:r>
          </a:p>
        </p:txBody>
      </p:sp>
      <p:sp>
        <p:nvSpPr>
          <p:cNvPr id="6" name="TextBox 5"/>
          <p:cNvSpPr txBox="1"/>
          <p:nvPr/>
        </p:nvSpPr>
        <p:spPr>
          <a:xfrm>
            <a:off x="6583680" y="1371600"/>
            <a:ext cx="5029200" cy="4114800"/>
          </a:xfrm>
          <a:prstGeom prst="rect">
            <a:avLst/>
          </a:prstGeom>
          <a:noFill/>
        </p:spPr>
        <p:txBody>
          <a:bodyPr wrap="square">
            <a:spAutoFit/>
          </a:bodyPr>
          <a:lstStyle/>
          <a:p>
            <a:pPr>
              <a:spcAft>
                <a:spcPts val="1200"/>
              </a:spcAft>
              <a:defRPr sz="1200">
                <a:solidFill>
                  <a:srgbClr val="1A1A1A"/>
                </a:solidFill>
              </a:defRPr>
            </a:pPr>
            <a:r>
              <a:t>✓  Write &amp; edit text — often better than most people.</a:t>
            </a:r>
          </a:p>
          <a:p>
            <a:pPr>
              <a:spcAft>
                <a:spcPts val="1200"/>
              </a:spcAft>
              <a:defRPr sz="1200">
                <a:solidFill>
                  <a:srgbClr val="1A1A1A"/>
                </a:solidFill>
              </a:defRPr>
            </a:pPr>
            <a:r>
              <a:t>✓  Explain complex topics at any level of detail.</a:t>
            </a:r>
          </a:p>
          <a:p>
            <a:pPr>
              <a:spcAft>
                <a:spcPts val="1200"/>
              </a:spcAft>
              <a:defRPr sz="1200">
                <a:solidFill>
                  <a:srgbClr val="1A1A1A"/>
                </a:solidFill>
              </a:defRPr>
            </a:pPr>
            <a:r>
              <a:t>✓  Code generation &amp; review — saves 40-60% dev time.</a:t>
            </a:r>
          </a:p>
          <a:p>
            <a:pPr>
              <a:spcAft>
                <a:spcPts val="1200"/>
              </a:spcAft>
              <a:defRPr sz="1200">
                <a:solidFill>
                  <a:srgbClr val="1A1A1A"/>
                </a:solidFill>
              </a:defRPr>
            </a:pPr>
            <a:r>
              <a:t>✓  Summarize long documents into actionable insights.</a:t>
            </a:r>
          </a:p>
          <a:p>
            <a:pPr>
              <a:spcAft>
                <a:spcPts val="1200"/>
              </a:spcAft>
              <a:defRPr sz="1200">
                <a:solidFill>
                  <a:srgbClr val="1A1A1A"/>
                </a:solidFill>
              </a:defRPr>
            </a:pPr>
            <a:r>
              <a:t>✓  Brainstorm &amp; ideate — tireless creative partner.</a:t>
            </a:r>
          </a:p>
          <a:p>
            <a:pPr>
              <a:spcAft>
                <a:spcPts val="1200"/>
              </a:spcAft>
              <a:defRPr sz="1200">
                <a:solidFill>
                  <a:srgbClr val="1A1A1A"/>
                </a:solidFill>
              </a:defRPr>
            </a:pPr>
            <a:r>
              <a:t>✓  Translate between languages and formats (JSON, SQL, etc).</a:t>
            </a:r>
          </a:p>
        </p:txBody>
      </p:sp>
      <p:sp>
        <p:nvSpPr>
          <p:cNvPr id="7" name="Rounded Rectangle 6"/>
          <p:cNvSpPr/>
          <p:nvPr/>
        </p:nvSpPr>
        <p:spPr>
          <a:xfrm>
            <a:off x="914400" y="5029200"/>
            <a:ext cx="10332720" cy="109728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5120640"/>
            <a:ext cx="9784080" cy="914400"/>
          </a:xfrm>
          <a:prstGeom prst="rect">
            <a:avLst/>
          </a:prstGeom>
          <a:noFill/>
        </p:spPr>
        <p:txBody>
          <a:bodyPr wrap="square">
            <a:spAutoFit/>
          </a:bodyPr>
          <a:lstStyle/>
          <a:p>
            <a:pPr algn="l">
              <a:defRPr sz="1100" b="0">
                <a:solidFill>
                  <a:srgbClr val="DC2626"/>
                </a:solidFill>
              </a:defRPr>
            </a:pPr>
            <a:r>
              <a:t>Limitations: No internet access (trained not connected) • Training cutoff date matters • Hallucination risk • Not domain experts</a:t>
            </a:r>
            <a:br/>
            <a:r>
              <a:t>Solution: RAG (feed it your docs), fact-check critical outputs, use AI as a starting point, not the final answer.</a:t>
            </a:r>
          </a:p>
        </p:txBody>
      </p:sp>
      <p:sp>
        <p:nvSpPr>
          <p:cNvPr id="9" name="TextBox 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2</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How LLMs Work</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The mechanics: tokens, training, RAG, and prompting</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How Models Learn — The Training Pipeline</a:t>
            </a:r>
          </a:p>
        </p:txBody>
      </p:sp>
      <p:sp>
        <p:nvSpPr>
          <p:cNvPr id="3" name="Rounded Rectangle 2"/>
          <p:cNvSpPr/>
          <p:nvPr/>
        </p:nvSpPr>
        <p:spPr>
          <a:xfrm>
            <a:off x="914400" y="1463040"/>
            <a:ext cx="2011680" cy="1097280"/>
          </a:xfrm>
          <a:prstGeom prst="roundRect">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Trillions of</a:t>
            </a:r>
            <a:br/>
            <a:r>
              <a:t>Words</a:t>
            </a:r>
            <a:br/>
            <a:r>
              <a:t>(internet, books,</a:t>
            </a:r>
            <a:br/>
            <a:r>
              <a:t>code)</a:t>
            </a:r>
          </a:p>
        </p:txBody>
      </p:sp>
      <p:cxnSp>
        <p:nvCxnSpPr>
          <p:cNvPr id="4" name="Connector 3"/>
          <p:cNvCxnSpPr/>
          <p:nvPr/>
        </p:nvCxnSpPr>
        <p:spPr>
          <a:xfrm>
            <a:off x="2926080" y="2011680.0"/>
            <a:ext cx="457200" cy="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657600" y="1463040"/>
            <a:ext cx="2011680" cy="10972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Pretraining</a:t>
            </a:r>
            <a:br/>
            <a:br/>
            <a:r>
              <a:t>Learn language</a:t>
            </a:r>
            <a:br/>
            <a:r>
              <a:t>patterns &amp; facts</a:t>
            </a:r>
          </a:p>
        </p:txBody>
      </p:sp>
      <p:cxnSp>
        <p:nvCxnSpPr>
          <p:cNvPr id="6" name="Connector 5"/>
          <p:cNvCxnSpPr/>
          <p:nvPr/>
        </p:nvCxnSpPr>
        <p:spPr>
          <a:xfrm>
            <a:off x="5669280" y="2011680.0"/>
            <a:ext cx="457200" cy="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400800" y="1463040"/>
            <a:ext cx="2011680" cy="1097280"/>
          </a:xfrm>
          <a:prstGeom prst="round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Fine-tuning</a:t>
            </a:r>
            <a:br/>
            <a:br/>
            <a:r>
              <a:t>Adapt to specific</a:t>
            </a:r>
            <a:br/>
            <a:r>
              <a:t>task or domain</a:t>
            </a:r>
          </a:p>
        </p:txBody>
      </p:sp>
      <p:cxnSp>
        <p:nvCxnSpPr>
          <p:cNvPr id="8" name="Connector 7"/>
          <p:cNvCxnSpPr/>
          <p:nvPr/>
        </p:nvCxnSpPr>
        <p:spPr>
          <a:xfrm>
            <a:off x="8412480" y="2011680.0"/>
            <a:ext cx="457200" cy="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0" y="1463040"/>
            <a:ext cx="2011680" cy="10972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RLHF</a:t>
            </a:r>
            <a:br/>
            <a:br/>
            <a:r>
              <a:t>Humans rate;</a:t>
            </a:r>
            <a:br/>
            <a:r>
              <a:t>model learns</a:t>
            </a:r>
            <a:br/>
            <a:r>
              <a:t>"good vs bad"</a:t>
            </a:r>
          </a:p>
        </p:txBody>
      </p:sp>
      <p:cxnSp>
        <p:nvCxnSpPr>
          <p:cNvPr id="10" name="Connector 9"/>
          <p:cNvCxnSpPr/>
          <p:nvPr/>
        </p:nvCxnSpPr>
        <p:spPr>
          <a:xfrm>
            <a:off x="11155680" y="2011680.0"/>
            <a:ext cx="457200" cy="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1887200" y="1463040"/>
            <a:ext cx="2011680" cy="1097280"/>
          </a:xfrm>
          <a:prstGeom prst="roundRect">
            <a:avLst/>
          </a:prstGeom>
          <a:solidFill>
            <a:srgbClr val="166B34"/>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Deployed</a:t>
            </a:r>
            <a:br/>
            <a:r>
              <a:t>Model</a:t>
            </a:r>
            <a:br/>
            <a:br/>
            <a:r>
              <a:t>Ready for</a:t>
            </a:r>
            <a:br/>
            <a:r>
              <a:t>API / users</a:t>
            </a:r>
          </a:p>
        </p:txBody>
      </p:sp>
      <p:sp>
        <p:nvSpPr>
          <p:cNvPr id="12" name="TextBox 11"/>
          <p:cNvSpPr txBox="1"/>
          <p:nvPr/>
        </p:nvSpPr>
        <p:spPr>
          <a:xfrm>
            <a:off x="914400" y="2743200"/>
            <a:ext cx="2011680" cy="594360"/>
          </a:xfrm>
          <a:prstGeom prst="rect">
            <a:avLst/>
          </a:prstGeom>
          <a:noFill/>
        </p:spPr>
        <p:txBody>
          <a:bodyPr wrap="square">
            <a:spAutoFit/>
          </a:bodyPr>
          <a:lstStyle/>
          <a:p>
            <a:pPr algn="ctr">
              <a:defRPr sz="1100" b="1">
                <a:solidFill>
                  <a:srgbClr val="3B82F6"/>
                </a:solidFill>
              </a:defRPr>
            </a:pPr>
            <a:r>
              <a:t>Data Collection</a:t>
            </a:r>
          </a:p>
        </p:txBody>
      </p:sp>
      <p:sp>
        <p:nvSpPr>
          <p:cNvPr id="13" name="TextBox 12"/>
          <p:cNvSpPr txBox="1"/>
          <p:nvPr/>
        </p:nvSpPr>
        <p:spPr>
          <a:xfrm>
            <a:off x="914400" y="2971800"/>
            <a:ext cx="2011680" cy="457200"/>
          </a:xfrm>
          <a:prstGeom prst="rect">
            <a:avLst/>
          </a:prstGeom>
          <a:noFill/>
        </p:spPr>
        <p:txBody>
          <a:bodyPr wrap="square">
            <a:spAutoFit/>
          </a:bodyPr>
          <a:lstStyle/>
          <a:p>
            <a:pPr algn="ctr">
              <a:defRPr sz="900" b="0">
                <a:solidFill>
                  <a:srgbClr val="888880"/>
                </a:solidFill>
              </a:defRPr>
            </a:pPr>
            <a:r>
              <a:t>Curating training data</a:t>
            </a:r>
            <a:br/>
            <a:r>
              <a:t>is the hardest part</a:t>
            </a:r>
          </a:p>
        </p:txBody>
      </p:sp>
      <p:sp>
        <p:nvSpPr>
          <p:cNvPr id="14" name="TextBox 13"/>
          <p:cNvSpPr txBox="1"/>
          <p:nvPr/>
        </p:nvSpPr>
        <p:spPr>
          <a:xfrm>
            <a:off x="3657600" y="2743200"/>
            <a:ext cx="2011680" cy="594360"/>
          </a:xfrm>
          <a:prstGeom prst="rect">
            <a:avLst/>
          </a:prstGeom>
          <a:noFill/>
        </p:spPr>
        <p:txBody>
          <a:bodyPr wrap="square">
            <a:spAutoFit/>
          </a:bodyPr>
          <a:lstStyle/>
          <a:p>
            <a:pPr algn="ctr">
              <a:defRPr sz="1100" b="1">
                <a:solidFill>
                  <a:srgbClr val="3B82F6"/>
                </a:solidFill>
              </a:defRPr>
            </a:pPr>
            <a:r>
              <a:t>Unsupervised Learning</a:t>
            </a:r>
          </a:p>
        </p:txBody>
      </p:sp>
      <p:sp>
        <p:nvSpPr>
          <p:cNvPr id="15" name="TextBox 14"/>
          <p:cNvSpPr txBox="1"/>
          <p:nvPr/>
        </p:nvSpPr>
        <p:spPr>
          <a:xfrm>
            <a:off x="3657600" y="2971800"/>
            <a:ext cx="2011680" cy="457200"/>
          </a:xfrm>
          <a:prstGeom prst="rect">
            <a:avLst/>
          </a:prstGeom>
          <a:noFill/>
        </p:spPr>
        <p:txBody>
          <a:bodyPr wrap="square">
            <a:spAutoFit/>
          </a:bodyPr>
          <a:lstStyle/>
          <a:p>
            <a:pPr algn="ctr">
              <a:defRPr sz="900" b="0">
                <a:solidFill>
                  <a:srgbClr val="888880"/>
                </a:solidFill>
              </a:defRPr>
            </a:pPr>
            <a:r>
              <a:t>Cost: $10M-$100M</a:t>
            </a:r>
            <a:br/>
            <a:r>
              <a:t>Takes weeks/months</a:t>
            </a:r>
          </a:p>
        </p:txBody>
      </p:sp>
      <p:sp>
        <p:nvSpPr>
          <p:cNvPr id="16" name="TextBox 15"/>
          <p:cNvSpPr txBox="1"/>
          <p:nvPr/>
        </p:nvSpPr>
        <p:spPr>
          <a:xfrm>
            <a:off x="6400800" y="2743200"/>
            <a:ext cx="2011680" cy="594360"/>
          </a:xfrm>
          <a:prstGeom prst="rect">
            <a:avLst/>
          </a:prstGeom>
          <a:noFill/>
        </p:spPr>
        <p:txBody>
          <a:bodyPr wrap="square">
            <a:spAutoFit/>
          </a:bodyPr>
          <a:lstStyle/>
          <a:p>
            <a:pPr algn="ctr">
              <a:defRPr sz="1100" b="1">
                <a:solidFill>
                  <a:srgbClr val="3B82F6"/>
                </a:solidFill>
              </a:defRPr>
            </a:pPr>
            <a:r>
              <a:t>Supervised Learning</a:t>
            </a:r>
          </a:p>
        </p:txBody>
      </p:sp>
      <p:sp>
        <p:nvSpPr>
          <p:cNvPr id="17" name="TextBox 16"/>
          <p:cNvSpPr txBox="1"/>
          <p:nvPr/>
        </p:nvSpPr>
        <p:spPr>
          <a:xfrm>
            <a:off x="6400800" y="2971800"/>
            <a:ext cx="2011680" cy="457200"/>
          </a:xfrm>
          <a:prstGeom prst="rect">
            <a:avLst/>
          </a:prstGeom>
          <a:noFill/>
        </p:spPr>
        <p:txBody>
          <a:bodyPr wrap="square">
            <a:spAutoFit/>
          </a:bodyPr>
          <a:lstStyle/>
          <a:p>
            <a:pPr algn="ctr">
              <a:defRPr sz="900" b="0">
                <a:solidFill>
                  <a:srgbClr val="888880"/>
                </a:solidFill>
              </a:defRPr>
            </a:pPr>
            <a:r>
              <a:t>Cost: $100-$10K</a:t>
            </a:r>
            <a:br/>
            <a:r>
              <a:t>Takes hours/days</a:t>
            </a:r>
          </a:p>
        </p:txBody>
      </p:sp>
      <p:sp>
        <p:nvSpPr>
          <p:cNvPr id="18" name="TextBox 17"/>
          <p:cNvSpPr txBox="1"/>
          <p:nvPr/>
        </p:nvSpPr>
        <p:spPr>
          <a:xfrm>
            <a:off x="9144000" y="2743200"/>
            <a:ext cx="2011680" cy="594360"/>
          </a:xfrm>
          <a:prstGeom prst="rect">
            <a:avLst/>
          </a:prstGeom>
          <a:noFill/>
        </p:spPr>
        <p:txBody>
          <a:bodyPr wrap="square">
            <a:spAutoFit/>
          </a:bodyPr>
          <a:lstStyle/>
          <a:p>
            <a:pPr algn="ctr">
              <a:defRPr sz="1100" b="1">
                <a:solidFill>
                  <a:srgbClr val="3B82F6"/>
                </a:solidFill>
              </a:defRPr>
            </a:pPr>
            <a:r>
              <a:t>Human Feedback</a:t>
            </a:r>
          </a:p>
        </p:txBody>
      </p:sp>
      <p:sp>
        <p:nvSpPr>
          <p:cNvPr id="19" name="TextBox 18"/>
          <p:cNvSpPr txBox="1"/>
          <p:nvPr/>
        </p:nvSpPr>
        <p:spPr>
          <a:xfrm>
            <a:off x="9144000" y="2971800"/>
            <a:ext cx="2011680" cy="457200"/>
          </a:xfrm>
          <a:prstGeom prst="rect">
            <a:avLst/>
          </a:prstGeom>
          <a:noFill/>
        </p:spPr>
        <p:txBody>
          <a:bodyPr wrap="square">
            <a:spAutoFit/>
          </a:bodyPr>
          <a:lstStyle/>
          <a:p>
            <a:pPr algn="ctr">
              <a:defRPr sz="900" b="0">
                <a:solidFill>
                  <a:srgbClr val="888880"/>
                </a:solidFill>
              </a:defRPr>
            </a:pPr>
            <a:r>
              <a:t>Makes models helpful</a:t>
            </a:r>
            <a:br/>
            <a:r>
              <a:t>&amp; polite — TRAINED, not magic</a:t>
            </a:r>
          </a:p>
        </p:txBody>
      </p:sp>
      <p:sp>
        <p:nvSpPr>
          <p:cNvPr id="20" name="TextBox 19"/>
          <p:cNvSpPr txBox="1"/>
          <p:nvPr/>
        </p:nvSpPr>
        <p:spPr>
          <a:xfrm>
            <a:off x="11887200" y="2743200"/>
            <a:ext cx="2011680" cy="594360"/>
          </a:xfrm>
          <a:prstGeom prst="rect">
            <a:avLst/>
          </a:prstGeom>
          <a:noFill/>
        </p:spPr>
        <p:txBody>
          <a:bodyPr wrap="square">
            <a:spAutoFit/>
          </a:bodyPr>
          <a:lstStyle/>
          <a:p>
            <a:pPr algn="ctr">
              <a:defRPr sz="1100" b="1">
                <a:solidFill>
                  <a:srgbClr val="3B82F6"/>
                </a:solidFill>
              </a:defRPr>
            </a:pPr>
            <a:r>
              <a:t>Production</a:t>
            </a:r>
          </a:p>
        </p:txBody>
      </p:sp>
      <p:sp>
        <p:nvSpPr>
          <p:cNvPr id="21" name="TextBox 20"/>
          <p:cNvSpPr txBox="1"/>
          <p:nvPr/>
        </p:nvSpPr>
        <p:spPr>
          <a:xfrm>
            <a:off x="11887200" y="2971800"/>
            <a:ext cx="2011680" cy="457200"/>
          </a:xfrm>
          <a:prstGeom prst="rect">
            <a:avLst/>
          </a:prstGeom>
          <a:noFill/>
        </p:spPr>
        <p:txBody>
          <a:bodyPr wrap="square">
            <a:spAutoFit/>
          </a:bodyPr>
          <a:lstStyle/>
          <a:p>
            <a:pPr algn="ctr">
              <a:defRPr sz="900" b="0">
                <a:solidFill>
                  <a:srgbClr val="888880"/>
                </a:solidFill>
              </a:defRPr>
            </a:pPr>
            <a:r>
              <a:t>API or self-hosted</a:t>
            </a:r>
            <a:br/>
            <a:r>
              <a:t>Inference at scale</a:t>
            </a:r>
          </a:p>
        </p:txBody>
      </p:sp>
      <p:sp>
        <p:nvSpPr>
          <p:cNvPr id="22" name="Rounded Rectangle 21"/>
          <p:cNvSpPr/>
          <p:nvPr/>
        </p:nvSpPr>
        <p:spPr>
          <a:xfrm>
            <a:off x="914400" y="5303520"/>
            <a:ext cx="10332720" cy="91440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5394960"/>
            <a:ext cx="9784080" cy="731520"/>
          </a:xfrm>
          <a:prstGeom prst="rect">
            <a:avLst/>
          </a:prstGeom>
          <a:noFill/>
        </p:spPr>
        <p:txBody>
          <a:bodyPr wrap="square">
            <a:spAutoFit/>
          </a:bodyPr>
          <a:lstStyle/>
          <a:p>
            <a:pPr algn="l">
              <a:defRPr sz="1200" b="1">
                <a:solidFill>
                  <a:srgbClr val="3B82F6"/>
                </a:solidFill>
              </a:defRPr>
            </a:pPr>
            <a:r>
              <a:t>Key: The biggest models cost millions to train. Fine-tuning is much cheaper ($100-$10K). RLHF is why models are polite &amp; helpful — they were TRAINED to be.</a:t>
            </a:r>
          </a:p>
        </p:txBody>
      </p:sp>
      <p:sp>
        <p:nvSpPr>
          <p:cNvPr id="24" name="TextBox 23"/>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Key Mechanics: Tokens, Parameters &amp; Context</a:t>
            </a:r>
          </a:p>
        </p:txBody>
      </p:sp>
      <p:sp>
        <p:nvSpPr>
          <p:cNvPr id="3" name="TextBox 2"/>
          <p:cNvSpPr txBox="1"/>
          <p:nvPr/>
        </p:nvSpPr>
        <p:spPr>
          <a:xfrm>
            <a:off x="914400" y="914400"/>
            <a:ext cx="3200400" cy="365760"/>
          </a:xfrm>
          <a:prstGeom prst="rect">
            <a:avLst/>
          </a:prstGeom>
          <a:noFill/>
        </p:spPr>
        <p:txBody>
          <a:bodyPr wrap="square">
            <a:spAutoFit/>
          </a:bodyPr>
          <a:lstStyle/>
          <a:p>
            <a:pPr algn="l">
              <a:defRPr sz="1800" b="1">
                <a:solidFill>
                  <a:srgbClr val="3B82F6"/>
                </a:solidFill>
              </a:defRPr>
            </a:pPr>
            <a:r>
              <a:t>Tokens</a:t>
            </a:r>
          </a:p>
        </p:txBody>
      </p:sp>
      <p:sp>
        <p:nvSpPr>
          <p:cNvPr id="4" name="TextBox 3"/>
          <p:cNvSpPr txBox="1"/>
          <p:nvPr/>
        </p:nvSpPr>
        <p:spPr>
          <a:xfrm>
            <a:off x="914400" y="1371600"/>
            <a:ext cx="3200400" cy="2286000"/>
          </a:xfrm>
          <a:prstGeom prst="rect">
            <a:avLst/>
          </a:prstGeom>
          <a:noFill/>
        </p:spPr>
        <p:txBody>
          <a:bodyPr wrap="square">
            <a:spAutoFit/>
          </a:bodyPr>
          <a:lstStyle/>
          <a:p>
            <a:pPr algn="l">
              <a:defRPr sz="1200" b="0">
                <a:solidFill>
                  <a:srgbClr val="1A1A1A"/>
                </a:solidFill>
              </a:defRPr>
            </a:pPr>
            <a:r>
              <a:t>Models process tokens — not letters, not words.</a:t>
            </a:r>
            <a:br/>
            <a:br/>
            <a:r>
              <a:t>A token ≈ ¾ of a word.</a:t>
            </a:r>
            <a:br/>
            <a:r>
              <a:t>"The quick brown fox" = 4 tokens.</a:t>
            </a:r>
            <a:br/>
            <a:r>
              <a:t>~1,000 tokens = ~750 words = ~1.5 pages.</a:t>
            </a:r>
            <a:br/>
            <a:br/>
            <a:r>
              <a:t>Pricing is per-token.</a:t>
            </a:r>
            <a:br/>
            <a:r>
              <a:t>Input: what the model reads.</a:t>
            </a:r>
            <a:br/>
            <a:r>
              <a:t>Output: what the model writes.</a:t>
            </a:r>
          </a:p>
        </p:txBody>
      </p:sp>
      <p:sp>
        <p:nvSpPr>
          <p:cNvPr id="5" name="Rounded Rectangle 4"/>
          <p:cNvSpPr/>
          <p:nvPr/>
        </p:nvSpPr>
        <p:spPr>
          <a:xfrm>
            <a:off x="914400" y="3840480"/>
            <a:ext cx="3200400" cy="640080"/>
          </a:xfrm>
          <a:prstGeom prst="round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886200"/>
            <a:ext cx="3200400" cy="457200"/>
          </a:xfrm>
          <a:prstGeom prst="rect">
            <a:avLst/>
          </a:prstGeom>
          <a:noFill/>
        </p:spPr>
        <p:txBody>
          <a:bodyPr wrap="square">
            <a:spAutoFit/>
          </a:bodyPr>
          <a:lstStyle/>
          <a:p>
            <a:pPr algn="ctr">
              <a:defRPr sz="1100" b="0">
                <a:solidFill>
                  <a:srgbClr val="1A1A1A"/>
                </a:solidFill>
              </a:defRPr>
            </a:pPr>
            <a:r>
              <a:t>The | quick | brown | fox | jumps</a:t>
            </a:r>
          </a:p>
        </p:txBody>
      </p:sp>
      <p:sp>
        <p:nvSpPr>
          <p:cNvPr id="7" name="TextBox 6"/>
          <p:cNvSpPr txBox="1"/>
          <p:nvPr/>
        </p:nvSpPr>
        <p:spPr>
          <a:xfrm>
            <a:off x="4480560" y="914400"/>
            <a:ext cx="3200400" cy="365760"/>
          </a:xfrm>
          <a:prstGeom prst="rect">
            <a:avLst/>
          </a:prstGeom>
          <a:noFill/>
        </p:spPr>
        <p:txBody>
          <a:bodyPr wrap="square">
            <a:spAutoFit/>
          </a:bodyPr>
          <a:lstStyle/>
          <a:p>
            <a:pPr algn="l">
              <a:defRPr sz="1800" b="1">
                <a:solidFill>
                  <a:srgbClr val="3B82F6"/>
                </a:solidFill>
              </a:defRPr>
            </a:pPr>
            <a:r>
              <a:t>Parameters</a:t>
            </a:r>
          </a:p>
        </p:txBody>
      </p:sp>
      <p:sp>
        <p:nvSpPr>
          <p:cNvPr id="8" name="TextBox 7"/>
          <p:cNvSpPr txBox="1"/>
          <p:nvPr/>
        </p:nvSpPr>
        <p:spPr>
          <a:xfrm>
            <a:off x="4480560" y="1371600"/>
            <a:ext cx="3200400" cy="2286000"/>
          </a:xfrm>
          <a:prstGeom prst="rect">
            <a:avLst/>
          </a:prstGeom>
          <a:noFill/>
        </p:spPr>
        <p:txBody>
          <a:bodyPr wrap="square">
            <a:spAutoFit/>
          </a:bodyPr>
          <a:lstStyle/>
          <a:p>
            <a:pPr algn="l">
              <a:defRPr sz="1200" b="0">
                <a:solidFill>
                  <a:srgbClr val="1A1A1A"/>
                </a:solidFill>
              </a:defRPr>
            </a:pPr>
            <a:r>
              <a:t>Think of parameters as millions of</a:t>
            </a:r>
            <a:br/>
            <a:r>
              <a:t>tiny "prediction dials."</a:t>
            </a:r>
            <a:br/>
            <a:br/>
            <a:r>
              <a:t>GPT-5.5: ~1.76 trillion parameters.</a:t>
            </a:r>
            <a:br/>
            <a:r>
              <a:t>Llama 4 405B: 405 billion (open-weight).</a:t>
            </a:r>
            <a:br/>
            <a:br/>
            <a:r>
              <a:t>More parameters = more nuance.</a:t>
            </a:r>
            <a:br/>
            <a:r>
              <a:t>But architecture &amp; training data</a:t>
            </a:r>
            <a:br/>
            <a:r>
              <a:t>quality matter equally.</a:t>
            </a:r>
          </a:p>
        </p:txBody>
      </p:sp>
      <p:sp>
        <p:nvSpPr>
          <p:cNvPr id="9" name="Oval 8"/>
          <p:cNvSpPr/>
          <p:nvPr/>
        </p:nvSpPr>
        <p:spPr>
          <a:xfrm>
            <a:off x="4937760" y="3474720"/>
            <a:ext cx="548640" cy="548640"/>
          </a:xfrm>
          <a:prstGeom prst="ellipse">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3611880"/>
            <a:ext cx="2011680" cy="365760"/>
          </a:xfrm>
          <a:prstGeom prst="rect">
            <a:avLst/>
          </a:prstGeom>
          <a:noFill/>
        </p:spPr>
        <p:txBody>
          <a:bodyPr wrap="square">
            <a:spAutoFit/>
          </a:bodyPr>
          <a:lstStyle/>
          <a:p>
            <a:pPr algn="l">
              <a:defRPr sz="1200" b="1">
                <a:solidFill>
                  <a:srgbClr val="3B82F6"/>
                </a:solidFill>
              </a:defRPr>
            </a:pPr>
            <a:r>
              <a:t>≈ 1.76T dials</a:t>
            </a:r>
          </a:p>
        </p:txBody>
      </p:sp>
      <p:sp>
        <p:nvSpPr>
          <p:cNvPr id="11" name="TextBox 10"/>
          <p:cNvSpPr txBox="1"/>
          <p:nvPr/>
        </p:nvSpPr>
        <p:spPr>
          <a:xfrm>
            <a:off x="8046720" y="914400"/>
            <a:ext cx="3200400" cy="365760"/>
          </a:xfrm>
          <a:prstGeom prst="rect">
            <a:avLst/>
          </a:prstGeom>
          <a:noFill/>
        </p:spPr>
        <p:txBody>
          <a:bodyPr wrap="square">
            <a:spAutoFit/>
          </a:bodyPr>
          <a:lstStyle/>
          <a:p>
            <a:pPr algn="l">
              <a:defRPr sz="1800" b="1">
                <a:solidFill>
                  <a:srgbClr val="3B82F6"/>
                </a:solidFill>
              </a:defRPr>
            </a:pPr>
            <a:r>
              <a:t>Context Windows</a:t>
            </a:r>
          </a:p>
        </p:txBody>
      </p:sp>
      <p:sp>
        <p:nvSpPr>
          <p:cNvPr id="12" name="TextBox 11"/>
          <p:cNvSpPr txBox="1"/>
          <p:nvPr/>
        </p:nvSpPr>
        <p:spPr>
          <a:xfrm>
            <a:off x="8046720" y="1371600"/>
            <a:ext cx="3200400" cy="2286000"/>
          </a:xfrm>
          <a:prstGeom prst="rect">
            <a:avLst/>
          </a:prstGeom>
          <a:noFill/>
        </p:spPr>
        <p:txBody>
          <a:bodyPr wrap="square">
            <a:spAutoFit/>
          </a:bodyPr>
          <a:lstStyle/>
          <a:p>
            <a:pPr algn="l">
              <a:defRPr sz="1200" b="0">
                <a:solidFill>
                  <a:srgbClr val="1A1A1A"/>
                </a:solidFill>
              </a:defRPr>
            </a:pPr>
            <a:r>
              <a:t>Everything the model "remembers"</a:t>
            </a:r>
            <a:br/>
            <a:r>
              <a:t>in one conversation.</a:t>
            </a:r>
            <a:br/>
            <a:br/>
            <a:r>
              <a:t>Gemini: 1M tokens (War &amp; Peace 2x)</a:t>
            </a:r>
            <a:br/>
            <a:r>
              <a:t>Claude: 400K (~600 pages)</a:t>
            </a:r>
            <a:br/>
            <a:r>
              <a:t>GPT-5.5: 128K (~200 pages)</a:t>
            </a:r>
            <a:br/>
            <a:br/>
            <a:r>
              <a:t>Entire conversation sent with</a:t>
            </a:r>
            <a:br/>
            <a:r>
              <a:t>each message. Long chats cost more.</a:t>
            </a:r>
          </a:p>
        </p:txBody>
      </p:sp>
      <p:sp>
        <p:nvSpPr>
          <p:cNvPr id="13" name="TextBox 12"/>
          <p:cNvSpPr txBox="1"/>
          <p:nvPr/>
        </p:nvSpPr>
        <p:spPr>
          <a:xfrm>
            <a:off x="8046720" y="3383280"/>
            <a:ext cx="3200400" cy="274320"/>
          </a:xfrm>
          <a:prstGeom prst="rect">
            <a:avLst/>
          </a:prstGeom>
          <a:noFill/>
        </p:spPr>
        <p:txBody>
          <a:bodyPr wrap="square">
            <a:spAutoFit/>
          </a:bodyPr>
          <a:lstStyle/>
          <a:p>
            <a:pPr algn="ctr">
              <a:defRPr sz="900" b="0">
                <a:solidFill>
                  <a:srgbClr val="888880"/>
                </a:solidFill>
              </a:defRPr>
            </a:pPr>
            <a:r>
              <a:t>4K → 128K → 400K → 1M tokens</a:t>
            </a:r>
          </a:p>
        </p:txBody>
      </p:sp>
      <p:sp>
        <p:nvSpPr>
          <p:cNvPr id="14" name="Rectangle 13"/>
          <p:cNvSpPr/>
          <p:nvPr/>
        </p:nvSpPr>
        <p:spPr>
          <a:xfrm>
            <a:off x="8046720" y="3611880"/>
            <a:ext cx="365760" cy="182880"/>
          </a:xfrm>
          <a:prstGeom prst="rect">
            <a:avLst/>
          </a:prstGeom>
          <a:solidFill>
            <a:srgbClr val="888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12480" y="3611880"/>
            <a:ext cx="731520" cy="182880"/>
          </a:xfrm>
          <a:prstGeom prst="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0" y="3611880"/>
            <a:ext cx="1097280" cy="1828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241280" y="3611880"/>
            <a:ext cx="1828800" cy="182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3840480"/>
            <a:ext cx="1828800" cy="274320"/>
          </a:xfrm>
          <a:prstGeom prst="rect">
            <a:avLst/>
          </a:prstGeom>
          <a:noFill/>
        </p:spPr>
        <p:txBody>
          <a:bodyPr wrap="square">
            <a:spAutoFit/>
          </a:bodyPr>
          <a:lstStyle/>
          <a:p>
            <a:pPr algn="l">
              <a:defRPr sz="1000" b="1">
                <a:solidFill>
                  <a:srgbClr val="16A34A"/>
                </a:solidFill>
              </a:defRPr>
            </a:pPr>
            <a:r>
              <a:t>1M ✔</a:t>
            </a:r>
          </a:p>
        </p:txBody>
      </p:sp>
      <p:sp>
        <p:nvSpPr>
          <p:cNvPr id="19" name="TextBox 1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Temperature, RAG &amp; Prompt Engineering</a:t>
            </a:r>
          </a:p>
        </p:txBody>
      </p:sp>
      <p:sp>
        <p:nvSpPr>
          <p:cNvPr id="3" name="TextBox 2"/>
          <p:cNvSpPr txBox="1"/>
          <p:nvPr/>
        </p:nvSpPr>
        <p:spPr>
          <a:xfrm>
            <a:off x="914400" y="822960"/>
            <a:ext cx="3657600" cy="365760"/>
          </a:xfrm>
          <a:prstGeom prst="rect">
            <a:avLst/>
          </a:prstGeom>
          <a:noFill/>
        </p:spPr>
        <p:txBody>
          <a:bodyPr wrap="square">
            <a:spAutoFit/>
          </a:bodyPr>
          <a:lstStyle/>
          <a:p>
            <a:pPr algn="l">
              <a:defRPr sz="1600" b="1">
                <a:solidFill>
                  <a:srgbClr val="3B82F6"/>
                </a:solidFill>
              </a:defRPr>
            </a:pPr>
            <a:r>
              <a:t>Temperature</a:t>
            </a:r>
          </a:p>
        </p:txBody>
      </p:sp>
      <p:sp>
        <p:nvSpPr>
          <p:cNvPr id="4" name="TextBox 3"/>
          <p:cNvSpPr txBox="1"/>
          <p:nvPr/>
        </p:nvSpPr>
        <p:spPr>
          <a:xfrm>
            <a:off x="914400" y="1234440"/>
            <a:ext cx="3657600" cy="274320"/>
          </a:xfrm>
          <a:prstGeom prst="rect">
            <a:avLst/>
          </a:prstGeom>
          <a:noFill/>
        </p:spPr>
        <p:txBody>
          <a:bodyPr wrap="square">
            <a:spAutoFit/>
          </a:bodyPr>
          <a:lstStyle/>
          <a:p>
            <a:pPr algn="l">
              <a:defRPr sz="1000" b="0">
                <a:solidFill>
                  <a:srgbClr val="888880"/>
                </a:solidFill>
              </a:defRPr>
            </a:pPr>
            <a:r>
              <a:t>Controls creativity (0 = deterministic, 1+ = creative)</a:t>
            </a:r>
          </a:p>
        </p:txBody>
      </p:sp>
      <p:sp>
        <p:nvSpPr>
          <p:cNvPr id="5" name="Rounded Rectangle 4"/>
          <p:cNvSpPr/>
          <p:nvPr/>
        </p:nvSpPr>
        <p:spPr>
          <a:xfrm>
            <a:off x="914400" y="1645920"/>
            <a:ext cx="640080" cy="1097280"/>
          </a:xfrm>
          <a:prstGeom prst="roundRect">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00">
                <a:solidFill>
                  <a:srgbClr val="FFFFFF"/>
                </a:solidFill>
              </a:defRPr>
            </a:pPr>
            <a:r>
              <a:t>0.0</a:t>
            </a:r>
            <a:br/>
            <a:br/>
            <a:r>
              <a:t>Deterministic</a:t>
            </a:r>
            <a:br/>
            <a:r>
              <a:t>Math, code, facts</a:t>
            </a:r>
          </a:p>
        </p:txBody>
      </p:sp>
      <p:sp>
        <p:nvSpPr>
          <p:cNvPr id="6" name="Rounded Rectangle 5"/>
          <p:cNvSpPr/>
          <p:nvPr/>
        </p:nvSpPr>
        <p:spPr>
          <a:xfrm>
            <a:off x="2011680" y="1645920"/>
            <a:ext cx="1280160" cy="10972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00">
                <a:solidFill>
                  <a:srgbClr val="FFFFFF"/>
                </a:solidFill>
              </a:defRPr>
            </a:pPr>
            <a:r>
              <a:t>0.3–0.7</a:t>
            </a:r>
            <a:br/>
            <a:br/>
            <a:r>
              <a:t>Balanced</a:t>
            </a:r>
            <a:br/>
            <a:r>
              <a:t>Most tasks, docs, analysis</a:t>
            </a:r>
          </a:p>
        </p:txBody>
      </p:sp>
      <p:sp>
        <p:nvSpPr>
          <p:cNvPr id="7" name="Rounded Rectangle 6"/>
          <p:cNvSpPr/>
          <p:nvPr/>
        </p:nvSpPr>
        <p:spPr>
          <a:xfrm>
            <a:off x="3108960" y="1645920"/>
            <a:ext cx="1280160" cy="10972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00">
                <a:solidFill>
                  <a:srgbClr val="FFFFFF"/>
                </a:solidFill>
              </a:defRPr>
            </a:pPr>
            <a:r>
              <a:t>1.0+</a:t>
            </a:r>
            <a:br/>
            <a:br/>
            <a:r>
              <a:t>Creative</a:t>
            </a:r>
            <a:br/>
            <a:r>
              <a:t>Brainstorming, writing</a:t>
            </a:r>
          </a:p>
        </p:txBody>
      </p:sp>
      <p:sp>
        <p:nvSpPr>
          <p:cNvPr id="8" name="TextBox 7"/>
          <p:cNvSpPr txBox="1"/>
          <p:nvPr/>
        </p:nvSpPr>
        <p:spPr>
          <a:xfrm>
            <a:off x="4389120" y="822960"/>
            <a:ext cx="3200400" cy="365760"/>
          </a:xfrm>
          <a:prstGeom prst="rect">
            <a:avLst/>
          </a:prstGeom>
          <a:noFill/>
        </p:spPr>
        <p:txBody>
          <a:bodyPr wrap="square">
            <a:spAutoFit/>
          </a:bodyPr>
          <a:lstStyle/>
          <a:p>
            <a:pPr algn="l">
              <a:defRPr sz="1600" b="1">
                <a:solidFill>
                  <a:srgbClr val="3B82F6"/>
                </a:solidFill>
              </a:defRPr>
            </a:pPr>
            <a:r>
              <a:t>What is RAG?</a:t>
            </a:r>
          </a:p>
        </p:txBody>
      </p:sp>
      <p:sp>
        <p:nvSpPr>
          <p:cNvPr id="9" name="Rounded Rectangle 8"/>
          <p:cNvSpPr/>
          <p:nvPr/>
        </p:nvSpPr>
        <p:spPr>
          <a:xfrm>
            <a:off x="4389120" y="1371600"/>
            <a:ext cx="1371600" cy="6400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00">
                <a:solidFill>
                  <a:srgbClr val="FFFFFF"/>
                </a:solidFill>
              </a:defRPr>
            </a:pPr>
            <a:r>
              <a:t>User asks</a:t>
            </a:r>
            <a:br/>
            <a:r>
              <a:t>question</a:t>
            </a:r>
          </a:p>
        </p:txBody>
      </p:sp>
      <p:cxnSp>
        <p:nvCxnSpPr>
          <p:cNvPr id="10" name="Connector 9"/>
          <p:cNvCxnSpPr/>
          <p:nvPr/>
        </p:nvCxnSpPr>
        <p:spPr>
          <a:xfrm>
            <a:off x="5760720" y="1691640"/>
            <a:ext cx="640080" cy="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400800" y="1371600"/>
            <a:ext cx="1371600" cy="6400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00">
                <a:solidFill>
                  <a:srgbClr val="FFFFFF"/>
                </a:solidFill>
              </a:defRPr>
            </a:pPr>
            <a:r>
              <a:t>Search your</a:t>
            </a:r>
            <a:br/>
            <a:r>
              <a:t>documents</a:t>
            </a:r>
          </a:p>
        </p:txBody>
      </p:sp>
      <p:cxnSp>
        <p:nvCxnSpPr>
          <p:cNvPr id="12" name="Connector 11"/>
          <p:cNvCxnSpPr/>
          <p:nvPr/>
        </p:nvCxnSpPr>
        <p:spPr>
          <a:xfrm>
            <a:off x="7772400" y="1691640"/>
            <a:ext cx="640080" cy="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9120" y="2286000"/>
            <a:ext cx="1371600" cy="640080"/>
          </a:xfrm>
          <a:prstGeom prst="roundRect">
            <a:avLst/>
          </a:prstGeom>
          <a:solidFill>
            <a:srgbClr val="166B34"/>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00">
                <a:solidFill>
                  <a:srgbClr val="FFFFFF"/>
                </a:solidFill>
              </a:defRPr>
            </a:pPr>
            <a:r>
              <a:t>LLM answers</a:t>
            </a:r>
            <a:br/>
            <a:r>
              <a:t>with refs</a:t>
            </a:r>
          </a:p>
        </p:txBody>
      </p:sp>
      <p:cxnSp>
        <p:nvCxnSpPr>
          <p:cNvPr id="14" name="Connector 13"/>
          <p:cNvCxnSpPr/>
          <p:nvPr/>
        </p:nvCxnSpPr>
        <p:spPr>
          <a:xfrm>
            <a:off x="5760720" y="2606040"/>
            <a:ext cx="640080" cy="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89120" y="3566160"/>
            <a:ext cx="3474720" cy="731520"/>
          </a:xfrm>
          <a:prstGeom prst="rect">
            <a:avLst/>
          </a:prstGeom>
          <a:noFill/>
        </p:spPr>
        <p:txBody>
          <a:bodyPr wrap="square">
            <a:spAutoFit/>
          </a:bodyPr>
          <a:lstStyle/>
          <a:p>
            <a:pPr algn="l">
              <a:defRPr sz="1000" b="0">
                <a:solidFill>
                  <a:srgbClr val="888880"/>
                </a:solidFill>
              </a:defRPr>
            </a:pPr>
            <a:r>
              <a:t>Think: "Hey LLM, read these 3 docs</a:t>
            </a:r>
            <a:br/>
            <a:r>
              <a:t>and answer the question."</a:t>
            </a:r>
            <a:br/>
            <a:r>
              <a:t>Fixes hallucinations.</a:t>
            </a:r>
          </a:p>
        </p:txBody>
      </p:sp>
      <p:sp>
        <p:nvSpPr>
          <p:cNvPr id="16" name="TextBox 15"/>
          <p:cNvSpPr txBox="1"/>
          <p:nvPr/>
        </p:nvSpPr>
        <p:spPr>
          <a:xfrm>
            <a:off x="8412480" y="822960"/>
            <a:ext cx="3200400" cy="365760"/>
          </a:xfrm>
          <a:prstGeom prst="rect">
            <a:avLst/>
          </a:prstGeom>
          <a:noFill/>
        </p:spPr>
        <p:txBody>
          <a:bodyPr wrap="square">
            <a:spAutoFit/>
          </a:bodyPr>
          <a:lstStyle/>
          <a:p>
            <a:pPr algn="l">
              <a:defRPr sz="1600" b="1">
                <a:solidFill>
                  <a:srgbClr val="3B82F6"/>
                </a:solidFill>
              </a:defRPr>
            </a:pPr>
            <a:r>
              <a:t>Prompt Engineering</a:t>
            </a:r>
          </a:p>
        </p:txBody>
      </p:sp>
      <p:sp>
        <p:nvSpPr>
          <p:cNvPr id="17" name="TextBox 16"/>
          <p:cNvSpPr txBox="1"/>
          <p:nvPr/>
        </p:nvSpPr>
        <p:spPr>
          <a:xfrm>
            <a:off x="8412480" y="1234440"/>
            <a:ext cx="3200400" cy="1828800"/>
          </a:xfrm>
          <a:prstGeom prst="rect">
            <a:avLst/>
          </a:prstGeom>
          <a:noFill/>
        </p:spPr>
        <p:txBody>
          <a:bodyPr wrap="square">
            <a:spAutoFit/>
          </a:bodyPr>
          <a:lstStyle/>
          <a:p>
            <a:pPr>
              <a:spcAft>
                <a:spcPts val="600"/>
              </a:spcAft>
              <a:defRPr sz="1000">
                <a:solidFill>
                  <a:srgbClr val="1A1A1A"/>
                </a:solidFill>
              </a:defRPr>
            </a:pPr>
            <a:r>
              <a:t>▶  Be specific</a:t>
            </a:r>
          </a:p>
          <a:p>
            <a:pPr>
              <a:spcAft>
                <a:spcPts val="600"/>
              </a:spcAft>
              <a:defRPr sz="1000">
                <a:solidFill>
                  <a:srgbClr val="1A1A1A"/>
                </a:solidFill>
              </a:defRPr>
            </a:pPr>
            <a:r>
              <a:t>▶    "Summarize in 3 bullet</a:t>
            </a:r>
            <a:br/>
            <a:r>
              <a:t>   points with action items"</a:t>
            </a:r>
          </a:p>
          <a:p>
            <a:pPr>
              <a:spcAft>
                <a:spcPts val="600"/>
              </a:spcAft>
              <a:defRPr sz="1000">
                <a:solidFill>
                  <a:srgbClr val="1A1A1A"/>
                </a:solidFill>
              </a:defRPr>
            </a:pPr>
            <a:r>
              <a:t>▶  </a:t>
            </a:r>
          </a:p>
          <a:p>
            <a:pPr>
              <a:spcAft>
                <a:spcPts val="600"/>
              </a:spcAft>
              <a:defRPr sz="1000">
                <a:solidFill>
                  <a:srgbClr val="1A1A1A"/>
                </a:solidFill>
              </a:defRPr>
            </a:pPr>
            <a:r>
              <a:t>▶  Give examples</a:t>
            </a:r>
          </a:p>
          <a:p>
            <a:pPr>
              <a:spcAft>
                <a:spcPts val="600"/>
              </a:spcAft>
              <a:defRPr sz="1000">
                <a:solidFill>
                  <a:srgbClr val="1A1A1A"/>
                </a:solidFill>
              </a:defRPr>
            </a:pPr>
            <a:r>
              <a:t>▶    Show 2-3 input/output</a:t>
            </a:r>
            <a:br/>
            <a:r>
              <a:t>   pairs first</a:t>
            </a:r>
          </a:p>
          <a:p>
            <a:pPr>
              <a:spcAft>
                <a:spcPts val="600"/>
              </a:spcAft>
              <a:defRPr sz="1000">
                <a:solidFill>
                  <a:srgbClr val="1A1A1A"/>
                </a:solidFill>
              </a:defRPr>
            </a:pPr>
            <a:r>
              <a:t>▶  </a:t>
            </a:r>
          </a:p>
          <a:p>
            <a:pPr>
              <a:spcAft>
                <a:spcPts val="600"/>
              </a:spcAft>
              <a:defRPr sz="1000">
                <a:solidFill>
                  <a:srgbClr val="1A1A1A"/>
                </a:solidFill>
              </a:defRPr>
            </a:pPr>
            <a:r>
              <a:t>▶  Ask for structure</a:t>
            </a:r>
          </a:p>
          <a:p>
            <a:pPr>
              <a:spcAft>
                <a:spcPts val="600"/>
              </a:spcAft>
              <a:defRPr sz="1000">
                <a:solidFill>
                  <a:srgbClr val="1A1A1A"/>
                </a:solidFill>
              </a:defRPr>
            </a:pPr>
            <a:r>
              <a:t>▶    "Output as JSON"</a:t>
            </a:r>
            <a:br/>
            <a:r>
              <a:t>  "Present as a table"</a:t>
            </a:r>
          </a:p>
        </p:txBody>
      </p:sp>
      <p:sp>
        <p:nvSpPr>
          <p:cNvPr id="18" name="Rounded Rectangle 17"/>
          <p:cNvSpPr/>
          <p:nvPr/>
        </p:nvSpPr>
        <p:spPr>
          <a:xfrm>
            <a:off x="914400" y="5029200"/>
            <a:ext cx="10332720" cy="118872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5120640"/>
            <a:ext cx="9784080" cy="1005840"/>
          </a:xfrm>
          <a:prstGeom prst="rect">
            <a:avLst/>
          </a:prstGeom>
          <a:noFill/>
        </p:spPr>
        <p:txBody>
          <a:bodyPr wrap="square">
            <a:spAutoFit/>
          </a:bodyPr>
          <a:lstStyle/>
          <a:p>
            <a:pPr algn="l">
              <a:defRPr sz="1100" b="0">
                <a:solidFill>
                  <a:srgbClr val="16A34A"/>
                </a:solidFill>
              </a:defRPr>
            </a:pPr>
            <a:r>
              <a:t>Temperature = creativity knob (low for code, high for brainstorming)  |  RAG = "read my docs before answering" — eliminates most hallucinations</a:t>
            </a:r>
            <a:br/>
            <a:r>
              <a:t>Prompt quality directly determines output quality. "Vague in, vague out." Being specific is the highest-ROI skill with AI.</a:t>
            </a:r>
          </a:p>
        </p:txBody>
      </p:sp>
      <p:sp>
        <p:nvSpPr>
          <p:cNvPr id="20" name="TextBox 19"/>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3 Ways to Adapt AI to Your Needs</a:t>
            </a:r>
          </a:p>
        </p:txBody>
      </p:sp>
      <p:graphicFrame>
        <p:nvGraphicFramePr>
          <p:cNvPr id="3" name="Table 2"/>
          <p:cNvGraphicFramePr>
            <a:graphicFrameLocks noGrp="1"/>
          </p:cNvGraphicFramePr>
          <p:nvPr/>
        </p:nvGraphicFramePr>
        <p:xfrm>
          <a:off x="914400" y="914400"/>
          <a:ext cx="10032720" cy="2011680"/>
        </p:xfrm>
        <a:graphic>
          <a:graphicData uri="http://schemas.openxmlformats.org/drawingml/2006/table">
            <a:tbl>
              <a:tblPr firstRow="1" bandRow="1">
                <a:tableStyleId>{5C22544A-7EE6-4342-B048-85BDC9FD1C3A}</a:tableStyleId>
              </a:tblPr>
              <a:tblGrid>
                <a:gridCol w="1672120"/>
                <a:gridCol w="1672120"/>
                <a:gridCol w="1672120"/>
                <a:gridCol w="1672120"/>
                <a:gridCol w="1672120"/>
                <a:gridCol w="1672120"/>
              </a:tblGrid>
              <a:tr h="502920">
                <a:tc>
                  <a:txBody>
                    <a:bodyPr/>
                    <a:lstStyle/>
                    <a:p>
                      <a:pPr>
                        <a:defRPr sz="1000" b="1">
                          <a:solidFill>
                            <a:srgbClr val="FFFFFF"/>
                          </a:solidFill>
                        </a:defRPr>
                      </a:pPr>
                      <a:r>
                        <a:t>Method</a:t>
                      </a:r>
                    </a:p>
                  </a:txBody>
                  <a:tcPr>
                    <a:solidFill>
                      <a:srgbClr val="3B82F6"/>
                    </a:solidFill>
                  </a:tcPr>
                </a:tc>
                <a:tc>
                  <a:txBody>
                    <a:bodyPr/>
                    <a:lstStyle/>
                    <a:p>
                      <a:pPr>
                        <a:defRPr sz="1000" b="1">
                          <a:solidFill>
                            <a:srgbClr val="FFFFFF"/>
                          </a:solidFill>
                        </a:defRPr>
                      </a:pPr>
                      <a:r>
                        <a:t>How It Works</a:t>
                      </a:r>
                    </a:p>
                  </a:txBody>
                  <a:tcPr>
                    <a:solidFill>
                      <a:srgbClr val="3B82F6"/>
                    </a:solidFill>
                  </a:tcPr>
                </a:tc>
                <a:tc>
                  <a:txBody>
                    <a:bodyPr/>
                    <a:lstStyle/>
                    <a:p>
                      <a:pPr>
                        <a:defRPr sz="1000" b="1">
                          <a:solidFill>
                            <a:srgbClr val="FFFFFF"/>
                          </a:solidFill>
                        </a:defRPr>
                      </a:pPr>
                      <a:r>
                        <a:t>Time</a:t>
                      </a:r>
                    </a:p>
                  </a:txBody>
                  <a:tcPr>
                    <a:solidFill>
                      <a:srgbClr val="3B82F6"/>
                    </a:solidFill>
                  </a:tcPr>
                </a:tc>
                <a:tc>
                  <a:txBody>
                    <a:bodyPr/>
                    <a:lstStyle/>
                    <a:p>
                      <a:pPr>
                        <a:defRPr sz="1000" b="1">
                          <a:solidFill>
                            <a:srgbClr val="FFFFFF"/>
                          </a:solidFill>
                        </a:defRPr>
                      </a:pPr>
                      <a:r>
                        <a:t>Cost</a:t>
                      </a:r>
                    </a:p>
                  </a:txBody>
                  <a:tcPr>
                    <a:solidFill>
                      <a:srgbClr val="3B82F6"/>
                    </a:solidFill>
                  </a:tcPr>
                </a:tc>
                <a:tc>
                  <a:txBody>
                    <a:bodyPr/>
                    <a:lstStyle/>
                    <a:p>
                      <a:pPr>
                        <a:defRPr sz="1000" b="1">
                          <a:solidFill>
                            <a:srgbClr val="FFFFFF"/>
                          </a:solidFill>
                        </a:defRPr>
                      </a:pPr>
                      <a:r>
                        <a:t>Complexity</a:t>
                      </a:r>
                    </a:p>
                  </a:txBody>
                  <a:tcPr>
                    <a:solidFill>
                      <a:srgbClr val="3B82F6"/>
                    </a:solidFill>
                  </a:tcPr>
                </a:tc>
                <a:tc>
                  <a:txBody>
                    <a:bodyPr/>
                    <a:lstStyle/>
                    <a:p>
                      <a:pPr>
                        <a:defRPr sz="1000" b="1">
                          <a:solidFill>
                            <a:srgbClr val="FFFFFF"/>
                          </a:solidFill>
                        </a:defRPr>
                      </a:pPr>
                      <a:r>
                        <a:t>Best For</a:t>
                      </a:r>
                    </a:p>
                  </a:txBody>
                  <a:tcPr>
                    <a:solidFill>
                      <a:srgbClr val="3B82F6"/>
                    </a:solidFill>
                  </a:tcPr>
                </a:tc>
              </a:tr>
              <a:tr h="502920">
                <a:tc>
                  <a:txBody>
                    <a:bodyPr/>
                    <a:lstStyle/>
                    <a:p>
                      <a:pPr>
                        <a:defRPr sz="1100">
                          <a:solidFill>
                            <a:srgbClr val="1A1A1A"/>
                          </a:solidFill>
                        </a:defRPr>
                      </a:pPr>
                      <a:r>
                        <a:t>Prompting</a:t>
                      </a:r>
                    </a:p>
                  </a:txBody>
                  <a:tcPr>
                    <a:solidFill>
                      <a:srgbClr val="E0DCD6"/>
                    </a:solidFill>
                  </a:tcPr>
                </a:tc>
                <a:tc>
                  <a:txBody>
                    <a:bodyPr/>
                    <a:lstStyle/>
                    <a:p>
                      <a:pPr>
                        <a:defRPr sz="1100">
                          <a:solidFill>
                            <a:srgbClr val="1A1A1A"/>
                          </a:solidFill>
                        </a:defRPr>
                      </a:pPr>
                      <a:r>
                        <a:t>Write better instructions</a:t>
                      </a:r>
                    </a:p>
                  </a:txBody>
                  <a:tcPr>
                    <a:solidFill>
                      <a:srgbClr val="E0DCD6"/>
                    </a:solidFill>
                  </a:tcPr>
                </a:tc>
                <a:tc>
                  <a:txBody>
                    <a:bodyPr/>
                    <a:lstStyle/>
                    <a:p>
                      <a:pPr>
                        <a:defRPr sz="1100">
                          <a:solidFill>
                            <a:srgbClr val="1A1A1A"/>
                          </a:solidFill>
                        </a:defRPr>
                      </a:pPr>
                      <a:r>
                        <a:t>Instant</a:t>
                      </a:r>
                    </a:p>
                  </a:txBody>
                  <a:tcPr>
                    <a:solidFill>
                      <a:srgbClr val="E0DCD6"/>
                    </a:solidFill>
                  </a:tcPr>
                </a:tc>
                <a:tc>
                  <a:txBody>
                    <a:bodyPr/>
                    <a:lstStyle/>
                    <a:p>
                      <a:pPr>
                        <a:defRPr sz="1100">
                          <a:solidFill>
                            <a:srgbClr val="1A1A1A"/>
                          </a:solidFill>
                        </a:defRPr>
                      </a:pPr>
                      <a:r>
                        <a:t>Free</a:t>
                      </a:r>
                    </a:p>
                  </a:txBody>
                  <a:tcPr>
                    <a:solidFill>
                      <a:srgbClr val="E0DCD6"/>
                    </a:solidFill>
                  </a:tcPr>
                </a:tc>
                <a:tc>
                  <a:txBody>
                    <a:bodyPr/>
                    <a:lstStyle/>
                    <a:p>
                      <a:pPr>
                        <a:defRPr sz="1100">
                          <a:solidFill>
                            <a:srgbClr val="1A1A1A"/>
                          </a:solidFill>
                        </a:defRPr>
                      </a:pPr>
                      <a:r>
                        <a:t>Low</a:t>
                      </a:r>
                    </a:p>
                  </a:txBody>
                  <a:tcPr>
                    <a:solidFill>
                      <a:srgbClr val="E0DCD6"/>
                    </a:solidFill>
                  </a:tcPr>
                </a:tc>
                <a:tc>
                  <a:txBody>
                    <a:bodyPr/>
                    <a:lstStyle/>
                    <a:p>
                      <a:pPr>
                        <a:defRPr sz="1100">
                          <a:solidFill>
                            <a:srgbClr val="1A1A1A"/>
                          </a:solidFill>
                        </a:defRPr>
                      </a:pPr>
                      <a:r>
                        <a:t>Most tasks: writing, analysis, coding</a:t>
                      </a:r>
                    </a:p>
                  </a:txBody>
                  <a:tcPr>
                    <a:solidFill>
                      <a:srgbClr val="E0DCD6"/>
                    </a:solidFill>
                  </a:tcPr>
                </a:tc>
              </a:tr>
              <a:tr h="502920">
                <a:tc>
                  <a:txBody>
                    <a:bodyPr/>
                    <a:lstStyle/>
                    <a:p>
                      <a:pPr>
                        <a:defRPr sz="1100">
                          <a:solidFill>
                            <a:srgbClr val="1A1A1A"/>
                          </a:solidFill>
                        </a:defRPr>
                      </a:pPr>
                      <a:r>
                        <a:t>RAG</a:t>
                      </a:r>
                    </a:p>
                  </a:txBody>
                  <a:tcPr/>
                </a:tc>
                <a:tc>
                  <a:txBody>
                    <a:bodyPr/>
                    <a:lstStyle/>
                    <a:p>
                      <a:pPr>
                        <a:defRPr sz="1100">
                          <a:solidFill>
                            <a:srgbClr val="1A1A1A"/>
                          </a:solidFill>
                        </a:defRPr>
                      </a:pPr>
                      <a:r>
                        <a:t>Feed it your documents</a:t>
                      </a:r>
                    </a:p>
                  </a:txBody>
                  <a:tcPr/>
                </a:tc>
                <a:tc>
                  <a:txBody>
                    <a:bodyPr/>
                    <a:lstStyle/>
                    <a:p>
                      <a:pPr>
                        <a:defRPr sz="1100">
                          <a:solidFill>
                            <a:srgbClr val="1A1A1A"/>
                          </a:solidFill>
                        </a:defRPr>
                      </a:pPr>
                      <a:r>
                        <a:t>Hours–Days</a:t>
                      </a:r>
                    </a:p>
                  </a:txBody>
                  <a:tcPr/>
                </a:tc>
                <a:tc>
                  <a:txBody>
                    <a:bodyPr/>
                    <a:lstStyle/>
                    <a:p>
                      <a:pPr>
                        <a:defRPr sz="1100">
                          <a:solidFill>
                            <a:srgbClr val="1A1A1A"/>
                          </a:solidFill>
                        </a:defRPr>
                      </a:pPr>
                      <a:r>
                        <a:t>Low</a:t>
                      </a:r>
                    </a:p>
                  </a:txBody>
                  <a:tcPr/>
                </a:tc>
                <a:tc>
                  <a:txBody>
                    <a:bodyPr/>
                    <a:lstStyle/>
                    <a:p>
                      <a:pPr>
                        <a:defRPr sz="1100">
                          <a:solidFill>
                            <a:srgbClr val="1A1A1A"/>
                          </a:solidFill>
                        </a:defRPr>
                      </a:pPr>
                      <a:r>
                        <a:t>Medium</a:t>
                      </a:r>
                    </a:p>
                  </a:txBody>
                  <a:tcPr/>
                </a:tc>
                <a:tc>
                  <a:txBody>
                    <a:bodyPr/>
                    <a:lstStyle/>
                    <a:p>
                      <a:pPr>
                        <a:defRPr sz="1100">
                          <a:solidFill>
                            <a:srgbClr val="1A1A1A"/>
                          </a:solidFill>
                        </a:defRPr>
                      </a:pPr>
                      <a:r>
                        <a:t>Docs Q&amp;A, customer support, knowledge bases</a:t>
                      </a:r>
                    </a:p>
                  </a:txBody>
                  <a:tcPr/>
                </a:tc>
              </a:tr>
              <a:tr h="502920">
                <a:tc>
                  <a:txBody>
                    <a:bodyPr/>
                    <a:lstStyle/>
                    <a:p>
                      <a:pPr>
                        <a:defRPr sz="1100">
                          <a:solidFill>
                            <a:srgbClr val="1A1A1A"/>
                          </a:solidFill>
                        </a:defRPr>
                      </a:pPr>
                      <a:r>
                        <a:t>Fine-tuning</a:t>
                      </a:r>
                    </a:p>
                  </a:txBody>
                  <a:tcPr>
                    <a:solidFill>
                      <a:srgbClr val="E0DCD6"/>
                    </a:solidFill>
                  </a:tcPr>
                </a:tc>
                <a:tc>
                  <a:txBody>
                    <a:bodyPr/>
                    <a:lstStyle/>
                    <a:p>
                      <a:pPr>
                        <a:defRPr sz="1100">
                          <a:solidFill>
                            <a:srgbClr val="1A1A1A"/>
                          </a:solidFill>
                        </a:defRPr>
                      </a:pPr>
                      <a:r>
                        <a:t>Train it on your examples</a:t>
                      </a:r>
                    </a:p>
                  </a:txBody>
                  <a:tcPr>
                    <a:solidFill>
                      <a:srgbClr val="E0DCD6"/>
                    </a:solidFill>
                  </a:tcPr>
                </a:tc>
                <a:tc>
                  <a:txBody>
                    <a:bodyPr/>
                    <a:lstStyle/>
                    <a:p>
                      <a:pPr>
                        <a:defRPr sz="1100">
                          <a:solidFill>
                            <a:srgbClr val="1A1A1A"/>
                          </a:solidFill>
                        </a:defRPr>
                      </a:pPr>
                      <a:r>
                        <a:t>Days–Weeks</a:t>
                      </a:r>
                    </a:p>
                  </a:txBody>
                  <a:tcPr>
                    <a:solidFill>
                      <a:srgbClr val="E0DCD6"/>
                    </a:solidFill>
                  </a:tcPr>
                </a:tc>
                <a:tc>
                  <a:txBody>
                    <a:bodyPr/>
                    <a:lstStyle/>
                    <a:p>
                      <a:pPr>
                        <a:defRPr sz="1100">
                          <a:solidFill>
                            <a:srgbClr val="1A1A1A"/>
                          </a:solidFill>
                        </a:defRPr>
                      </a:pPr>
                      <a:r>
                        <a:t>$100–$10K</a:t>
                      </a:r>
                    </a:p>
                  </a:txBody>
                  <a:tcPr>
                    <a:solidFill>
                      <a:srgbClr val="E0DCD6"/>
                    </a:solidFill>
                  </a:tcPr>
                </a:tc>
                <a:tc>
                  <a:txBody>
                    <a:bodyPr/>
                    <a:lstStyle/>
                    <a:p>
                      <a:pPr>
                        <a:defRPr sz="1100">
                          <a:solidFill>
                            <a:srgbClr val="1A1A1A"/>
                          </a:solidFill>
                        </a:defRPr>
                      </a:pPr>
                      <a:r>
                        <a:t>High</a:t>
                      </a:r>
                    </a:p>
                  </a:txBody>
                  <a:tcPr>
                    <a:solidFill>
                      <a:srgbClr val="E0DCD6"/>
                    </a:solidFill>
                  </a:tcPr>
                </a:tc>
                <a:tc>
                  <a:txBody>
                    <a:bodyPr/>
                    <a:lstStyle/>
                    <a:p>
                      <a:pPr>
                        <a:defRPr sz="1100">
                          <a:solidFill>
                            <a:srgbClr val="1A1A1A"/>
                          </a:solidFill>
                        </a:defRPr>
                      </a:pPr>
                      <a:r>
                        <a:t>Specialized domains, brand tone, niche tasks</a:t>
                      </a:r>
                    </a:p>
                  </a:txBody>
                  <a:tcPr>
                    <a:solidFill>
                      <a:srgbClr val="E0DCD6"/>
                    </a:solidFill>
                  </a:tcPr>
                </a:tc>
              </a:tr>
            </a:tbl>
          </a:graphicData>
        </a:graphic>
      </p:graphicFrame>
      <p:sp>
        <p:nvSpPr>
          <p:cNvPr id="4" name="Rounded Rectangle 3"/>
          <p:cNvSpPr/>
          <p:nvPr/>
        </p:nvSpPr>
        <p:spPr>
          <a:xfrm>
            <a:off x="914400" y="3017520"/>
            <a:ext cx="10332720" cy="82296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108960"/>
            <a:ext cx="9784080" cy="640080"/>
          </a:xfrm>
          <a:prstGeom prst="rect">
            <a:avLst/>
          </a:prstGeom>
          <a:noFill/>
        </p:spPr>
        <p:txBody>
          <a:bodyPr wrap="square">
            <a:spAutoFit/>
          </a:bodyPr>
          <a:lstStyle/>
          <a:p>
            <a:pPr algn="l">
              <a:defRPr sz="1200" b="1">
                <a:solidFill>
                  <a:srgbClr val="3B82F6"/>
                </a:solidFill>
              </a:defRPr>
            </a:pPr>
            <a:r>
              <a:t>Start with prompting. Add RAG when you need the model to know YOUR data. Only fine-tune when you need specialized behavior at scale.</a:t>
            </a:r>
          </a:p>
        </p:txBody>
      </p:sp>
      <p:sp>
        <p:nvSpPr>
          <p:cNvPr id="6" name="Rounded Rectangle 5"/>
          <p:cNvSpPr/>
          <p:nvPr/>
        </p:nvSpPr>
        <p:spPr>
          <a:xfrm>
            <a:off x="914400" y="4206240"/>
            <a:ext cx="3383280" cy="50292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16A34A"/>
                </a:solidFill>
              </a:defRPr>
            </a:pPr>
            <a:r>
              <a:t>Writing emails &amp; reports  →  Prompting</a:t>
            </a:r>
          </a:p>
        </p:txBody>
      </p:sp>
      <p:sp>
        <p:nvSpPr>
          <p:cNvPr id="7" name="Rounded Rectangle 6"/>
          <p:cNvSpPr/>
          <p:nvPr/>
        </p:nvSpPr>
        <p:spPr>
          <a:xfrm>
            <a:off x="4572000" y="4206240"/>
            <a:ext cx="3383280" cy="50292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3B82F6"/>
                </a:solidFill>
              </a:defRPr>
            </a:pPr>
            <a:r>
              <a:t>Customer support chatbot  →  RAG</a:t>
            </a:r>
          </a:p>
        </p:txBody>
      </p:sp>
      <p:sp>
        <p:nvSpPr>
          <p:cNvPr id="8" name="Rounded Rectangle 7"/>
          <p:cNvSpPr/>
          <p:nvPr/>
        </p:nvSpPr>
        <p:spPr>
          <a:xfrm>
            <a:off x="8229600" y="4206240"/>
            <a:ext cx="3383280" cy="50292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1A2D4D"/>
                </a:solidFill>
              </a:defRPr>
            </a:pPr>
            <a:r>
              <a:t>Legal document analysis  →  Fine-tuning</a:t>
            </a:r>
          </a:p>
        </p:txBody>
      </p:sp>
      <p:sp>
        <p:nvSpPr>
          <p:cNvPr id="9" name="Rounded Rectangle 8"/>
          <p:cNvSpPr/>
          <p:nvPr/>
        </p:nvSpPr>
        <p:spPr>
          <a:xfrm>
            <a:off x="914400" y="4846320"/>
            <a:ext cx="3383280" cy="50292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16A34A"/>
                </a:solidFill>
              </a:defRPr>
            </a:pPr>
            <a:r>
              <a:t>Code generation  →  Prompting</a:t>
            </a:r>
          </a:p>
        </p:txBody>
      </p:sp>
      <p:sp>
        <p:nvSpPr>
          <p:cNvPr id="10" name="Rounded Rectangle 9"/>
          <p:cNvSpPr/>
          <p:nvPr/>
        </p:nvSpPr>
        <p:spPr>
          <a:xfrm>
            <a:off x="4572000" y="4846320"/>
            <a:ext cx="3383280" cy="50292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3B82F6"/>
                </a:solidFill>
              </a:defRPr>
            </a:pPr>
            <a:r>
              <a:t>Internal docs Q&amp;A  →  RAG</a:t>
            </a:r>
          </a:p>
        </p:txBody>
      </p:sp>
      <p:sp>
        <p:nvSpPr>
          <p:cNvPr id="11" name="Rounded Rectangle 10"/>
          <p:cNvSpPr/>
          <p:nvPr/>
        </p:nvSpPr>
        <p:spPr>
          <a:xfrm>
            <a:off x="8229600" y="4846320"/>
            <a:ext cx="3383280" cy="50292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1A2D4D"/>
                </a:solidFill>
              </a:defRPr>
            </a:pPr>
            <a:r>
              <a:t>Brand voice content  →  Fine-tuning</a:t>
            </a:r>
          </a:p>
        </p:txBody>
      </p:sp>
      <p:sp>
        <p:nvSpPr>
          <p:cNvPr id="12" name="TextBox 11"/>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Model Architecture &amp; Scaling</a:t>
            </a:r>
          </a:p>
        </p:txBody>
      </p:sp>
      <p:graphicFrame>
        <p:nvGraphicFramePr>
          <p:cNvPr id="3" name="Table 2"/>
          <p:cNvGraphicFramePr>
            <a:graphicFrameLocks noGrp="1"/>
          </p:cNvGraphicFramePr>
          <p:nvPr/>
        </p:nvGraphicFramePr>
        <p:xfrm>
          <a:off x="914400" y="914400"/>
          <a:ext cx="10032720" cy="2514600"/>
        </p:xfrm>
        <a:graphic>
          <a:graphicData uri="http://schemas.openxmlformats.org/drawingml/2006/table">
            <a:tbl>
              <a:tblPr firstRow="1" bandRow="1">
                <a:tableStyleId>{5C22544A-7EE6-4342-B048-85BDC9FD1C3A}</a:tableStyleId>
              </a:tblPr>
              <a:tblGrid>
                <a:gridCol w="2508180"/>
                <a:gridCol w="2508180"/>
                <a:gridCol w="2508180"/>
                <a:gridCol w="2508180"/>
              </a:tblGrid>
              <a:tr h="502920">
                <a:tc>
                  <a:txBody>
                    <a:bodyPr/>
                    <a:lstStyle/>
                    <a:p>
                      <a:pPr>
                        <a:defRPr sz="1000" b="1">
                          <a:solidFill>
                            <a:srgbClr val="FFFFFF"/>
                          </a:solidFill>
                        </a:defRPr>
                      </a:pPr>
                      <a:r>
                        <a:t>Architecture</a:t>
                      </a:r>
                    </a:p>
                  </a:txBody>
                  <a:tcPr>
                    <a:solidFill>
                      <a:srgbClr val="3B82F6"/>
                    </a:solidFill>
                  </a:tcPr>
                </a:tc>
                <a:tc>
                  <a:txBody>
                    <a:bodyPr/>
                    <a:lstStyle/>
                    <a:p>
                      <a:pPr>
                        <a:defRPr sz="1000" b="1">
                          <a:solidFill>
                            <a:srgbClr val="FFFFFF"/>
                          </a:solidFill>
                        </a:defRPr>
                      </a:pPr>
                      <a:r>
                        <a:t>How It Works</a:t>
                      </a:r>
                    </a:p>
                  </a:txBody>
                  <a:tcPr>
                    <a:solidFill>
                      <a:srgbClr val="3B82F6"/>
                    </a:solidFill>
                  </a:tcPr>
                </a:tc>
                <a:tc>
                  <a:txBody>
                    <a:bodyPr/>
                    <a:lstStyle/>
                    <a:p>
                      <a:pPr>
                        <a:defRPr sz="1000" b="1">
                          <a:solidFill>
                            <a:srgbClr val="FFFFFF"/>
                          </a:solidFill>
                        </a:defRPr>
                      </a:pPr>
                      <a:r>
                        <a:t>Examples</a:t>
                      </a:r>
                    </a:p>
                  </a:txBody>
                  <a:tcPr>
                    <a:solidFill>
                      <a:srgbClr val="3B82F6"/>
                    </a:solidFill>
                  </a:tcPr>
                </a:tc>
                <a:tc>
                  <a:txBody>
                    <a:bodyPr/>
                    <a:lstStyle/>
                    <a:p>
                      <a:pPr>
                        <a:defRPr sz="1000" b="1">
                          <a:solidFill>
                            <a:srgbClr val="FFFFFF"/>
                          </a:solidFill>
                        </a:defRPr>
                      </a:pPr>
                      <a:r>
                        <a:t>Best For</a:t>
                      </a:r>
                    </a:p>
                  </a:txBody>
                  <a:tcPr>
                    <a:solidFill>
                      <a:srgbClr val="3B82F6"/>
                    </a:solidFill>
                  </a:tcPr>
                </a:tc>
              </a:tr>
              <a:tr h="502920">
                <a:tc>
                  <a:txBody>
                    <a:bodyPr/>
                    <a:lstStyle/>
                    <a:p>
                      <a:pPr>
                        <a:defRPr sz="1100">
                          <a:solidFill>
                            <a:srgbClr val="1A1A1A"/>
                          </a:solidFill>
                        </a:defRPr>
                      </a:pPr>
                      <a:r>
                        <a:t>Encoder-only</a:t>
                      </a:r>
                    </a:p>
                  </a:txBody>
                  <a:tcPr>
                    <a:solidFill>
                      <a:srgbClr val="E0DCD6"/>
                    </a:solidFill>
                  </a:tcPr>
                </a:tc>
                <a:tc>
                  <a:txBody>
                    <a:bodyPr/>
                    <a:lstStyle/>
                    <a:p>
                      <a:pPr>
                        <a:defRPr sz="1100">
                          <a:solidFill>
                            <a:srgbClr val="1A1A1A"/>
                          </a:solidFill>
                        </a:defRPr>
                      </a:pPr>
                      <a:r>
                        <a:t>Processes input bidirectionally</a:t>
                      </a:r>
                    </a:p>
                  </a:txBody>
                  <a:tcPr>
                    <a:solidFill>
                      <a:srgbClr val="E0DCD6"/>
                    </a:solidFill>
                  </a:tcPr>
                </a:tc>
                <a:tc>
                  <a:txBody>
                    <a:bodyPr/>
                    <a:lstStyle/>
                    <a:p>
                      <a:pPr>
                        <a:defRPr sz="1100">
                          <a:solidFill>
                            <a:srgbClr val="1A1A1A"/>
                          </a:solidFill>
                        </a:defRPr>
                      </a:pPr>
                      <a:r>
                        <a:t>BERT, RoBERTa</a:t>
                      </a:r>
                    </a:p>
                  </a:txBody>
                  <a:tcPr>
                    <a:solidFill>
                      <a:srgbClr val="E0DCD6"/>
                    </a:solidFill>
                  </a:tcPr>
                </a:tc>
                <a:tc>
                  <a:txBody>
                    <a:bodyPr/>
                    <a:lstStyle/>
                    <a:p>
                      <a:pPr>
                        <a:defRPr sz="1100">
                          <a:solidFill>
                            <a:srgbClr val="1A1A1A"/>
                          </a:solidFill>
                        </a:defRPr>
                      </a:pPr>
                      <a:r>
                        <a:t>Classification, NER, search</a:t>
                      </a:r>
                    </a:p>
                  </a:txBody>
                  <a:tcPr>
                    <a:solidFill>
                      <a:srgbClr val="E0DCD6"/>
                    </a:solidFill>
                  </a:tcPr>
                </a:tc>
              </a:tr>
              <a:tr h="502920">
                <a:tc>
                  <a:txBody>
                    <a:bodyPr/>
                    <a:lstStyle/>
                    <a:p>
                      <a:pPr>
                        <a:defRPr sz="1100">
                          <a:solidFill>
                            <a:srgbClr val="1A1A1A"/>
                          </a:solidFill>
                        </a:defRPr>
                      </a:pPr>
                      <a:r>
                        <a:t>Decoder-only</a:t>
                      </a:r>
                    </a:p>
                  </a:txBody>
                  <a:tcPr/>
                </a:tc>
                <a:tc>
                  <a:txBody>
                    <a:bodyPr/>
                    <a:lstStyle/>
                    <a:p>
                      <a:pPr>
                        <a:defRPr sz="1100">
                          <a:solidFill>
                            <a:srgbClr val="1A1A1A"/>
                          </a:solidFill>
                        </a:defRPr>
                      </a:pPr>
                      <a:r>
                        <a:t>Generates autoregressively (left-to-right)</a:t>
                      </a:r>
                    </a:p>
                  </a:txBody>
                  <a:tcPr/>
                </a:tc>
                <a:tc>
                  <a:txBody>
                    <a:bodyPr/>
                    <a:lstStyle/>
                    <a:p>
                      <a:pPr>
                        <a:defRPr sz="1100">
                          <a:solidFill>
                            <a:srgbClr val="1A1A1A"/>
                          </a:solidFill>
                        </a:defRPr>
                      </a:pPr>
                      <a:r>
                        <a:t>GPT, Claude, Llama, Gemini</a:t>
                      </a:r>
                    </a:p>
                  </a:txBody>
                  <a:tcPr/>
                </a:tc>
                <a:tc>
                  <a:txBody>
                    <a:bodyPr/>
                    <a:lstStyle/>
                    <a:p>
                      <a:pPr>
                        <a:defRPr sz="1100">
                          <a:solidFill>
                            <a:srgbClr val="1A1A1A"/>
                          </a:solidFill>
                        </a:defRPr>
                      </a:pPr>
                      <a:r>
                        <a:t>Text generation, chat, coding</a:t>
                      </a:r>
                    </a:p>
                  </a:txBody>
                  <a:tcPr/>
                </a:tc>
              </a:tr>
              <a:tr h="502920">
                <a:tc>
                  <a:txBody>
                    <a:bodyPr/>
                    <a:lstStyle/>
                    <a:p>
                      <a:pPr>
                        <a:defRPr sz="1100">
                          <a:solidFill>
                            <a:srgbClr val="1A1A1A"/>
                          </a:solidFill>
                        </a:defRPr>
                      </a:pPr>
                      <a:r>
                        <a:t>Encoder-Decoder</a:t>
                      </a:r>
                    </a:p>
                  </a:txBody>
                  <a:tcPr>
                    <a:solidFill>
                      <a:srgbClr val="E0DCD6"/>
                    </a:solidFill>
                  </a:tcPr>
                </a:tc>
                <a:tc>
                  <a:txBody>
                    <a:bodyPr/>
                    <a:lstStyle/>
                    <a:p>
                      <a:pPr>
                        <a:defRPr sz="1100">
                          <a:solidFill>
                            <a:srgbClr val="1A1A1A"/>
                          </a:solidFill>
                        </a:defRPr>
                      </a:pPr>
                      <a:r>
                        <a:t>Encode input, decode output</a:t>
                      </a:r>
                    </a:p>
                  </a:txBody>
                  <a:tcPr>
                    <a:solidFill>
                      <a:srgbClr val="E0DCD6"/>
                    </a:solidFill>
                  </a:tcPr>
                </a:tc>
                <a:tc>
                  <a:txBody>
                    <a:bodyPr/>
                    <a:lstStyle/>
                    <a:p>
                      <a:pPr>
                        <a:defRPr sz="1100">
                          <a:solidFill>
                            <a:srgbClr val="1A1A1A"/>
                          </a:solidFill>
                        </a:defRPr>
                      </a:pPr>
                      <a:r>
                        <a:t>T5, BART, mT5</a:t>
                      </a:r>
                    </a:p>
                  </a:txBody>
                  <a:tcPr>
                    <a:solidFill>
                      <a:srgbClr val="E0DCD6"/>
                    </a:solidFill>
                  </a:tcPr>
                </a:tc>
                <a:tc>
                  <a:txBody>
                    <a:bodyPr/>
                    <a:lstStyle/>
                    <a:p>
                      <a:pPr>
                        <a:defRPr sz="1100">
                          <a:solidFill>
                            <a:srgbClr val="1A1A1A"/>
                          </a:solidFill>
                        </a:defRPr>
                      </a:pPr>
                      <a:r>
                        <a:t>Translation, summarization</a:t>
                      </a:r>
                    </a:p>
                  </a:txBody>
                  <a:tcPr>
                    <a:solidFill>
                      <a:srgbClr val="E0DCD6"/>
                    </a:solidFill>
                  </a:tcPr>
                </a:tc>
              </a:tr>
              <a:tr h="502920">
                <a:tc>
                  <a:txBody>
                    <a:bodyPr/>
                    <a:lstStyle/>
                    <a:p>
                      <a:pPr>
                        <a:defRPr sz="1100">
                          <a:solidFill>
                            <a:srgbClr val="1A1A1A"/>
                          </a:solidFill>
                        </a:defRPr>
                      </a:pPr>
                      <a:r>
                        <a:t>MoE (Mixture of Experts)</a:t>
                      </a:r>
                    </a:p>
                  </a:txBody>
                  <a:tcPr/>
                </a:tc>
                <a:tc>
                  <a:txBody>
                    <a:bodyPr/>
                    <a:lstStyle/>
                    <a:p>
                      <a:pPr>
                        <a:defRPr sz="1100">
                          <a:solidFill>
                            <a:srgbClr val="1A1A1A"/>
                          </a:solidFill>
                        </a:defRPr>
                      </a:pPr>
                      <a:r>
                        <a:t>8+ expert sub-networks, router picks top 2</a:t>
                      </a:r>
                    </a:p>
                  </a:txBody>
                  <a:tcPr/>
                </a:tc>
                <a:tc>
                  <a:txBody>
                    <a:bodyPr/>
                    <a:lstStyle/>
                    <a:p>
                      <a:pPr>
                        <a:defRPr sz="1100">
                          <a:solidFill>
                            <a:srgbClr val="1A1A1A"/>
                          </a:solidFill>
                        </a:defRPr>
                      </a:pPr>
                      <a:r>
                        <a:t>Llama 4, DeepSeek V4</a:t>
                      </a:r>
                    </a:p>
                  </a:txBody>
                  <a:tcPr/>
                </a:tc>
                <a:tc>
                  <a:txBody>
                    <a:bodyPr/>
                    <a:lstStyle/>
                    <a:p>
                      <a:pPr>
                        <a:defRPr sz="1100">
                          <a:solidFill>
                            <a:srgbClr val="1A1A1A"/>
                          </a:solidFill>
                        </a:defRPr>
                      </a:pPr>
                      <a:r>
                        <a:t>Scale params without inflating compute</a:t>
                      </a:r>
                    </a:p>
                  </a:txBody>
                  <a:tcPr/>
                </a:tc>
              </a:tr>
            </a:tbl>
          </a:graphicData>
        </a:graphic>
      </p:graphicFrame>
      <p:sp>
        <p:nvSpPr>
          <p:cNvPr id="4" name="TextBox 3"/>
          <p:cNvSpPr txBox="1"/>
          <p:nvPr/>
        </p:nvSpPr>
        <p:spPr>
          <a:xfrm>
            <a:off x="914400" y="3291840"/>
            <a:ext cx="10332720" cy="2286000"/>
          </a:xfrm>
          <a:prstGeom prst="rect">
            <a:avLst/>
          </a:prstGeom>
          <a:noFill/>
        </p:spPr>
        <p:txBody>
          <a:bodyPr wrap="square">
            <a:spAutoFit/>
          </a:bodyPr>
          <a:lstStyle/>
          <a:p>
            <a:pPr algn="l">
              <a:defRPr sz="1200" b="0">
                <a:solidFill>
                  <a:srgbClr val="1A1A1A"/>
                </a:solidFill>
              </a:defRPr>
            </a:pPr>
            <a:r>
              <a:t>All major modern LLMs are decoder-only.</a:t>
            </a:r>
            <a:br/>
            <a:r>
              <a:t>MoE = more parameters without proportionally more compute. Llama 4 has 405B total but only ~40B active per token.</a:t>
            </a:r>
            <a:br/>
            <a:r>
              <a:t>Training cost: Frontier models = $10M-$100M+. Fine-tuning existing models = $100-$10K.</a:t>
            </a:r>
            <a:br/>
            <a:r>
              <a:t>The trend: models getting smaller (edge/SLM), faster, cheaper — while matching frontier quality on specific tasks.</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3</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Tools &amp; Practical Usage</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Chat, coding, content tools — and making build-vs-buy decisions</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The AI Tool Landscape</a:t>
            </a:r>
          </a:p>
        </p:txBody>
      </p:sp>
      <p:sp>
        <p:nvSpPr>
          <p:cNvPr id="3" name="Rounded Rectangle 2"/>
          <p:cNvSpPr/>
          <p:nvPr/>
        </p:nvSpPr>
        <p:spPr>
          <a:xfrm>
            <a:off x="914400" y="914400"/>
            <a:ext cx="5029200" cy="256032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4572000" cy="320040"/>
          </a:xfrm>
          <a:prstGeom prst="rect">
            <a:avLst/>
          </a:prstGeom>
          <a:noFill/>
        </p:spPr>
        <p:txBody>
          <a:bodyPr wrap="square">
            <a:spAutoFit/>
          </a:bodyPr>
          <a:lstStyle/>
          <a:p>
            <a:pPr algn="l">
              <a:defRPr sz="1400" b="1">
                <a:solidFill>
                  <a:srgbClr val="3B82F6"/>
                </a:solidFill>
              </a:defRPr>
            </a:pPr>
            <a:r>
              <a:t>Chat Interfaces</a:t>
            </a:r>
          </a:p>
        </p:txBody>
      </p:sp>
      <p:sp>
        <p:nvSpPr>
          <p:cNvPr id="5" name="TextBox 4"/>
          <p:cNvSpPr txBox="1"/>
          <p:nvPr/>
        </p:nvSpPr>
        <p:spPr>
          <a:xfrm>
            <a:off x="1097280" y="1371600"/>
            <a:ext cx="4572000" cy="2011680"/>
          </a:xfrm>
          <a:prstGeom prst="rect">
            <a:avLst/>
          </a:prstGeom>
          <a:noFill/>
        </p:spPr>
        <p:txBody>
          <a:bodyPr wrap="square">
            <a:spAutoFit/>
          </a:bodyPr>
          <a:lstStyle/>
          <a:p>
            <a:pPr algn="l">
              <a:defRPr sz="1000" b="0">
                <a:solidFill>
                  <a:srgbClr val="1A1A1A"/>
                </a:solidFill>
              </a:defRPr>
            </a:pPr>
            <a:r>
              <a:t>Claude.ai — Best writing, reasoning</a:t>
            </a:r>
            <a:br/>
            <a:r>
              <a:t>ChatGPT — All-purpose, web search</a:t>
            </a:r>
            <a:br/>
            <a:r>
              <a:t>Gemini — 1M context, research</a:t>
            </a:r>
            <a:br/>
            <a:r>
              <a:t>Perplexity — Cited sources</a:t>
            </a:r>
            <a:br/>
            <a:r>
              <a:t>DeepSeek — Free/$10, reasoning</a:t>
            </a:r>
            <a:br/>
            <a:r>
              <a:t>Grok 3 — Real-time X data</a:t>
            </a:r>
          </a:p>
        </p:txBody>
      </p:sp>
      <p:sp>
        <p:nvSpPr>
          <p:cNvPr id="6" name="Rounded Rectangle 5"/>
          <p:cNvSpPr/>
          <p:nvPr/>
        </p:nvSpPr>
        <p:spPr>
          <a:xfrm>
            <a:off x="6400800" y="914400"/>
            <a:ext cx="5029200" cy="256032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005840"/>
            <a:ext cx="4572000" cy="320040"/>
          </a:xfrm>
          <a:prstGeom prst="rect">
            <a:avLst/>
          </a:prstGeom>
          <a:noFill/>
        </p:spPr>
        <p:txBody>
          <a:bodyPr wrap="square">
            <a:spAutoFit/>
          </a:bodyPr>
          <a:lstStyle/>
          <a:p>
            <a:pPr algn="l">
              <a:defRPr sz="1400" b="1">
                <a:solidFill>
                  <a:srgbClr val="16A34A"/>
                </a:solidFill>
              </a:defRPr>
            </a:pPr>
            <a:r>
              <a:t>Coding Tools</a:t>
            </a:r>
          </a:p>
        </p:txBody>
      </p:sp>
      <p:sp>
        <p:nvSpPr>
          <p:cNvPr id="8" name="TextBox 7"/>
          <p:cNvSpPr txBox="1"/>
          <p:nvPr/>
        </p:nvSpPr>
        <p:spPr>
          <a:xfrm>
            <a:off x="6583680" y="1371600"/>
            <a:ext cx="4572000" cy="2011680"/>
          </a:xfrm>
          <a:prstGeom prst="rect">
            <a:avLst/>
          </a:prstGeom>
          <a:noFill/>
        </p:spPr>
        <p:txBody>
          <a:bodyPr wrap="square">
            <a:spAutoFit/>
          </a:bodyPr>
          <a:lstStyle/>
          <a:p>
            <a:pPr algn="l">
              <a:defRPr sz="1000" b="0">
                <a:solidFill>
                  <a:srgbClr val="1A1A1A"/>
                </a:solidFill>
              </a:defRPr>
            </a:pPr>
            <a:r>
              <a:t>Cursor — Best IDE ($20-40/mo)</a:t>
            </a:r>
            <a:br/>
            <a:r>
              <a:t>Claude Code — Best CLI (pay-per-token)</a:t>
            </a:r>
            <a:br/>
            <a:r>
              <a:t>GitHub Copilot — Best free tier</a:t>
            </a:r>
            <a:br/>
            <a:r>
              <a:t>Windsurf — Agentic workflows</a:t>
            </a:r>
            <a:br/>
            <a:r>
              <a:t>Aider — Git-native, open-source</a:t>
            </a:r>
          </a:p>
        </p:txBody>
      </p:sp>
      <p:sp>
        <p:nvSpPr>
          <p:cNvPr id="9" name="Rounded Rectangle 8"/>
          <p:cNvSpPr/>
          <p:nvPr/>
        </p:nvSpPr>
        <p:spPr>
          <a:xfrm>
            <a:off x="914400" y="3657600"/>
            <a:ext cx="5029200" cy="25603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749040"/>
            <a:ext cx="4572000" cy="320040"/>
          </a:xfrm>
          <a:prstGeom prst="rect">
            <a:avLst/>
          </a:prstGeom>
          <a:noFill/>
        </p:spPr>
        <p:txBody>
          <a:bodyPr wrap="square">
            <a:spAutoFit/>
          </a:bodyPr>
          <a:lstStyle/>
          <a:p>
            <a:pPr algn="l">
              <a:defRPr sz="1400" b="1">
                <a:solidFill>
                  <a:srgbClr val="D97706"/>
                </a:solidFill>
              </a:defRPr>
            </a:pPr>
            <a:r>
              <a:t>Content Creation</a:t>
            </a:r>
          </a:p>
        </p:txBody>
      </p:sp>
      <p:sp>
        <p:nvSpPr>
          <p:cNvPr id="11" name="TextBox 10"/>
          <p:cNvSpPr txBox="1"/>
          <p:nvPr/>
        </p:nvSpPr>
        <p:spPr>
          <a:xfrm>
            <a:off x="1097280" y="4114800"/>
            <a:ext cx="4572000" cy="2011680"/>
          </a:xfrm>
          <a:prstGeom prst="rect">
            <a:avLst/>
          </a:prstGeom>
          <a:noFill/>
        </p:spPr>
        <p:txBody>
          <a:bodyPr wrap="square">
            <a:spAutoFit/>
          </a:bodyPr>
          <a:lstStyle/>
          <a:p>
            <a:pPr algn="l">
              <a:defRPr sz="1000" b="0">
                <a:solidFill>
                  <a:srgbClr val="1A1A1A"/>
                </a:solidFill>
              </a:defRPr>
            </a:pPr>
            <a:r>
              <a:t>Midjourney — Photorealistic images</a:t>
            </a:r>
            <a:br/>
            <a:r>
              <a:t>Runway — Video editing/generation</a:t>
            </a:r>
            <a:br/>
            <a:r>
              <a:t>Suno — Music ($0-10/mo)</a:t>
            </a:r>
            <a:br/>
            <a:r>
              <a:t>ElevenLabs — Voice synthesis</a:t>
            </a:r>
            <a:br/>
            <a:r>
              <a:t>Sora — Cinematic video</a:t>
            </a:r>
            <a:br/>
            <a:r>
              <a:t>NotebookLM — Document analysis (free)</a:t>
            </a:r>
          </a:p>
        </p:txBody>
      </p:sp>
      <p:sp>
        <p:nvSpPr>
          <p:cNvPr id="12" name="Rounded Rectangle 11"/>
          <p:cNvSpPr/>
          <p:nvPr/>
        </p:nvSpPr>
        <p:spPr>
          <a:xfrm>
            <a:off x="6400800" y="3657600"/>
            <a:ext cx="5029200" cy="2560320"/>
          </a:xfrm>
          <a:prstGeom prst="roundRect">
            <a:avLst/>
          </a:prstGeom>
          <a:solidFill>
            <a:srgbClr val="FFFFFF"/>
          </a:solidFill>
          <a:ln w="25400">
            <a:solidFill>
              <a:srgbClr val="1A2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3749040"/>
            <a:ext cx="4572000" cy="320040"/>
          </a:xfrm>
          <a:prstGeom prst="rect">
            <a:avLst/>
          </a:prstGeom>
          <a:noFill/>
        </p:spPr>
        <p:txBody>
          <a:bodyPr wrap="square">
            <a:spAutoFit/>
          </a:bodyPr>
          <a:lstStyle/>
          <a:p>
            <a:pPr algn="l">
              <a:defRPr sz="1400" b="1">
                <a:solidFill>
                  <a:srgbClr val="1A2D4D"/>
                </a:solidFill>
              </a:defRPr>
            </a:pPr>
            <a:r>
              <a:t>Infrastructure</a:t>
            </a:r>
          </a:p>
        </p:txBody>
      </p:sp>
      <p:sp>
        <p:nvSpPr>
          <p:cNvPr id="14" name="TextBox 13"/>
          <p:cNvSpPr txBox="1"/>
          <p:nvPr/>
        </p:nvSpPr>
        <p:spPr>
          <a:xfrm>
            <a:off x="6583680" y="4114800"/>
            <a:ext cx="4572000" cy="2011680"/>
          </a:xfrm>
          <a:prstGeom prst="rect">
            <a:avLst/>
          </a:prstGeom>
          <a:noFill/>
        </p:spPr>
        <p:txBody>
          <a:bodyPr wrap="square">
            <a:spAutoFit/>
          </a:bodyPr>
          <a:lstStyle/>
          <a:p>
            <a:pPr algn="l">
              <a:defRPr sz="1000" b="0">
                <a:solidFill>
                  <a:srgbClr val="1A1A1A"/>
                </a:solidFill>
              </a:defRPr>
            </a:pPr>
            <a:r>
              <a:t>Anthropic / OpenAI / Google APIs</a:t>
            </a:r>
            <a:br/>
            <a:r>
              <a:t>Ollama + Llama (local, free)</a:t>
            </a:r>
            <a:br/>
            <a:r>
              <a:t>LangChain / CrewAI (open-source)</a:t>
            </a:r>
            <a:br/>
            <a:r>
              <a:t>Vector DBs: Pinecone, Chroma, pgvector</a:t>
            </a:r>
            <a:br/>
            <a:r>
              <a:t>Cloud: AWS Bedrock, Vertex AI, Azure AI</a:t>
            </a:r>
          </a:p>
        </p:txBody>
      </p:sp>
      <p:sp>
        <p:nvSpPr>
          <p:cNvPr id="15" name="TextBox 1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Build vs Buy Decision Framework</a:t>
            </a:r>
          </a:p>
        </p:txBody>
      </p:sp>
      <p:sp>
        <p:nvSpPr>
          <p:cNvPr id="3" name="Rounded Rectangle 2"/>
          <p:cNvSpPr/>
          <p:nvPr/>
        </p:nvSpPr>
        <p:spPr>
          <a:xfrm>
            <a:off x="4114800" y="1097280"/>
            <a:ext cx="3931920" cy="6400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Q: Is data privacy critical</a:t>
            </a:r>
            <a:br/>
            <a:r>
              <a:t>(healthcare, legal, finance)?</a:t>
            </a:r>
          </a:p>
        </p:txBody>
      </p:sp>
      <p:sp>
        <p:nvSpPr>
          <p:cNvPr id="4" name="Rounded Rectangle 3"/>
          <p:cNvSpPr/>
          <p:nvPr/>
        </p:nvSpPr>
        <p:spPr>
          <a:xfrm>
            <a:off x="914400" y="2194560"/>
            <a:ext cx="2743200" cy="6400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00">
                <a:solidFill>
                  <a:srgbClr val="FFFFFF"/>
                </a:solidFill>
              </a:defRPr>
            </a:pPr>
            <a:r>
              <a:t>YES</a:t>
            </a:r>
            <a:br/>
            <a:br/>
            <a:r>
              <a:t>Self-host open-weight model</a:t>
            </a:r>
            <a:br/>
            <a:r>
              <a:t>(Llama, Qwen, DeepSeek)</a:t>
            </a:r>
            <a:br/>
            <a:r>
              <a:t>Full data control</a:t>
            </a:r>
          </a:p>
        </p:txBody>
      </p:sp>
      <p:cxnSp>
        <p:nvCxnSpPr>
          <p:cNvPr id="5" name="Connector 4"/>
          <p:cNvCxnSpPr/>
          <p:nvPr/>
        </p:nvCxnSpPr>
        <p:spPr>
          <a:xfrm flipH="1">
            <a:off x="2286000" y="1737360"/>
            <a:ext cx="3794760" cy="45720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0" y="1554480"/>
            <a:ext cx="457200" cy="274320"/>
          </a:xfrm>
          <a:prstGeom prst="rect">
            <a:avLst/>
          </a:prstGeom>
          <a:noFill/>
        </p:spPr>
        <p:txBody>
          <a:bodyPr wrap="square">
            <a:spAutoFit/>
          </a:bodyPr>
          <a:lstStyle/>
          <a:p>
            <a:pPr algn="l">
              <a:defRPr sz="900" b="0">
                <a:solidFill>
                  <a:srgbClr val="16A34A"/>
                </a:solidFill>
              </a:defRPr>
            </a:pPr>
            <a:r>
              <a:t>Yes</a:t>
            </a:r>
          </a:p>
        </p:txBody>
      </p:sp>
      <p:sp>
        <p:nvSpPr>
          <p:cNvPr id="7" name="Rounded Rectangle 6"/>
          <p:cNvSpPr/>
          <p:nvPr/>
        </p:nvSpPr>
        <p:spPr>
          <a:xfrm>
            <a:off x="5029200" y="2194560"/>
            <a:ext cx="2743200" cy="6400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00">
                <a:solidFill>
                  <a:srgbClr val="FFFFFF"/>
                </a:solidFill>
              </a:defRPr>
            </a:pPr>
            <a:r>
              <a:t>NO</a:t>
            </a:r>
            <a:br/>
            <a:br/>
            <a:r>
              <a:t>Q: Usage &gt; 50M tokens/month?</a:t>
            </a:r>
          </a:p>
        </p:txBody>
      </p:sp>
      <p:cxnSp>
        <p:nvCxnSpPr>
          <p:cNvPr id="8" name="Connector 7"/>
          <p:cNvCxnSpPr/>
          <p:nvPr/>
        </p:nvCxnSpPr>
        <p:spPr>
          <a:xfrm flipH="1">
            <a:off x="5943600" y="1417320"/>
            <a:ext cx="2103120" cy="77724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0" y="1554480"/>
            <a:ext cx="457200" cy="274320"/>
          </a:xfrm>
          <a:prstGeom prst="rect">
            <a:avLst/>
          </a:prstGeom>
          <a:noFill/>
        </p:spPr>
        <p:txBody>
          <a:bodyPr wrap="square">
            <a:spAutoFit/>
          </a:bodyPr>
          <a:lstStyle/>
          <a:p>
            <a:pPr algn="l">
              <a:defRPr sz="900" b="0">
                <a:solidFill>
                  <a:srgbClr val="3B82F6"/>
                </a:solidFill>
              </a:defRPr>
            </a:pPr>
            <a:r>
              <a:t>No</a:t>
            </a:r>
          </a:p>
        </p:txBody>
      </p:sp>
      <p:sp>
        <p:nvSpPr>
          <p:cNvPr id="10" name="Rounded Rectangle 9"/>
          <p:cNvSpPr/>
          <p:nvPr/>
        </p:nvSpPr>
        <p:spPr>
          <a:xfrm>
            <a:off x="5029200" y="3291840"/>
            <a:ext cx="2743200" cy="6400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00">
                <a:solidFill>
                  <a:srgbClr val="FFFFFF"/>
                </a:solidFill>
              </a:defRPr>
            </a:pPr>
            <a:r>
              <a:t>YES</a:t>
            </a:r>
            <a:br/>
            <a:br/>
            <a:r>
              <a:t>Self-host with auto-scaling</a:t>
            </a:r>
            <a:br/>
            <a:r>
              <a:t>(vLLM + 70B INT8)</a:t>
            </a:r>
            <a:br/>
            <a:r>
              <a:t>Cost: $200-3K/mo</a:t>
            </a:r>
          </a:p>
        </p:txBody>
      </p:sp>
      <p:cxnSp>
        <p:nvCxnSpPr>
          <p:cNvPr id="11" name="Connector 10"/>
          <p:cNvCxnSpPr/>
          <p:nvPr/>
        </p:nvCxnSpPr>
        <p:spPr>
          <a:xfrm>
            <a:off x="6400800" y="2834640"/>
            <a:ext cx="0" cy="45720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760720" y="2651760"/>
            <a:ext cx="457200" cy="274320"/>
          </a:xfrm>
          <a:prstGeom prst="rect">
            <a:avLst/>
          </a:prstGeom>
          <a:noFill/>
        </p:spPr>
        <p:txBody>
          <a:bodyPr wrap="square">
            <a:spAutoFit/>
          </a:bodyPr>
          <a:lstStyle/>
          <a:p>
            <a:pPr algn="l">
              <a:defRPr sz="900" b="0">
                <a:solidFill>
                  <a:srgbClr val="16A34A"/>
                </a:solidFill>
              </a:defRPr>
            </a:pPr>
            <a:r>
              <a:t>Yes</a:t>
            </a:r>
          </a:p>
        </p:txBody>
      </p:sp>
      <p:sp>
        <p:nvSpPr>
          <p:cNvPr id="13" name="Rounded Rectangle 12"/>
          <p:cNvSpPr/>
          <p:nvPr/>
        </p:nvSpPr>
        <p:spPr>
          <a:xfrm>
            <a:off x="8412480" y="3291840"/>
            <a:ext cx="2743200" cy="6400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00">
                <a:solidFill>
                  <a:srgbClr val="FFFFFF"/>
                </a:solidFill>
              </a:defRPr>
            </a:pPr>
            <a:r>
              <a:t>NO (&lt; 50M)</a:t>
            </a:r>
            <a:br/>
            <a:br/>
            <a:r>
              <a:t>Use API (Claude/GPT/Gemini)</a:t>
            </a:r>
            <a:br/>
            <a:r>
              <a:t>Cheapest &amp; fastest option</a:t>
            </a:r>
            <a:br/>
            <a:r>
              <a:t>No infra needed</a:t>
            </a:r>
          </a:p>
        </p:txBody>
      </p:sp>
      <p:cxnSp>
        <p:nvCxnSpPr>
          <p:cNvPr id="14" name="Connector 13"/>
          <p:cNvCxnSpPr/>
          <p:nvPr/>
        </p:nvCxnSpPr>
        <p:spPr>
          <a:xfrm>
            <a:off x="7772400" y="2514600"/>
            <a:ext cx="1554480" cy="77724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46720" y="2651760"/>
            <a:ext cx="457200" cy="274320"/>
          </a:xfrm>
          <a:prstGeom prst="rect">
            <a:avLst/>
          </a:prstGeom>
          <a:noFill/>
        </p:spPr>
        <p:txBody>
          <a:bodyPr wrap="square">
            <a:spAutoFit/>
          </a:bodyPr>
          <a:lstStyle/>
          <a:p>
            <a:pPr algn="l">
              <a:defRPr sz="900" b="0">
                <a:solidFill>
                  <a:srgbClr val="3B82F6"/>
                </a:solidFill>
              </a:defRPr>
            </a:pPr>
            <a:r>
              <a:t>No</a:t>
            </a:r>
          </a:p>
        </p:txBody>
      </p:sp>
      <p:sp>
        <p:nvSpPr>
          <p:cNvPr id="16" name="Rounded Rectangle 15"/>
          <p:cNvSpPr/>
          <p:nvPr/>
        </p:nvSpPr>
        <p:spPr>
          <a:xfrm>
            <a:off x="914400" y="3657600"/>
            <a:ext cx="10332720" cy="256032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840480"/>
            <a:ext cx="9784080" cy="2194560"/>
          </a:xfrm>
          <a:prstGeom prst="rect">
            <a:avLst/>
          </a:prstGeom>
          <a:noFill/>
        </p:spPr>
        <p:txBody>
          <a:bodyPr wrap="square">
            <a:spAutoFit/>
          </a:bodyPr>
          <a:lstStyle/>
          <a:p>
            <a:pPr algn="l">
              <a:defRPr sz="1100" b="0">
                <a:solidFill>
                  <a:srgbClr val="3B82F6"/>
                </a:solidFill>
              </a:defRPr>
            </a:pPr>
            <a:r>
              <a:t>Rule of Thumb:</a:t>
            </a:r>
            <a:br/>
            <a:r>
              <a:t>• &lt; 10M tokens/month: API — fastest, cheapest, zero infrastructure</a:t>
            </a:r>
            <a:br/>
            <a:r>
              <a:t>• 10–50M tokens/month: Evaluate API vs fine-tuned open model (break-even analysis)</a:t>
            </a:r>
            <a:br/>
            <a:r>
              <a:t>• &gt; 50M tokens/month: Self-host saves significant money. Open-weight models (Llama, DeepSeek) are free</a:t>
            </a:r>
            <a:br/>
            <a:r>
              <a:t>• Data-sensitive: Self-host always. Privacy is the #1 reason companies self-host</a:t>
            </a:r>
            <a:br/>
            <a:br/>
            <a:r>
              <a:t>Example: 1M chatbot conversations/month with Claude API = ~$2.10 total. Engineering time matters more.</a:t>
            </a:r>
          </a:p>
        </p:txBody>
      </p:sp>
      <p:sp>
        <p:nvSpPr>
          <p:cNvPr id="18" name="TextBox 17"/>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API Pricing Comparison (May 2026)</a:t>
            </a:r>
          </a:p>
        </p:txBody>
      </p:sp>
      <p:graphicFrame>
        <p:nvGraphicFramePr>
          <p:cNvPr id="3" name="Chart 2"/>
          <p:cNvGraphicFramePr>
            <a:graphicFrameLocks noGrp="1"/>
          </p:cNvGraphicFramePr>
          <p:nvPr/>
        </p:nvGraphicFramePr>
        <p:xfrm>
          <a:off x="914400" y="914400"/>
          <a:ext cx="6400800" cy="3657600"/>
        </p:xfrm>
        <a:graphic>
          <a:graphicData uri="http://schemas.openxmlformats.org/drawingml/2006/chart">
            <c:chart xmlns:c="http://schemas.openxmlformats.org/drawingml/2006/chart" r:id="rId2"/>
          </a:graphicData>
        </a:graphic>
      </p:graphicFrame>
      <p:sp>
        <p:nvSpPr>
          <p:cNvPr id="4" name="TextBox 3"/>
          <p:cNvSpPr txBox="1"/>
          <p:nvPr/>
        </p:nvSpPr>
        <p:spPr>
          <a:xfrm>
            <a:off x="7772400" y="914400"/>
            <a:ext cx="3657600" cy="4114800"/>
          </a:xfrm>
          <a:prstGeom prst="rect">
            <a:avLst/>
          </a:prstGeom>
          <a:noFill/>
        </p:spPr>
        <p:txBody>
          <a:bodyPr wrap="square">
            <a:spAutoFit/>
          </a:bodyPr>
          <a:lstStyle/>
          <a:p>
            <a:pPr algn="l">
              <a:defRPr sz="1200" b="0">
                <a:solidFill>
                  <a:srgbClr val="1A1A1A"/>
                </a:solidFill>
              </a:defRPr>
            </a:pPr>
            <a:r>
              <a:t>Key Pricing Insights</a:t>
            </a:r>
            <a:br/>
            <a:br/>
            <a:r>
              <a:t>● Claude Opus = best quality,</a:t>
            </a:r>
            <a:br/>
            <a:r>
              <a:t>   most expensive (50x DeepSeek)</a:t>
            </a:r>
            <a:br/>
            <a:br/>
            <a:r>
              <a:t>● GPT-5.5 &amp; Gemini = great value</a:t>
            </a:r>
            <a:br/>
            <a:r>
              <a:t>   at $2/1M input tokens</a:t>
            </a:r>
            <a:br/>
            <a:br/>
            <a:r>
              <a:t>● DeepSeek V4 = 10-50x cheaper</a:t>
            </a:r>
            <a:br/>
            <a:r>
              <a:t>   than leading closed models</a:t>
            </a:r>
            <a:br/>
            <a:br/>
            <a:r>
              <a:t>● Llama 4 = free to self-host</a:t>
            </a:r>
            <a:br/>
            <a:r>
              <a:t>   (you pay for GPU servers)</a:t>
            </a:r>
            <a:br/>
            <a:br/>
            <a:r>
              <a:t>● For most apps, model cost is</a:t>
            </a:r>
            <a:br/>
            <a:r>
              <a:t>   NEGLIGIBLE vs engineering time</a:t>
            </a:r>
          </a:p>
        </p:txBody>
      </p:sp>
      <p:sp>
        <p:nvSpPr>
          <p:cNvPr id="5" name="Rounded Rectangle 4"/>
          <p:cNvSpPr/>
          <p:nvPr/>
        </p:nvSpPr>
        <p:spPr>
          <a:xfrm>
            <a:off x="914400" y="4937760"/>
            <a:ext cx="10332720" cy="118872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5029200"/>
            <a:ext cx="9784080" cy="914400"/>
          </a:xfrm>
          <a:prstGeom prst="rect">
            <a:avLst/>
          </a:prstGeom>
          <a:noFill/>
        </p:spPr>
        <p:txBody>
          <a:bodyPr wrap="square">
            <a:spAutoFit/>
          </a:bodyPr>
          <a:lstStyle/>
          <a:p>
            <a:pPr algn="l">
              <a:defRPr sz="1100" b="0">
                <a:solidFill>
                  <a:srgbClr val="16A34A"/>
                </a:solidFill>
              </a:defRPr>
            </a:pPr>
            <a:r>
              <a:t>Example: 100K input + 20K output with Claude Sonnet = $0.33/request. With DeepSeek = $0.014/request (23x cheaper).</a:t>
            </a:r>
            <a:br/>
            <a:r>
              <a:t>200K conversations/month with Sonnet = $66. Choose your model based on quality needs, not cost.</a:t>
            </a:r>
          </a:p>
        </p:txBody>
      </p:sp>
      <p:sp>
        <p:nvSpPr>
          <p:cNvPr id="7" name="TextBox 6"/>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Tool Pairing Strategies &amp; What You Can Build</a:t>
            </a:r>
          </a:p>
        </p:txBody>
      </p:sp>
      <p:sp>
        <p:nvSpPr>
          <p:cNvPr id="3" name="TextBox 2"/>
          <p:cNvSpPr txBox="1"/>
          <p:nvPr/>
        </p:nvSpPr>
        <p:spPr>
          <a:xfrm>
            <a:off x="914400" y="822960"/>
            <a:ext cx="5029200" cy="365760"/>
          </a:xfrm>
          <a:prstGeom prst="rect">
            <a:avLst/>
          </a:prstGeom>
          <a:noFill/>
        </p:spPr>
        <p:txBody>
          <a:bodyPr wrap="square">
            <a:spAutoFit/>
          </a:bodyPr>
          <a:lstStyle/>
          <a:p>
            <a:pPr algn="l">
              <a:defRPr sz="1600" b="1">
                <a:solidFill>
                  <a:srgbClr val="3B82F6"/>
                </a:solidFill>
              </a:defRPr>
            </a:pPr>
            <a:r>
              <a:t>Recommended Tool Stack</a:t>
            </a:r>
          </a:p>
        </p:txBody>
      </p:sp>
      <p:sp>
        <p:nvSpPr>
          <p:cNvPr id="4" name="Rounded Rectangle 3"/>
          <p:cNvSpPr/>
          <p:nvPr/>
        </p:nvSpPr>
        <p:spPr>
          <a:xfrm>
            <a:off x="914400" y="1463040"/>
            <a:ext cx="5029200" cy="118872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08760"/>
            <a:ext cx="4572000" cy="274320"/>
          </a:xfrm>
          <a:prstGeom prst="rect">
            <a:avLst/>
          </a:prstGeom>
          <a:noFill/>
        </p:spPr>
        <p:txBody>
          <a:bodyPr wrap="square">
            <a:spAutoFit/>
          </a:bodyPr>
          <a:lstStyle/>
          <a:p>
            <a:pPr algn="l">
              <a:defRPr sz="1300" b="1">
                <a:solidFill>
                  <a:srgbClr val="16A34A"/>
                </a:solidFill>
              </a:defRPr>
            </a:pPr>
            <a:r>
              <a:t>Daily ($40-60/mo)</a:t>
            </a:r>
          </a:p>
        </p:txBody>
      </p:sp>
      <p:sp>
        <p:nvSpPr>
          <p:cNvPr id="6" name="TextBox 5"/>
          <p:cNvSpPr txBox="1"/>
          <p:nvPr/>
        </p:nvSpPr>
        <p:spPr>
          <a:xfrm>
            <a:off x="1097280" y="1828800"/>
            <a:ext cx="4572000" cy="731520"/>
          </a:xfrm>
          <a:prstGeom prst="rect">
            <a:avLst/>
          </a:prstGeom>
          <a:noFill/>
        </p:spPr>
        <p:txBody>
          <a:bodyPr wrap="square">
            <a:spAutoFit/>
          </a:bodyPr>
          <a:lstStyle/>
          <a:p>
            <a:pPr algn="l">
              <a:defRPr sz="1000" b="0">
                <a:solidFill>
                  <a:srgbClr val="1A1A1A"/>
                </a:solidFill>
              </a:defRPr>
            </a:pPr>
            <a:r>
              <a:t>Chat: Claude.ai + ChatGPT</a:t>
            </a:r>
            <a:br/>
            <a:r>
              <a:t>Code: Cursor + Claude Code</a:t>
            </a:r>
            <a:br/>
            <a:r>
              <a:t>Research: Gemini + Perplexity</a:t>
            </a:r>
          </a:p>
        </p:txBody>
      </p:sp>
      <p:sp>
        <p:nvSpPr>
          <p:cNvPr id="7" name="Rounded Rectangle 6"/>
          <p:cNvSpPr/>
          <p:nvPr/>
        </p:nvSpPr>
        <p:spPr>
          <a:xfrm>
            <a:off x="914400" y="2926080"/>
            <a:ext cx="5029200" cy="118872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971800"/>
            <a:ext cx="4572000" cy="274320"/>
          </a:xfrm>
          <a:prstGeom prst="rect">
            <a:avLst/>
          </a:prstGeom>
          <a:noFill/>
        </p:spPr>
        <p:txBody>
          <a:bodyPr wrap="square">
            <a:spAutoFit/>
          </a:bodyPr>
          <a:lstStyle/>
          <a:p>
            <a:pPr algn="l">
              <a:defRPr sz="1300" b="1">
                <a:solidFill>
                  <a:srgbClr val="3B82F6"/>
                </a:solidFill>
              </a:defRPr>
            </a:pPr>
            <a:r>
              <a:t>Budget ($20-40/mo)</a:t>
            </a:r>
          </a:p>
        </p:txBody>
      </p:sp>
      <p:sp>
        <p:nvSpPr>
          <p:cNvPr id="9" name="TextBox 8"/>
          <p:cNvSpPr txBox="1"/>
          <p:nvPr/>
        </p:nvSpPr>
        <p:spPr>
          <a:xfrm>
            <a:off x="1097280" y="3291840"/>
            <a:ext cx="4572000" cy="731520"/>
          </a:xfrm>
          <a:prstGeom prst="rect">
            <a:avLst/>
          </a:prstGeom>
          <a:noFill/>
        </p:spPr>
        <p:txBody>
          <a:bodyPr wrap="square">
            <a:spAutoFit/>
          </a:bodyPr>
          <a:lstStyle/>
          <a:p>
            <a:pPr algn="l">
              <a:defRPr sz="1000" b="0">
                <a:solidFill>
                  <a:srgbClr val="1A1A1A"/>
                </a:solidFill>
              </a:defRPr>
            </a:pPr>
            <a:r>
              <a:t>Free tiers of all major tools</a:t>
            </a:r>
            <a:br/>
            <a:r>
              <a:t>Add Cursor ($20/mo)</a:t>
            </a:r>
            <a:br/>
            <a:r>
              <a:t>Add one Pro plan ($20/mo)</a:t>
            </a:r>
          </a:p>
        </p:txBody>
      </p:sp>
      <p:sp>
        <p:nvSpPr>
          <p:cNvPr id="10" name="Rounded Rectangle 9"/>
          <p:cNvSpPr/>
          <p:nvPr/>
        </p:nvSpPr>
        <p:spPr>
          <a:xfrm>
            <a:off x="914400" y="4389120"/>
            <a:ext cx="5029200" cy="1188720"/>
          </a:xfrm>
          <a:prstGeom prst="roundRect">
            <a:avLst/>
          </a:prstGeom>
          <a:solidFill>
            <a:srgbClr val="FFFFFF"/>
          </a:solidFill>
          <a:ln w="25400">
            <a:solidFill>
              <a:srgbClr val="1A2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434840"/>
            <a:ext cx="4572000" cy="274320"/>
          </a:xfrm>
          <a:prstGeom prst="rect">
            <a:avLst/>
          </a:prstGeom>
          <a:noFill/>
        </p:spPr>
        <p:txBody>
          <a:bodyPr wrap="square">
            <a:spAutoFit/>
          </a:bodyPr>
          <a:lstStyle/>
          <a:p>
            <a:pPr algn="l">
              <a:defRPr sz="1300" b="1">
                <a:solidFill>
                  <a:srgbClr val="1A2D4D"/>
                </a:solidFill>
              </a:defRPr>
            </a:pPr>
            <a:r>
              <a:t>Enterprise (per seat)</a:t>
            </a:r>
          </a:p>
        </p:txBody>
      </p:sp>
      <p:sp>
        <p:nvSpPr>
          <p:cNvPr id="12" name="TextBox 11"/>
          <p:cNvSpPr txBox="1"/>
          <p:nvPr/>
        </p:nvSpPr>
        <p:spPr>
          <a:xfrm>
            <a:off x="1097280" y="4754880"/>
            <a:ext cx="4572000" cy="731520"/>
          </a:xfrm>
          <a:prstGeom prst="rect">
            <a:avLst/>
          </a:prstGeom>
          <a:noFill/>
        </p:spPr>
        <p:txBody>
          <a:bodyPr wrap="square">
            <a:spAutoFit/>
          </a:bodyPr>
          <a:lstStyle/>
          <a:p>
            <a:pPr algn="l">
              <a:defRPr sz="1000" b="0">
                <a:solidFill>
                  <a:srgbClr val="1A1A1A"/>
                </a:solidFill>
              </a:defRPr>
            </a:pPr>
            <a:r>
              <a:t>Claude Team / ChatGPT Team</a:t>
            </a:r>
            <a:br/>
            <a:r>
              <a:t>Cursor Business / Copilot Enterprise</a:t>
            </a:r>
            <a:br/>
            <a:r>
              <a:t>Midjourney Pro + n8n workflow</a:t>
            </a:r>
          </a:p>
        </p:txBody>
      </p:sp>
      <p:sp>
        <p:nvSpPr>
          <p:cNvPr id="13" name="TextBox 12"/>
          <p:cNvSpPr txBox="1"/>
          <p:nvPr/>
        </p:nvSpPr>
        <p:spPr>
          <a:xfrm>
            <a:off x="6583680" y="822960"/>
            <a:ext cx="5029200" cy="365760"/>
          </a:xfrm>
          <a:prstGeom prst="rect">
            <a:avLst/>
          </a:prstGeom>
          <a:noFill/>
        </p:spPr>
        <p:txBody>
          <a:bodyPr wrap="square">
            <a:spAutoFit/>
          </a:bodyPr>
          <a:lstStyle/>
          <a:p>
            <a:pPr algn="l">
              <a:defRPr sz="1600" b="1">
                <a:solidFill>
                  <a:srgbClr val="3B82F6"/>
                </a:solidFill>
              </a:defRPr>
            </a:pPr>
            <a:r>
              <a:t>What You Can Build Today</a:t>
            </a:r>
          </a:p>
        </p:txBody>
      </p:sp>
      <p:sp>
        <p:nvSpPr>
          <p:cNvPr id="14" name="Rounded Rectangle 13"/>
          <p:cNvSpPr/>
          <p:nvPr/>
        </p:nvSpPr>
        <p:spPr>
          <a:xfrm>
            <a:off x="6583680" y="1463040"/>
            <a:ext cx="5029200" cy="5486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1508760"/>
            <a:ext cx="457200" cy="457200"/>
          </a:xfrm>
          <a:prstGeom prst="rect">
            <a:avLst/>
          </a:prstGeom>
          <a:noFill/>
        </p:spPr>
        <p:txBody>
          <a:bodyPr wrap="square">
            <a:spAutoFit/>
          </a:bodyPr>
          <a:lstStyle/>
          <a:p>
            <a:pPr algn="ctr">
              <a:defRPr sz="1600" b="0">
                <a:solidFill>
                  <a:srgbClr val="1A1A1A"/>
                </a:solidFill>
              </a:defRPr>
            </a:pPr>
            <a:r>
              <a:t>💬</a:t>
            </a:r>
          </a:p>
        </p:txBody>
      </p:sp>
      <p:sp>
        <p:nvSpPr>
          <p:cNvPr id="16" name="TextBox 15"/>
          <p:cNvSpPr txBox="1"/>
          <p:nvPr/>
        </p:nvSpPr>
        <p:spPr>
          <a:xfrm>
            <a:off x="7223760" y="1481328"/>
            <a:ext cx="1371600" cy="274320"/>
          </a:xfrm>
          <a:prstGeom prst="rect">
            <a:avLst/>
          </a:prstGeom>
          <a:noFill/>
        </p:spPr>
        <p:txBody>
          <a:bodyPr wrap="square">
            <a:spAutoFit/>
          </a:bodyPr>
          <a:lstStyle/>
          <a:p>
            <a:pPr algn="l">
              <a:defRPr sz="1100" b="1">
                <a:solidFill>
                  <a:srgbClr val="3B82F6"/>
                </a:solidFill>
              </a:defRPr>
            </a:pPr>
            <a:r>
              <a:t>RAG Chatbot</a:t>
            </a:r>
          </a:p>
        </p:txBody>
      </p:sp>
      <p:sp>
        <p:nvSpPr>
          <p:cNvPr id="17" name="TextBox 16"/>
          <p:cNvSpPr txBox="1"/>
          <p:nvPr/>
        </p:nvSpPr>
        <p:spPr>
          <a:xfrm>
            <a:off x="7223760" y="1737360"/>
            <a:ext cx="4206240" cy="274320"/>
          </a:xfrm>
          <a:prstGeom prst="rect">
            <a:avLst/>
          </a:prstGeom>
          <a:noFill/>
        </p:spPr>
        <p:txBody>
          <a:bodyPr wrap="square">
            <a:spAutoFit/>
          </a:bodyPr>
          <a:lstStyle/>
          <a:p>
            <a:pPr algn="l">
              <a:defRPr sz="900" b="0">
                <a:solidFill>
                  <a:srgbClr val="888880"/>
                </a:solidFill>
              </a:defRPr>
            </a:pPr>
            <a:r>
              <a:t>Q&amp;A on your docs, knowledge base. Hours to build, deployed on day 1.</a:t>
            </a:r>
          </a:p>
        </p:txBody>
      </p:sp>
      <p:sp>
        <p:nvSpPr>
          <p:cNvPr id="18" name="Rounded Rectangle 17"/>
          <p:cNvSpPr/>
          <p:nvPr/>
        </p:nvSpPr>
        <p:spPr>
          <a:xfrm>
            <a:off x="6583680" y="2148840"/>
            <a:ext cx="5029200" cy="5486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2194560"/>
            <a:ext cx="457200" cy="457200"/>
          </a:xfrm>
          <a:prstGeom prst="rect">
            <a:avLst/>
          </a:prstGeom>
          <a:noFill/>
        </p:spPr>
        <p:txBody>
          <a:bodyPr wrap="square">
            <a:spAutoFit/>
          </a:bodyPr>
          <a:lstStyle/>
          <a:p>
            <a:pPr algn="ctr">
              <a:defRPr sz="1600" b="0">
                <a:solidFill>
                  <a:srgbClr val="1A1A1A"/>
                </a:solidFill>
              </a:defRPr>
            </a:pPr>
            <a:r>
              <a:t>📝</a:t>
            </a:r>
          </a:p>
        </p:txBody>
      </p:sp>
      <p:sp>
        <p:nvSpPr>
          <p:cNvPr id="20" name="TextBox 19"/>
          <p:cNvSpPr txBox="1"/>
          <p:nvPr/>
        </p:nvSpPr>
        <p:spPr>
          <a:xfrm>
            <a:off x="7223760" y="2167128"/>
            <a:ext cx="1371600" cy="274320"/>
          </a:xfrm>
          <a:prstGeom prst="rect">
            <a:avLst/>
          </a:prstGeom>
          <a:noFill/>
        </p:spPr>
        <p:txBody>
          <a:bodyPr wrap="square">
            <a:spAutoFit/>
          </a:bodyPr>
          <a:lstStyle/>
          <a:p>
            <a:pPr algn="l">
              <a:defRPr sz="1100" b="1">
                <a:solidFill>
                  <a:srgbClr val="3B82F6"/>
                </a:solidFill>
              </a:defRPr>
            </a:pPr>
            <a:r>
              <a:t>Content Pipeline</a:t>
            </a:r>
          </a:p>
        </p:txBody>
      </p:sp>
      <p:sp>
        <p:nvSpPr>
          <p:cNvPr id="21" name="TextBox 20"/>
          <p:cNvSpPr txBox="1"/>
          <p:nvPr/>
        </p:nvSpPr>
        <p:spPr>
          <a:xfrm>
            <a:off x="7223760" y="2423160"/>
            <a:ext cx="4206240" cy="274320"/>
          </a:xfrm>
          <a:prstGeom prst="rect">
            <a:avLst/>
          </a:prstGeom>
          <a:noFill/>
        </p:spPr>
        <p:txBody>
          <a:bodyPr wrap="square">
            <a:spAutoFit/>
          </a:bodyPr>
          <a:lstStyle/>
          <a:p>
            <a:pPr algn="l">
              <a:defRPr sz="900" b="0">
                <a:solidFill>
                  <a:srgbClr val="888880"/>
                </a:solidFill>
              </a:defRPr>
            </a:pPr>
            <a:r>
              <a:t>Auto-generate blog posts, reports, summaries. 10x content output.</a:t>
            </a:r>
          </a:p>
        </p:txBody>
      </p:sp>
      <p:sp>
        <p:nvSpPr>
          <p:cNvPr id="22" name="Rounded Rectangle 21"/>
          <p:cNvSpPr/>
          <p:nvPr/>
        </p:nvSpPr>
        <p:spPr>
          <a:xfrm>
            <a:off x="6583680" y="2834640"/>
            <a:ext cx="5029200" cy="5486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0" y="2880360"/>
            <a:ext cx="457200" cy="457200"/>
          </a:xfrm>
          <a:prstGeom prst="rect">
            <a:avLst/>
          </a:prstGeom>
          <a:noFill/>
        </p:spPr>
        <p:txBody>
          <a:bodyPr wrap="square">
            <a:spAutoFit/>
          </a:bodyPr>
          <a:lstStyle/>
          <a:p>
            <a:pPr algn="ctr">
              <a:defRPr sz="1600" b="0">
                <a:solidFill>
                  <a:srgbClr val="1A1A1A"/>
                </a:solidFill>
              </a:defRPr>
            </a:pPr>
            <a:r>
              <a:t>🔍</a:t>
            </a:r>
          </a:p>
        </p:txBody>
      </p:sp>
      <p:sp>
        <p:nvSpPr>
          <p:cNvPr id="24" name="TextBox 23"/>
          <p:cNvSpPr txBox="1"/>
          <p:nvPr/>
        </p:nvSpPr>
        <p:spPr>
          <a:xfrm>
            <a:off x="7223760" y="2852928"/>
            <a:ext cx="1371600" cy="274320"/>
          </a:xfrm>
          <a:prstGeom prst="rect">
            <a:avLst/>
          </a:prstGeom>
          <a:noFill/>
        </p:spPr>
        <p:txBody>
          <a:bodyPr wrap="square">
            <a:spAutoFit/>
          </a:bodyPr>
          <a:lstStyle/>
          <a:p>
            <a:pPr algn="l">
              <a:defRPr sz="1100" b="1">
                <a:solidFill>
                  <a:srgbClr val="3B82F6"/>
                </a:solidFill>
              </a:defRPr>
            </a:pPr>
            <a:r>
              <a:t>Data Analysis</a:t>
            </a:r>
          </a:p>
        </p:txBody>
      </p:sp>
      <p:sp>
        <p:nvSpPr>
          <p:cNvPr id="25" name="TextBox 24"/>
          <p:cNvSpPr txBox="1"/>
          <p:nvPr/>
        </p:nvSpPr>
        <p:spPr>
          <a:xfrm>
            <a:off x="7223760" y="3108960"/>
            <a:ext cx="4206240" cy="274320"/>
          </a:xfrm>
          <a:prstGeom prst="rect">
            <a:avLst/>
          </a:prstGeom>
          <a:noFill/>
        </p:spPr>
        <p:txBody>
          <a:bodyPr wrap="square">
            <a:spAutoFit/>
          </a:bodyPr>
          <a:lstStyle/>
          <a:p>
            <a:pPr algn="l">
              <a:defRPr sz="900" b="0">
                <a:solidFill>
                  <a:srgbClr val="888880"/>
                </a:solidFill>
              </a:defRPr>
            </a:pPr>
            <a:r>
              <a:t>Natural language SQL queries. Non-technical teams can explore data.</a:t>
            </a:r>
          </a:p>
        </p:txBody>
      </p:sp>
      <p:sp>
        <p:nvSpPr>
          <p:cNvPr id="26" name="Rounded Rectangle 25"/>
          <p:cNvSpPr/>
          <p:nvPr/>
        </p:nvSpPr>
        <p:spPr>
          <a:xfrm>
            <a:off x="6583680" y="3520440"/>
            <a:ext cx="5029200" cy="5486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3566160"/>
            <a:ext cx="457200" cy="457200"/>
          </a:xfrm>
          <a:prstGeom prst="rect">
            <a:avLst/>
          </a:prstGeom>
          <a:noFill/>
        </p:spPr>
        <p:txBody>
          <a:bodyPr wrap="square">
            <a:spAutoFit/>
          </a:bodyPr>
          <a:lstStyle/>
          <a:p>
            <a:pPr algn="ctr">
              <a:defRPr sz="1600" b="0">
                <a:solidFill>
                  <a:srgbClr val="1A1A1A"/>
                </a:solidFill>
              </a:defRPr>
            </a:pPr>
            <a:r>
              <a:t>📦</a:t>
            </a:r>
          </a:p>
        </p:txBody>
      </p:sp>
      <p:sp>
        <p:nvSpPr>
          <p:cNvPr id="28" name="TextBox 27"/>
          <p:cNvSpPr txBox="1"/>
          <p:nvPr/>
        </p:nvSpPr>
        <p:spPr>
          <a:xfrm>
            <a:off x="7223760" y="3538728"/>
            <a:ext cx="1371600" cy="274320"/>
          </a:xfrm>
          <a:prstGeom prst="rect">
            <a:avLst/>
          </a:prstGeom>
          <a:noFill/>
        </p:spPr>
        <p:txBody>
          <a:bodyPr wrap="square">
            <a:spAutoFit/>
          </a:bodyPr>
          <a:lstStyle/>
          <a:p>
            <a:pPr algn="l">
              <a:defRPr sz="1100" b="1">
                <a:solidFill>
                  <a:srgbClr val="3B82F6"/>
                </a:solidFill>
              </a:defRPr>
            </a:pPr>
            <a:r>
              <a:t>Customer Support</a:t>
            </a:r>
          </a:p>
        </p:txBody>
      </p:sp>
      <p:sp>
        <p:nvSpPr>
          <p:cNvPr id="29" name="TextBox 28"/>
          <p:cNvSpPr txBox="1"/>
          <p:nvPr/>
        </p:nvSpPr>
        <p:spPr>
          <a:xfrm>
            <a:off x="7223760" y="3794760"/>
            <a:ext cx="4206240" cy="274320"/>
          </a:xfrm>
          <a:prstGeom prst="rect">
            <a:avLst/>
          </a:prstGeom>
          <a:noFill/>
        </p:spPr>
        <p:txBody>
          <a:bodyPr wrap="square">
            <a:spAutoFit/>
          </a:bodyPr>
          <a:lstStyle/>
          <a:p>
            <a:pPr algn="l">
              <a:defRPr sz="900" b="0">
                <a:solidFill>
                  <a:srgbClr val="888880"/>
                </a:solidFill>
              </a:defRPr>
            </a:pPr>
            <a:r>
              <a:t>Auto-answer 60-80% of tickets. Escalate complex ones to humans.</a:t>
            </a:r>
          </a:p>
        </p:txBody>
      </p:sp>
      <p:sp>
        <p:nvSpPr>
          <p:cNvPr id="30" name="Rounded Rectangle 29"/>
          <p:cNvSpPr/>
          <p:nvPr/>
        </p:nvSpPr>
        <p:spPr>
          <a:xfrm>
            <a:off x="6583680" y="4206240"/>
            <a:ext cx="5029200" cy="5486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4251960"/>
            <a:ext cx="457200" cy="457200"/>
          </a:xfrm>
          <a:prstGeom prst="rect">
            <a:avLst/>
          </a:prstGeom>
          <a:noFill/>
        </p:spPr>
        <p:txBody>
          <a:bodyPr wrap="square">
            <a:spAutoFit/>
          </a:bodyPr>
          <a:lstStyle/>
          <a:p>
            <a:pPr algn="ctr">
              <a:defRPr sz="1600" b="0">
                <a:solidFill>
                  <a:srgbClr val="1A1A1A"/>
                </a:solidFill>
              </a:defRPr>
            </a:pPr>
            <a:r>
              <a:t>📊</a:t>
            </a:r>
          </a:p>
        </p:txBody>
      </p:sp>
      <p:sp>
        <p:nvSpPr>
          <p:cNvPr id="32" name="TextBox 31"/>
          <p:cNvSpPr txBox="1"/>
          <p:nvPr/>
        </p:nvSpPr>
        <p:spPr>
          <a:xfrm>
            <a:off x="7223760" y="4224528"/>
            <a:ext cx="1371600" cy="274320"/>
          </a:xfrm>
          <a:prstGeom prst="rect">
            <a:avLst/>
          </a:prstGeom>
          <a:noFill/>
        </p:spPr>
        <p:txBody>
          <a:bodyPr wrap="square">
            <a:spAutoFit/>
          </a:bodyPr>
          <a:lstStyle/>
          <a:p>
            <a:pPr algn="l">
              <a:defRPr sz="1100" b="1">
                <a:solidFill>
                  <a:srgbClr val="3B82F6"/>
                </a:solidFill>
              </a:defRPr>
            </a:pPr>
            <a:r>
              <a:t>Research Assistant</a:t>
            </a:r>
          </a:p>
        </p:txBody>
      </p:sp>
      <p:sp>
        <p:nvSpPr>
          <p:cNvPr id="33" name="TextBox 32"/>
          <p:cNvSpPr txBox="1"/>
          <p:nvPr/>
        </p:nvSpPr>
        <p:spPr>
          <a:xfrm>
            <a:off x="7223760" y="4480560"/>
            <a:ext cx="4206240" cy="274320"/>
          </a:xfrm>
          <a:prstGeom prst="rect">
            <a:avLst/>
          </a:prstGeom>
          <a:noFill/>
        </p:spPr>
        <p:txBody>
          <a:bodyPr wrap="square">
            <a:spAutoFit/>
          </a:bodyPr>
          <a:lstStyle/>
          <a:p>
            <a:pPr algn="l">
              <a:defRPr sz="900" b="0">
                <a:solidFill>
                  <a:srgbClr val="888880"/>
                </a:solidFill>
              </a:defRPr>
            </a:pPr>
            <a:r>
              <a:t>Summarize papers, market reports. Extract key findings instantly.</a:t>
            </a:r>
          </a:p>
        </p:txBody>
      </p:sp>
      <p:sp>
        <p:nvSpPr>
          <p:cNvPr id="34" name="Rounded Rectangle 33"/>
          <p:cNvSpPr/>
          <p:nvPr/>
        </p:nvSpPr>
        <p:spPr>
          <a:xfrm>
            <a:off x="6583680" y="4892040"/>
            <a:ext cx="5029200" cy="5486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0" y="4937760"/>
            <a:ext cx="457200" cy="457200"/>
          </a:xfrm>
          <a:prstGeom prst="rect">
            <a:avLst/>
          </a:prstGeom>
          <a:noFill/>
        </p:spPr>
        <p:txBody>
          <a:bodyPr wrap="square">
            <a:spAutoFit/>
          </a:bodyPr>
          <a:lstStyle/>
          <a:p>
            <a:pPr algn="ctr">
              <a:defRPr sz="1600" b="0">
                <a:solidFill>
                  <a:srgbClr val="1A1A1A"/>
                </a:solidFill>
              </a:defRPr>
            </a:pPr>
            <a:r>
              <a:t>⚙️</a:t>
            </a:r>
          </a:p>
        </p:txBody>
      </p:sp>
      <p:sp>
        <p:nvSpPr>
          <p:cNvPr id="36" name="TextBox 35"/>
          <p:cNvSpPr txBox="1"/>
          <p:nvPr/>
        </p:nvSpPr>
        <p:spPr>
          <a:xfrm>
            <a:off x="7223760" y="4910328"/>
            <a:ext cx="1371600" cy="274320"/>
          </a:xfrm>
          <a:prstGeom prst="rect">
            <a:avLst/>
          </a:prstGeom>
          <a:noFill/>
        </p:spPr>
        <p:txBody>
          <a:bodyPr wrap="square">
            <a:spAutoFit/>
          </a:bodyPr>
          <a:lstStyle/>
          <a:p>
            <a:pPr algn="l">
              <a:defRPr sz="1100" b="1">
                <a:solidFill>
                  <a:srgbClr val="3B82F6"/>
                </a:solidFill>
              </a:defRPr>
            </a:pPr>
            <a:r>
              <a:t>Code Automation</a:t>
            </a:r>
          </a:p>
        </p:txBody>
      </p:sp>
      <p:sp>
        <p:nvSpPr>
          <p:cNvPr id="37" name="TextBox 36"/>
          <p:cNvSpPr txBox="1"/>
          <p:nvPr/>
        </p:nvSpPr>
        <p:spPr>
          <a:xfrm>
            <a:off x="7223760" y="5166360"/>
            <a:ext cx="4206240" cy="274320"/>
          </a:xfrm>
          <a:prstGeom prst="rect">
            <a:avLst/>
          </a:prstGeom>
          <a:noFill/>
        </p:spPr>
        <p:txBody>
          <a:bodyPr wrap="square">
            <a:spAutoFit/>
          </a:bodyPr>
          <a:lstStyle/>
          <a:p>
            <a:pPr algn="l">
              <a:defRPr sz="900" b="0">
                <a:solidFill>
                  <a:srgbClr val="888880"/>
                </a:solidFill>
              </a:defRPr>
            </a:pPr>
            <a:r>
              <a:t>CI/CD bots for code review, test generation, refactoring.</a:t>
            </a:r>
          </a:p>
        </p:txBody>
      </p:sp>
      <p:sp>
        <p:nvSpPr>
          <p:cNvPr id="38" name="TextBox 37"/>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Getting Started — Your First Month with AI</a:t>
            </a:r>
          </a:p>
        </p:txBody>
      </p:sp>
      <p:sp>
        <p:nvSpPr>
          <p:cNvPr id="3" name="Rounded Rectangle 2"/>
          <p:cNvSpPr/>
          <p:nvPr/>
        </p:nvSpPr>
        <p:spPr>
          <a:xfrm>
            <a:off x="914400" y="1188720"/>
            <a:ext cx="2468880" cy="54864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30 Minutes — Today</a:t>
            </a:r>
          </a:p>
        </p:txBody>
      </p:sp>
      <p:sp>
        <p:nvSpPr>
          <p:cNvPr id="4" name="TextBox 3"/>
          <p:cNvSpPr txBox="1"/>
          <p:nvPr/>
        </p:nvSpPr>
        <p:spPr>
          <a:xfrm>
            <a:off x="914400" y="1920240"/>
            <a:ext cx="2468880" cy="3657600"/>
          </a:xfrm>
          <a:prstGeom prst="rect">
            <a:avLst/>
          </a:prstGeom>
          <a:noFill/>
        </p:spPr>
        <p:txBody>
          <a:bodyPr wrap="square">
            <a:spAutoFit/>
          </a:bodyPr>
          <a:lstStyle/>
          <a:p>
            <a:pPr algn="l">
              <a:defRPr sz="1000" b="0">
                <a:solidFill>
                  <a:srgbClr val="1A1A1A"/>
                </a:solidFill>
              </a:defRPr>
            </a:pPr>
            <a:r>
              <a:t>● Sign up at claude.ai or chatgpt.com (free)</a:t>
            </a:r>
            <a:br/>
            <a:r>
              <a:t>● Ask: 'Explain X like I'm 12' then 'like a pro'</a:t>
            </a:r>
            <a:br/>
            <a:r>
              <a:t>● Paste in an email → 'Summarize + suggest improvements'</a:t>
            </a:r>
          </a:p>
        </p:txBody>
      </p:sp>
      <p:sp>
        <p:nvSpPr>
          <p:cNvPr id="5" name="Rounded Rectangle 4"/>
          <p:cNvSpPr/>
          <p:nvPr/>
        </p:nvSpPr>
        <p:spPr>
          <a:xfrm>
            <a:off x="3657600" y="1188720"/>
            <a:ext cx="2468880" cy="5486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1 Day — This week</a:t>
            </a:r>
          </a:p>
        </p:txBody>
      </p:sp>
      <p:sp>
        <p:nvSpPr>
          <p:cNvPr id="6" name="TextBox 5"/>
          <p:cNvSpPr txBox="1"/>
          <p:nvPr/>
        </p:nvSpPr>
        <p:spPr>
          <a:xfrm>
            <a:off x="3657600" y="1920240"/>
            <a:ext cx="2468880" cy="3657600"/>
          </a:xfrm>
          <a:prstGeom prst="rect">
            <a:avLst/>
          </a:prstGeom>
          <a:noFill/>
        </p:spPr>
        <p:txBody>
          <a:bodyPr wrap="square">
            <a:spAutoFit/>
          </a:bodyPr>
          <a:lstStyle/>
          <a:p>
            <a:pPr algn="l">
              <a:defRPr sz="1000" b="0">
                <a:solidFill>
                  <a:srgbClr val="1A1A1A"/>
                </a:solidFill>
              </a:defRPr>
            </a:pPr>
            <a:r>
              <a:t>● Pick your daily tool: Claude (writing) or ChatGPT (general)</a:t>
            </a:r>
            <a:br/>
            <a:r>
              <a:t>● Try coding: 'Write a Python script to rename files'</a:t>
            </a:r>
            <a:br/>
            <a:r>
              <a:t>● Explore: 3 prompts on a real task from your work</a:t>
            </a:r>
          </a:p>
        </p:txBody>
      </p:sp>
      <p:sp>
        <p:nvSpPr>
          <p:cNvPr id="7" name="Rounded Rectangle 6"/>
          <p:cNvSpPr/>
          <p:nvPr/>
        </p:nvSpPr>
        <p:spPr>
          <a:xfrm>
            <a:off x="6400800" y="1188720"/>
            <a:ext cx="2468880" cy="5486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1 Week — Next week</a:t>
            </a:r>
          </a:p>
        </p:txBody>
      </p:sp>
      <p:sp>
        <p:nvSpPr>
          <p:cNvPr id="8" name="TextBox 7"/>
          <p:cNvSpPr txBox="1"/>
          <p:nvPr/>
        </p:nvSpPr>
        <p:spPr>
          <a:xfrm>
            <a:off x="6400800" y="1920240"/>
            <a:ext cx="2468880" cy="3657600"/>
          </a:xfrm>
          <a:prstGeom prst="rect">
            <a:avLst/>
          </a:prstGeom>
          <a:noFill/>
        </p:spPr>
        <p:txBody>
          <a:bodyPr wrap="square">
            <a:spAutoFit/>
          </a:bodyPr>
          <a:lstStyle/>
          <a:p>
            <a:pPr algn="l">
              <a:defRPr sz="1000" b="0">
                <a:solidFill>
                  <a:srgbClr val="1A1A1A"/>
                </a:solidFill>
              </a:defRPr>
            </a:pPr>
            <a:r>
              <a:t>● Set up Cursor (IDE) + GitHub Copilot (free tier)</a:t>
            </a:r>
            <a:br/>
            <a:r>
              <a:t>● Build a RAG prototype on your docs (LangChain/OpenAI)</a:t>
            </a:r>
            <a:br/>
            <a:r>
              <a:t>● Create a custom GPT with your team's knowledge base</a:t>
            </a:r>
          </a:p>
        </p:txBody>
      </p:sp>
      <p:sp>
        <p:nvSpPr>
          <p:cNvPr id="9" name="Rounded Rectangle 8"/>
          <p:cNvSpPr/>
          <p:nvPr/>
        </p:nvSpPr>
        <p:spPr>
          <a:xfrm>
            <a:off x="9144000" y="1188720"/>
            <a:ext cx="2468880" cy="548640"/>
          </a:xfrm>
          <a:prstGeom prst="roundRect">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1 Month — This quarter</a:t>
            </a:r>
          </a:p>
        </p:txBody>
      </p:sp>
      <p:sp>
        <p:nvSpPr>
          <p:cNvPr id="10" name="TextBox 9"/>
          <p:cNvSpPr txBox="1"/>
          <p:nvPr/>
        </p:nvSpPr>
        <p:spPr>
          <a:xfrm>
            <a:off x="9144000" y="1920240"/>
            <a:ext cx="2468880" cy="3657600"/>
          </a:xfrm>
          <a:prstGeom prst="rect">
            <a:avLst/>
          </a:prstGeom>
          <a:noFill/>
        </p:spPr>
        <p:txBody>
          <a:bodyPr wrap="square">
            <a:spAutoFit/>
          </a:bodyPr>
          <a:lstStyle/>
          <a:p>
            <a:pPr algn="l">
              <a:defRPr sz="1000" b="0">
                <a:solidFill>
                  <a:srgbClr val="1A1A1A"/>
                </a:solidFill>
              </a:defRPr>
            </a:pPr>
            <a:r>
              <a:t>● Deploy a production RAG chatbot or content pipeline</a:t>
            </a:r>
            <a:br/>
            <a:r>
              <a:t>● Evaluate build-vs-buy for your highest-volume use case</a:t>
            </a:r>
            <a:br/>
            <a:r>
              <a:t>● Train 2-3 team members on AI tool usage</a:t>
            </a:r>
          </a:p>
        </p:txBody>
      </p:sp>
      <p:sp>
        <p:nvSpPr>
          <p:cNvPr id="11" name="Rounded Rectangle 10"/>
          <p:cNvSpPr/>
          <p:nvPr/>
        </p:nvSpPr>
        <p:spPr>
          <a:xfrm>
            <a:off x="914400" y="5029200"/>
            <a:ext cx="10332720" cy="118872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120640"/>
            <a:ext cx="9784080" cy="1005840"/>
          </a:xfrm>
          <a:prstGeom prst="rect">
            <a:avLst/>
          </a:prstGeom>
          <a:noFill/>
        </p:spPr>
        <p:txBody>
          <a:bodyPr wrap="square">
            <a:spAutoFit/>
          </a:bodyPr>
          <a:lstStyle/>
          <a:p>
            <a:pPr algn="l">
              <a:defRPr sz="1100" b="0">
                <a:solidFill>
                  <a:srgbClr val="3B82F6"/>
                </a:solidFill>
              </a:defRPr>
            </a:pPr>
            <a:r>
              <a:t>Free Resources: claude.ai  •  chatgpt.com  •  gemini.google.com  •  cursor.com  •  github.com/features/copilot  •  ollama.com (local models)</a:t>
            </a:r>
            <a:br/>
            <a:r>
              <a:t>Learning: The AI Playbook (ai-playbook.pages.dev)  •  fast.ai  •  DeepLearning.AI  •  3Blue1Brown (YouTube)</a:t>
            </a:r>
          </a:p>
        </p:txBody>
      </p:sp>
      <p:sp>
        <p:nvSpPr>
          <p:cNvPr id="13" name="TextBox 12"/>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Best Practices for Using AI</a:t>
            </a:r>
          </a:p>
        </p:txBody>
      </p:sp>
      <p:sp>
        <p:nvSpPr>
          <p:cNvPr id="3" name="TextBox 2"/>
          <p:cNvSpPr txBox="1"/>
          <p:nvPr/>
        </p:nvSpPr>
        <p:spPr>
          <a:xfrm>
            <a:off x="914400" y="822960"/>
            <a:ext cx="4572000" cy="365760"/>
          </a:xfrm>
          <a:prstGeom prst="rect">
            <a:avLst/>
          </a:prstGeom>
          <a:noFill/>
        </p:spPr>
        <p:txBody>
          <a:bodyPr wrap="square">
            <a:spAutoFit/>
          </a:bodyPr>
          <a:lstStyle/>
          <a:p>
            <a:pPr algn="l">
              <a:defRPr sz="1800" b="1">
                <a:solidFill>
                  <a:srgbClr val="16A34A"/>
                </a:solidFill>
              </a:defRPr>
            </a:pPr>
            <a:r>
              <a:t>DO</a:t>
            </a:r>
          </a:p>
        </p:txBody>
      </p:sp>
      <p:sp>
        <p:nvSpPr>
          <p:cNvPr id="4" name="TextBox 3"/>
          <p:cNvSpPr txBox="1"/>
          <p:nvPr/>
        </p:nvSpPr>
        <p:spPr>
          <a:xfrm>
            <a:off x="914400" y="1371600"/>
            <a:ext cx="4572000" cy="365760"/>
          </a:xfrm>
          <a:prstGeom prst="rect">
            <a:avLst/>
          </a:prstGeom>
          <a:noFill/>
        </p:spPr>
        <p:txBody>
          <a:bodyPr wrap="square">
            <a:spAutoFit/>
          </a:bodyPr>
          <a:lstStyle/>
          <a:p>
            <a:pPr algn="l">
              <a:defRPr sz="1100" b="0">
                <a:solidFill>
                  <a:srgbClr val="16A34A"/>
                </a:solidFill>
              </a:defRPr>
            </a:pPr>
            <a:r>
              <a:t>✓  Verify important facts — LLMs can hallucinate</a:t>
            </a:r>
          </a:p>
        </p:txBody>
      </p:sp>
      <p:sp>
        <p:nvSpPr>
          <p:cNvPr id="5" name="TextBox 4"/>
          <p:cNvSpPr txBox="1"/>
          <p:nvPr/>
        </p:nvSpPr>
        <p:spPr>
          <a:xfrm>
            <a:off x="914400" y="1783080"/>
            <a:ext cx="4572000" cy="365760"/>
          </a:xfrm>
          <a:prstGeom prst="rect">
            <a:avLst/>
          </a:prstGeom>
          <a:noFill/>
        </p:spPr>
        <p:txBody>
          <a:bodyPr wrap="square">
            <a:spAutoFit/>
          </a:bodyPr>
          <a:lstStyle/>
          <a:p>
            <a:pPr algn="l">
              <a:defRPr sz="1100" b="0">
                <a:solidFill>
                  <a:srgbClr val="16A34A"/>
                </a:solidFill>
              </a:defRPr>
            </a:pPr>
            <a:r>
              <a:t>✓  Be specific in prompts — vague = vague answers</a:t>
            </a:r>
          </a:p>
        </p:txBody>
      </p:sp>
      <p:sp>
        <p:nvSpPr>
          <p:cNvPr id="6" name="TextBox 5"/>
          <p:cNvSpPr txBox="1"/>
          <p:nvPr/>
        </p:nvSpPr>
        <p:spPr>
          <a:xfrm>
            <a:off x="914400" y="2194560"/>
            <a:ext cx="4572000" cy="365760"/>
          </a:xfrm>
          <a:prstGeom prst="rect">
            <a:avLst/>
          </a:prstGeom>
          <a:noFill/>
        </p:spPr>
        <p:txBody>
          <a:bodyPr wrap="square">
            <a:spAutoFit/>
          </a:bodyPr>
          <a:lstStyle/>
          <a:p>
            <a:pPr algn="l">
              <a:defRPr sz="1100" b="0">
                <a:solidFill>
                  <a:srgbClr val="16A34A"/>
                </a:solidFill>
              </a:defRPr>
            </a:pPr>
            <a:r>
              <a:t>✓  Use AI as a starting point, not the final answer</a:t>
            </a:r>
          </a:p>
        </p:txBody>
      </p:sp>
      <p:sp>
        <p:nvSpPr>
          <p:cNvPr id="7" name="TextBox 6"/>
          <p:cNvSpPr txBox="1"/>
          <p:nvPr/>
        </p:nvSpPr>
        <p:spPr>
          <a:xfrm>
            <a:off x="914400" y="2606040"/>
            <a:ext cx="4572000" cy="365760"/>
          </a:xfrm>
          <a:prstGeom prst="rect">
            <a:avLst/>
          </a:prstGeom>
          <a:noFill/>
        </p:spPr>
        <p:txBody>
          <a:bodyPr wrap="square">
            <a:spAutoFit/>
          </a:bodyPr>
          <a:lstStyle/>
          <a:p>
            <a:pPr algn="l">
              <a:defRPr sz="1100" b="0">
                <a:solidFill>
                  <a:srgbClr val="16A34A"/>
                </a:solidFill>
              </a:defRPr>
            </a:pPr>
            <a:r>
              <a:t>✓  Experiment with different models for different tasks</a:t>
            </a:r>
          </a:p>
        </p:txBody>
      </p:sp>
      <p:sp>
        <p:nvSpPr>
          <p:cNvPr id="8" name="TextBox 7"/>
          <p:cNvSpPr txBox="1"/>
          <p:nvPr/>
        </p:nvSpPr>
        <p:spPr>
          <a:xfrm>
            <a:off x="914400" y="3017520"/>
            <a:ext cx="4572000" cy="365760"/>
          </a:xfrm>
          <a:prstGeom prst="rect">
            <a:avLst/>
          </a:prstGeom>
          <a:noFill/>
        </p:spPr>
        <p:txBody>
          <a:bodyPr wrap="square">
            <a:spAutoFit/>
          </a:bodyPr>
          <a:lstStyle/>
          <a:p>
            <a:pPr algn="l">
              <a:defRPr sz="1100" b="0">
                <a:solidFill>
                  <a:srgbClr val="16A34A"/>
                </a:solidFill>
              </a:defRPr>
            </a:pPr>
            <a:r>
              <a:t>✓  Keep humans in the loop for critical decisions</a:t>
            </a:r>
          </a:p>
        </p:txBody>
      </p:sp>
      <p:sp>
        <p:nvSpPr>
          <p:cNvPr id="9" name="TextBox 8"/>
          <p:cNvSpPr txBox="1"/>
          <p:nvPr/>
        </p:nvSpPr>
        <p:spPr>
          <a:xfrm>
            <a:off x="914400" y="3429000"/>
            <a:ext cx="4572000" cy="365760"/>
          </a:xfrm>
          <a:prstGeom prst="rect">
            <a:avLst/>
          </a:prstGeom>
          <a:noFill/>
        </p:spPr>
        <p:txBody>
          <a:bodyPr wrap="square">
            <a:spAutoFit/>
          </a:bodyPr>
          <a:lstStyle/>
          <a:p>
            <a:pPr algn="l">
              <a:defRPr sz="1100" b="0">
                <a:solidFill>
                  <a:srgbClr val="16A34A"/>
                </a:solidFill>
              </a:defRPr>
            </a:pPr>
            <a:r>
              <a:t>✓  Invest in prompt engineering skills — highest ROI</a:t>
            </a:r>
          </a:p>
        </p:txBody>
      </p:sp>
      <p:sp>
        <p:nvSpPr>
          <p:cNvPr id="10" name="TextBox 9"/>
          <p:cNvSpPr txBox="1"/>
          <p:nvPr/>
        </p:nvSpPr>
        <p:spPr>
          <a:xfrm>
            <a:off x="6583680" y="822960"/>
            <a:ext cx="5029200" cy="365760"/>
          </a:xfrm>
          <a:prstGeom prst="rect">
            <a:avLst/>
          </a:prstGeom>
          <a:noFill/>
        </p:spPr>
        <p:txBody>
          <a:bodyPr wrap="square">
            <a:spAutoFit/>
          </a:bodyPr>
          <a:lstStyle/>
          <a:p>
            <a:pPr algn="l">
              <a:defRPr sz="1800" b="1">
                <a:solidFill>
                  <a:srgbClr val="DC2626"/>
                </a:solidFill>
              </a:defRPr>
            </a:pPr>
            <a:r>
              <a:t>DON'T</a:t>
            </a:r>
          </a:p>
        </p:txBody>
      </p:sp>
      <p:sp>
        <p:nvSpPr>
          <p:cNvPr id="11" name="TextBox 10"/>
          <p:cNvSpPr txBox="1"/>
          <p:nvPr/>
        </p:nvSpPr>
        <p:spPr>
          <a:xfrm>
            <a:off x="6583680" y="1371600"/>
            <a:ext cx="5029200" cy="365760"/>
          </a:xfrm>
          <a:prstGeom prst="rect">
            <a:avLst/>
          </a:prstGeom>
          <a:noFill/>
        </p:spPr>
        <p:txBody>
          <a:bodyPr wrap="square">
            <a:spAutoFit/>
          </a:bodyPr>
          <a:lstStyle/>
          <a:p>
            <a:pPr algn="l">
              <a:defRPr sz="1100" b="0">
                <a:solidFill>
                  <a:srgbClr val="DC2626"/>
                </a:solidFill>
              </a:defRPr>
            </a:pPr>
            <a:r>
              <a:t>✕  Paste sensitive/private data into public AI services</a:t>
            </a:r>
          </a:p>
        </p:txBody>
      </p:sp>
      <p:sp>
        <p:nvSpPr>
          <p:cNvPr id="12" name="TextBox 11"/>
          <p:cNvSpPr txBox="1"/>
          <p:nvPr/>
        </p:nvSpPr>
        <p:spPr>
          <a:xfrm>
            <a:off x="6583680" y="1783080"/>
            <a:ext cx="5029200" cy="365760"/>
          </a:xfrm>
          <a:prstGeom prst="rect">
            <a:avLst/>
          </a:prstGeom>
          <a:noFill/>
        </p:spPr>
        <p:txBody>
          <a:bodyPr wrap="square">
            <a:spAutoFit/>
          </a:bodyPr>
          <a:lstStyle/>
          <a:p>
            <a:pPr algn="l">
              <a:defRPr sz="1100" b="0">
                <a:solidFill>
                  <a:srgbClr val="DC2626"/>
                </a:solidFill>
              </a:defRPr>
            </a:pPr>
            <a:r>
              <a:t>✕  Trust AI-generated code without review</a:t>
            </a:r>
          </a:p>
        </p:txBody>
      </p:sp>
      <p:sp>
        <p:nvSpPr>
          <p:cNvPr id="13" name="TextBox 12"/>
          <p:cNvSpPr txBox="1"/>
          <p:nvPr/>
        </p:nvSpPr>
        <p:spPr>
          <a:xfrm>
            <a:off x="6583680" y="2194560"/>
            <a:ext cx="5029200" cy="365760"/>
          </a:xfrm>
          <a:prstGeom prst="rect">
            <a:avLst/>
          </a:prstGeom>
          <a:noFill/>
        </p:spPr>
        <p:txBody>
          <a:bodyPr wrap="square">
            <a:spAutoFit/>
          </a:bodyPr>
          <a:lstStyle/>
          <a:p>
            <a:pPr algn="l">
              <a:defRPr sz="1100" b="0">
                <a:solidFill>
                  <a:srgbClr val="DC2626"/>
                </a:solidFill>
              </a:defRPr>
            </a:pPr>
            <a:r>
              <a:t>✕  Assume the model knows recent events (check cutoff)</a:t>
            </a:r>
          </a:p>
        </p:txBody>
      </p:sp>
      <p:sp>
        <p:nvSpPr>
          <p:cNvPr id="14" name="TextBox 13"/>
          <p:cNvSpPr txBox="1"/>
          <p:nvPr/>
        </p:nvSpPr>
        <p:spPr>
          <a:xfrm>
            <a:off x="6583680" y="2606040"/>
            <a:ext cx="5029200" cy="365760"/>
          </a:xfrm>
          <a:prstGeom prst="rect">
            <a:avLst/>
          </a:prstGeom>
          <a:noFill/>
        </p:spPr>
        <p:txBody>
          <a:bodyPr wrap="square">
            <a:spAutoFit/>
          </a:bodyPr>
          <a:lstStyle/>
          <a:p>
            <a:pPr algn="l">
              <a:defRPr sz="1100" b="0">
                <a:solidFill>
                  <a:srgbClr val="DC2626"/>
                </a:solidFill>
              </a:defRPr>
            </a:pPr>
            <a:r>
              <a:t>✕  Over-automate — some things need human judgment</a:t>
            </a:r>
          </a:p>
        </p:txBody>
      </p:sp>
      <p:sp>
        <p:nvSpPr>
          <p:cNvPr id="15" name="TextBox 14"/>
          <p:cNvSpPr txBox="1"/>
          <p:nvPr/>
        </p:nvSpPr>
        <p:spPr>
          <a:xfrm>
            <a:off x="6583680" y="3017520"/>
            <a:ext cx="5029200" cy="365760"/>
          </a:xfrm>
          <a:prstGeom prst="rect">
            <a:avLst/>
          </a:prstGeom>
          <a:noFill/>
        </p:spPr>
        <p:txBody>
          <a:bodyPr wrap="square">
            <a:spAutoFit/>
          </a:bodyPr>
          <a:lstStyle/>
          <a:p>
            <a:pPr algn="l">
              <a:defRPr sz="1100" b="0">
                <a:solidFill>
                  <a:srgbClr val="DC2626"/>
                </a:solidFill>
              </a:defRPr>
            </a:pPr>
            <a:r>
              <a:t>✕  Use AI for legal/medical advice without expert review</a:t>
            </a:r>
          </a:p>
        </p:txBody>
      </p:sp>
      <p:sp>
        <p:nvSpPr>
          <p:cNvPr id="16" name="TextBox 15"/>
          <p:cNvSpPr txBox="1"/>
          <p:nvPr/>
        </p:nvSpPr>
        <p:spPr>
          <a:xfrm>
            <a:off x="6583680" y="3429000"/>
            <a:ext cx="5029200" cy="365760"/>
          </a:xfrm>
          <a:prstGeom prst="rect">
            <a:avLst/>
          </a:prstGeom>
          <a:noFill/>
        </p:spPr>
        <p:txBody>
          <a:bodyPr wrap="square">
            <a:spAutoFit/>
          </a:bodyPr>
          <a:lstStyle/>
          <a:p>
            <a:pPr algn="l">
              <a:defRPr sz="1100" b="0">
                <a:solidFill>
                  <a:srgbClr val="DC2626"/>
                </a:solidFill>
              </a:defRPr>
            </a:pPr>
            <a:r>
              <a:t>✕  Forget: AI amplifies humans, doesn't replace them</a:t>
            </a:r>
          </a:p>
        </p:txBody>
      </p:sp>
      <p:sp>
        <p:nvSpPr>
          <p:cNvPr id="17" name="TextBox 16"/>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Where AI is Heading — 2026 to 2028</a:t>
            </a:r>
          </a:p>
        </p:txBody>
      </p:sp>
      <p:sp>
        <p:nvSpPr>
          <p:cNvPr id="3" name="Rounded Rectangle 2"/>
          <p:cNvSpPr/>
          <p:nvPr/>
        </p:nvSpPr>
        <p:spPr>
          <a:xfrm>
            <a:off x="914400" y="914400"/>
            <a:ext cx="3291840" cy="210312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2926080" cy="365760"/>
          </a:xfrm>
          <a:prstGeom prst="rect">
            <a:avLst/>
          </a:prstGeom>
          <a:noFill/>
        </p:spPr>
        <p:txBody>
          <a:bodyPr wrap="square">
            <a:spAutoFit/>
          </a:bodyPr>
          <a:lstStyle/>
          <a:p>
            <a:pPr algn="l">
              <a:defRPr sz="1600" b="1">
                <a:solidFill>
                  <a:srgbClr val="3B82F6"/>
                </a:solidFill>
              </a:defRPr>
            </a:pPr>
            <a:r>
              <a:t>Agentic AI</a:t>
            </a:r>
          </a:p>
        </p:txBody>
      </p:sp>
      <p:sp>
        <p:nvSpPr>
          <p:cNvPr id="5" name="TextBox 4"/>
          <p:cNvSpPr txBox="1"/>
          <p:nvPr/>
        </p:nvSpPr>
        <p:spPr>
          <a:xfrm>
            <a:off x="1097280" y="1463040"/>
            <a:ext cx="2926080" cy="1371600"/>
          </a:xfrm>
          <a:prstGeom prst="rect">
            <a:avLst/>
          </a:prstGeom>
          <a:noFill/>
        </p:spPr>
        <p:txBody>
          <a:bodyPr wrap="square">
            <a:spAutoFit/>
          </a:bodyPr>
          <a:lstStyle/>
          <a:p>
            <a:pPr algn="l">
              <a:defRPr sz="1100" b="0">
                <a:solidFill>
                  <a:srgbClr val="1A1A1A"/>
                </a:solidFill>
              </a:defRPr>
            </a:pPr>
            <a:r>
              <a:t>Models that plan, use tools, and execute multi-step tasks autonomously</a:t>
            </a:r>
          </a:p>
        </p:txBody>
      </p:sp>
      <p:sp>
        <p:nvSpPr>
          <p:cNvPr id="6" name="Rounded Rectangle 5"/>
          <p:cNvSpPr/>
          <p:nvPr/>
        </p:nvSpPr>
        <p:spPr>
          <a:xfrm>
            <a:off x="4572000" y="914400"/>
            <a:ext cx="3291840" cy="210312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005840"/>
            <a:ext cx="2926080" cy="365760"/>
          </a:xfrm>
          <a:prstGeom prst="rect">
            <a:avLst/>
          </a:prstGeom>
          <a:noFill/>
        </p:spPr>
        <p:txBody>
          <a:bodyPr wrap="square">
            <a:spAutoFit/>
          </a:bodyPr>
          <a:lstStyle/>
          <a:p>
            <a:pPr algn="l">
              <a:defRPr sz="1600" b="1">
                <a:solidFill>
                  <a:srgbClr val="16A34A"/>
                </a:solidFill>
              </a:defRPr>
            </a:pPr>
            <a:r>
              <a:t>Edge &amp; SLMs</a:t>
            </a:r>
          </a:p>
        </p:txBody>
      </p:sp>
      <p:sp>
        <p:nvSpPr>
          <p:cNvPr id="8" name="TextBox 7"/>
          <p:cNvSpPr txBox="1"/>
          <p:nvPr/>
        </p:nvSpPr>
        <p:spPr>
          <a:xfrm>
            <a:off x="4754880" y="1463040"/>
            <a:ext cx="2926080" cy="1371600"/>
          </a:xfrm>
          <a:prstGeom prst="rect">
            <a:avLst/>
          </a:prstGeom>
          <a:noFill/>
        </p:spPr>
        <p:txBody>
          <a:bodyPr wrap="square">
            <a:spAutoFit/>
          </a:bodyPr>
          <a:lstStyle/>
          <a:p>
            <a:pPr algn="l">
              <a:defRPr sz="1100" b="0">
                <a:solidFill>
                  <a:srgbClr val="1A1A1A"/>
                </a:solidFill>
              </a:defRPr>
            </a:pPr>
            <a:r>
              <a:t>Small models on phones/laptops. Zero-cost inference, zero latency</a:t>
            </a:r>
          </a:p>
        </p:txBody>
      </p:sp>
      <p:sp>
        <p:nvSpPr>
          <p:cNvPr id="9" name="Rounded Rectangle 8"/>
          <p:cNvSpPr/>
          <p:nvPr/>
        </p:nvSpPr>
        <p:spPr>
          <a:xfrm>
            <a:off x="8229600" y="914400"/>
            <a:ext cx="3291840" cy="21031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005840"/>
            <a:ext cx="2926080" cy="365760"/>
          </a:xfrm>
          <a:prstGeom prst="rect">
            <a:avLst/>
          </a:prstGeom>
          <a:noFill/>
        </p:spPr>
        <p:txBody>
          <a:bodyPr wrap="square">
            <a:spAutoFit/>
          </a:bodyPr>
          <a:lstStyle/>
          <a:p>
            <a:pPr algn="l">
              <a:defRPr sz="1600" b="1">
                <a:solidFill>
                  <a:srgbClr val="D97706"/>
                </a:solidFill>
              </a:defRPr>
            </a:pPr>
            <a:r>
              <a:t>Multimodal</a:t>
            </a:r>
          </a:p>
        </p:txBody>
      </p:sp>
      <p:sp>
        <p:nvSpPr>
          <p:cNvPr id="11" name="TextBox 10"/>
          <p:cNvSpPr txBox="1"/>
          <p:nvPr/>
        </p:nvSpPr>
        <p:spPr>
          <a:xfrm>
            <a:off x="8412480" y="1463040"/>
            <a:ext cx="2926080" cy="1371600"/>
          </a:xfrm>
          <a:prstGeom prst="rect">
            <a:avLst/>
          </a:prstGeom>
          <a:noFill/>
        </p:spPr>
        <p:txBody>
          <a:bodyPr wrap="square">
            <a:spAutoFit/>
          </a:bodyPr>
          <a:lstStyle/>
          <a:p>
            <a:pPr algn="l">
              <a:defRPr sz="1100" b="0">
                <a:solidFill>
                  <a:srgbClr val="1A1A1A"/>
                </a:solidFill>
              </a:defRPr>
            </a:pPr>
            <a:r>
              <a:t>Vision, audio, video natively integrated. No more text-only</a:t>
            </a:r>
          </a:p>
        </p:txBody>
      </p:sp>
      <p:sp>
        <p:nvSpPr>
          <p:cNvPr id="12" name="Rounded Rectangle 11"/>
          <p:cNvSpPr/>
          <p:nvPr/>
        </p:nvSpPr>
        <p:spPr>
          <a:xfrm>
            <a:off x="914400" y="3474720"/>
            <a:ext cx="3291840" cy="2103120"/>
          </a:xfrm>
          <a:prstGeom prst="roundRect">
            <a:avLst/>
          </a:prstGeom>
          <a:solidFill>
            <a:srgbClr val="FFFFFF"/>
          </a:solidFill>
          <a:ln w="25400">
            <a:solidFill>
              <a:srgbClr val="1A2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566160"/>
            <a:ext cx="2926080" cy="365760"/>
          </a:xfrm>
          <a:prstGeom prst="rect">
            <a:avLst/>
          </a:prstGeom>
          <a:noFill/>
        </p:spPr>
        <p:txBody>
          <a:bodyPr wrap="square">
            <a:spAutoFit/>
          </a:bodyPr>
          <a:lstStyle/>
          <a:p>
            <a:pPr algn="l">
              <a:defRPr sz="1600" b="1">
                <a:solidFill>
                  <a:srgbClr val="1A2D4D"/>
                </a:solidFill>
              </a:defRPr>
            </a:pPr>
            <a:r>
              <a:t>Open Dominance</a:t>
            </a:r>
          </a:p>
        </p:txBody>
      </p:sp>
      <p:sp>
        <p:nvSpPr>
          <p:cNvPr id="14" name="TextBox 13"/>
          <p:cNvSpPr txBox="1"/>
          <p:nvPr/>
        </p:nvSpPr>
        <p:spPr>
          <a:xfrm>
            <a:off x="1097280" y="4023360"/>
            <a:ext cx="2926080" cy="1371600"/>
          </a:xfrm>
          <a:prstGeom prst="rect">
            <a:avLst/>
          </a:prstGeom>
          <a:noFill/>
        </p:spPr>
        <p:txBody>
          <a:bodyPr wrap="square">
            <a:spAutoFit/>
          </a:bodyPr>
          <a:lstStyle/>
          <a:p>
            <a:pPr algn="l">
              <a:defRPr sz="1100" b="0">
                <a:solidFill>
                  <a:srgbClr val="1A1A1A"/>
                </a:solidFill>
              </a:defRPr>
            </a:pPr>
            <a:r>
              <a:t>Open models (Llama, DeepSeek, Qwen) matching closed models on all benchmarks</a:t>
            </a:r>
          </a:p>
        </p:txBody>
      </p:sp>
      <p:sp>
        <p:nvSpPr>
          <p:cNvPr id="15" name="Rounded Rectangle 14"/>
          <p:cNvSpPr/>
          <p:nvPr/>
        </p:nvSpPr>
        <p:spPr>
          <a:xfrm>
            <a:off x="4572000" y="3474720"/>
            <a:ext cx="3291840" cy="2103120"/>
          </a:xfrm>
          <a:prstGeom prst="roundRect">
            <a:avLst/>
          </a:prstGeom>
          <a:solidFill>
            <a:srgbClr val="FFFFFF"/>
          </a:solidFill>
          <a:ln w="25400">
            <a:solidFill>
              <a:srgbClr val="933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3566160"/>
            <a:ext cx="2926080" cy="365760"/>
          </a:xfrm>
          <a:prstGeom prst="rect">
            <a:avLst/>
          </a:prstGeom>
          <a:noFill/>
        </p:spPr>
        <p:txBody>
          <a:bodyPr wrap="square">
            <a:spAutoFit/>
          </a:bodyPr>
          <a:lstStyle/>
          <a:p>
            <a:pPr algn="l">
              <a:defRPr sz="1600" b="1">
                <a:solidFill>
                  <a:srgbClr val="933DEA"/>
                </a:solidFill>
              </a:defRPr>
            </a:pPr>
            <a:r>
              <a:t>Reasoning Default</a:t>
            </a:r>
          </a:p>
        </p:txBody>
      </p:sp>
      <p:sp>
        <p:nvSpPr>
          <p:cNvPr id="17" name="TextBox 16"/>
          <p:cNvSpPr txBox="1"/>
          <p:nvPr/>
        </p:nvSpPr>
        <p:spPr>
          <a:xfrm>
            <a:off x="4754880" y="4023360"/>
            <a:ext cx="2926080" cy="1371600"/>
          </a:xfrm>
          <a:prstGeom prst="rect">
            <a:avLst/>
          </a:prstGeom>
          <a:noFill/>
        </p:spPr>
        <p:txBody>
          <a:bodyPr wrap="square">
            <a:spAutoFit/>
          </a:bodyPr>
          <a:lstStyle/>
          <a:p>
            <a:pPr algn="l">
              <a:defRPr sz="1100" b="0">
                <a:solidFill>
                  <a:srgbClr val="1A1A1A"/>
                </a:solidFill>
              </a:defRPr>
            </a:pPr>
            <a:r>
              <a:t>Chain-of-thought, tree-of-thought become standard. Specialized reasoning models</a:t>
            </a:r>
          </a:p>
        </p:txBody>
      </p:sp>
      <p:sp>
        <p:nvSpPr>
          <p:cNvPr id="18" name="Rounded Rectangle 17"/>
          <p:cNvSpPr/>
          <p:nvPr/>
        </p:nvSpPr>
        <p:spPr>
          <a:xfrm>
            <a:off x="8229600" y="3474720"/>
            <a:ext cx="3291840" cy="210312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3566160"/>
            <a:ext cx="2926080" cy="365760"/>
          </a:xfrm>
          <a:prstGeom prst="rect">
            <a:avLst/>
          </a:prstGeom>
          <a:noFill/>
        </p:spPr>
        <p:txBody>
          <a:bodyPr wrap="square">
            <a:spAutoFit/>
          </a:bodyPr>
          <a:lstStyle/>
          <a:p>
            <a:pPr algn="l">
              <a:defRPr sz="1600" b="1">
                <a:solidFill>
                  <a:srgbClr val="DC2626"/>
                </a:solidFill>
              </a:defRPr>
            </a:pPr>
            <a:r>
              <a:t>AI Ubiquity</a:t>
            </a:r>
          </a:p>
        </p:txBody>
      </p:sp>
      <p:sp>
        <p:nvSpPr>
          <p:cNvPr id="20" name="TextBox 19"/>
          <p:cNvSpPr txBox="1"/>
          <p:nvPr/>
        </p:nvSpPr>
        <p:spPr>
          <a:xfrm>
            <a:off x="8412480" y="4023360"/>
            <a:ext cx="2926080" cy="1371600"/>
          </a:xfrm>
          <a:prstGeom prst="rect">
            <a:avLst/>
          </a:prstGeom>
          <a:noFill/>
        </p:spPr>
        <p:txBody>
          <a:bodyPr wrap="square">
            <a:spAutoFit/>
          </a:bodyPr>
          <a:lstStyle/>
          <a:p>
            <a:pPr algn="l">
              <a:defRPr sz="1100" b="0">
                <a:solidFill>
                  <a:srgbClr val="1A1A1A"/>
                </a:solidFill>
              </a:defRPr>
            </a:pPr>
            <a:r>
              <a:t>AI in email, docs, IDE, browser, terminal — embedded in every tool we use</a:t>
            </a:r>
          </a:p>
        </p:txBody>
      </p:sp>
      <p:sp>
        <p:nvSpPr>
          <p:cNvPr id="21" name="TextBox 20"/>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The Human + AI Advantage</a:t>
            </a:r>
          </a:p>
        </p:txBody>
      </p:sp>
      <p:sp>
        <p:nvSpPr>
          <p:cNvPr id="3" name="TextBox 2"/>
          <p:cNvSpPr txBox="1"/>
          <p:nvPr/>
        </p:nvSpPr>
        <p:spPr>
          <a:xfrm>
            <a:off x="914400" y="914400"/>
            <a:ext cx="4572000" cy="365760"/>
          </a:xfrm>
          <a:prstGeom prst="rect">
            <a:avLst/>
          </a:prstGeom>
          <a:noFill/>
        </p:spPr>
        <p:txBody>
          <a:bodyPr wrap="square">
            <a:spAutoFit/>
          </a:bodyPr>
          <a:lstStyle/>
          <a:p>
            <a:pPr algn="l">
              <a:defRPr sz="1600" b="1">
                <a:solidFill>
                  <a:srgbClr val="3B82F6"/>
                </a:solidFill>
              </a:defRPr>
            </a:pPr>
            <a:r>
              <a:t>What AI Excels At</a:t>
            </a:r>
          </a:p>
        </p:txBody>
      </p:sp>
      <p:sp>
        <p:nvSpPr>
          <p:cNvPr id="4" name="TextBox 3"/>
          <p:cNvSpPr txBox="1"/>
          <p:nvPr/>
        </p:nvSpPr>
        <p:spPr>
          <a:xfrm>
            <a:off x="914400" y="1371600"/>
            <a:ext cx="4572000" cy="2743200"/>
          </a:xfrm>
          <a:prstGeom prst="rect">
            <a:avLst/>
          </a:prstGeom>
          <a:noFill/>
        </p:spPr>
        <p:txBody>
          <a:bodyPr wrap="square">
            <a:spAutoFit/>
          </a:bodyPr>
          <a:lstStyle/>
          <a:p>
            <a:pPr>
              <a:spcAft>
                <a:spcPts val="1000"/>
              </a:spcAft>
              <a:defRPr sz="1100">
                <a:solidFill>
                  <a:srgbClr val="1A1A1A"/>
                </a:solidFill>
              </a:defRPr>
            </a:pPr>
            <a:r>
              <a:t>●  Speed — processes millions of tokens in seconds</a:t>
            </a:r>
          </a:p>
          <a:p>
            <a:pPr>
              <a:spcAft>
                <a:spcPts val="1000"/>
              </a:spcAft>
              <a:defRPr sz="1100">
                <a:solidFill>
                  <a:srgbClr val="1A1A1A"/>
                </a:solidFill>
              </a:defRPr>
            </a:pPr>
            <a:r>
              <a:t>●  Scale — handles thousands of requests simultaneously</a:t>
            </a:r>
          </a:p>
          <a:p>
            <a:pPr>
              <a:spcAft>
                <a:spcPts val="1000"/>
              </a:spcAft>
              <a:defRPr sz="1100">
                <a:solidFill>
                  <a:srgbClr val="1A1A1A"/>
                </a:solidFill>
              </a:defRPr>
            </a:pPr>
            <a:r>
              <a:t>●  Pattern Recognition — finds correlations humans miss</a:t>
            </a:r>
          </a:p>
          <a:p>
            <a:pPr>
              <a:spcAft>
                <a:spcPts val="1000"/>
              </a:spcAft>
              <a:defRPr sz="1100">
                <a:solidFill>
                  <a:srgbClr val="1A1A1A"/>
                </a:solidFill>
              </a:defRPr>
            </a:pPr>
            <a:r>
              <a:t>●  Consistency — same quality 24/7, never tired</a:t>
            </a:r>
          </a:p>
          <a:p>
            <a:pPr>
              <a:spcAft>
                <a:spcPts val="1000"/>
              </a:spcAft>
              <a:defRPr sz="1100">
                <a:solidFill>
                  <a:srgbClr val="1A1A1A"/>
                </a:solidFill>
              </a:defRPr>
            </a:pPr>
            <a:r>
              <a:t>●  Language — translates, summarizes, generates text effortlessly</a:t>
            </a:r>
          </a:p>
          <a:p>
            <a:pPr>
              <a:spcAft>
                <a:spcPts val="1000"/>
              </a:spcAft>
              <a:defRPr sz="1100">
                <a:solidFill>
                  <a:srgbClr val="1A1A1A"/>
                </a:solidFill>
              </a:defRPr>
            </a:pPr>
            <a:r>
              <a:t>●  Learning from examples — adapts to new tasks with a prompt</a:t>
            </a:r>
          </a:p>
        </p:txBody>
      </p:sp>
      <p:sp>
        <p:nvSpPr>
          <p:cNvPr id="5" name="TextBox 4"/>
          <p:cNvSpPr txBox="1"/>
          <p:nvPr/>
        </p:nvSpPr>
        <p:spPr>
          <a:xfrm>
            <a:off x="6583680" y="914400"/>
            <a:ext cx="5029200" cy="365760"/>
          </a:xfrm>
          <a:prstGeom prst="rect">
            <a:avLst/>
          </a:prstGeom>
          <a:noFill/>
        </p:spPr>
        <p:txBody>
          <a:bodyPr wrap="square">
            <a:spAutoFit/>
          </a:bodyPr>
          <a:lstStyle/>
          <a:p>
            <a:pPr algn="l">
              <a:defRPr sz="1600" b="1">
                <a:solidFill>
                  <a:srgbClr val="16A34A"/>
                </a:solidFill>
              </a:defRPr>
            </a:pPr>
            <a:r>
              <a:t>What Humans Excel At</a:t>
            </a:r>
          </a:p>
        </p:txBody>
      </p:sp>
      <p:sp>
        <p:nvSpPr>
          <p:cNvPr id="6" name="TextBox 5"/>
          <p:cNvSpPr txBox="1"/>
          <p:nvPr/>
        </p:nvSpPr>
        <p:spPr>
          <a:xfrm>
            <a:off x="6583680" y="1371600"/>
            <a:ext cx="5029200" cy="2743200"/>
          </a:xfrm>
          <a:prstGeom prst="rect">
            <a:avLst/>
          </a:prstGeom>
          <a:noFill/>
        </p:spPr>
        <p:txBody>
          <a:bodyPr wrap="square">
            <a:spAutoFit/>
          </a:bodyPr>
          <a:lstStyle/>
          <a:p>
            <a:pPr>
              <a:spcAft>
                <a:spcPts val="1000"/>
              </a:spcAft>
              <a:defRPr sz="1100">
                <a:solidFill>
                  <a:srgbClr val="1A1A1A"/>
                </a:solidFill>
              </a:defRPr>
            </a:pPr>
            <a:r>
              <a:t>●  Judgment — knowing when a decision is right, not just logical</a:t>
            </a:r>
          </a:p>
          <a:p>
            <a:pPr>
              <a:spcAft>
                <a:spcPts val="1000"/>
              </a:spcAft>
              <a:defRPr sz="1100">
                <a:solidFill>
                  <a:srgbClr val="1A1A1A"/>
                </a:solidFill>
              </a:defRPr>
            </a:pPr>
            <a:r>
              <a:t>●  Creativity — original ideas, not recombinations of existing ones</a:t>
            </a:r>
          </a:p>
          <a:p>
            <a:pPr>
              <a:spcAft>
                <a:spcPts val="1000"/>
              </a:spcAft>
              <a:defRPr sz="1100">
                <a:solidFill>
                  <a:srgbClr val="1A1A1A"/>
                </a:solidFill>
              </a:defRPr>
            </a:pPr>
            <a:r>
              <a:t>●  Ethics — understanding context, nuance, and consequences</a:t>
            </a:r>
          </a:p>
          <a:p>
            <a:pPr>
              <a:spcAft>
                <a:spcPts val="1000"/>
              </a:spcAft>
              <a:defRPr sz="1100">
                <a:solidFill>
                  <a:srgbClr val="1A1A1A"/>
                </a:solidFill>
              </a:defRPr>
            </a:pPr>
            <a:r>
              <a:t>●  Domain Expertise — deep specialized knowledge</a:t>
            </a:r>
          </a:p>
          <a:p>
            <a:pPr>
              <a:spcAft>
                <a:spcPts val="1000"/>
              </a:spcAft>
              <a:defRPr sz="1100">
                <a:solidFill>
                  <a:srgbClr val="1A1A1A"/>
                </a:solidFill>
              </a:defRPr>
            </a:pPr>
            <a:r>
              <a:t>●  Empathy — understanding user needs, emotions, and motivations</a:t>
            </a:r>
          </a:p>
          <a:p>
            <a:pPr>
              <a:spcAft>
                <a:spcPts val="1000"/>
              </a:spcAft>
              <a:defRPr sz="1100">
                <a:solidFill>
                  <a:srgbClr val="1A1A1A"/>
                </a:solidFill>
              </a:defRPr>
            </a:pPr>
            <a:r>
              <a:t>●  Strategy — setting direction, making tradeoffs, taking accountability</a:t>
            </a:r>
          </a:p>
        </p:txBody>
      </p:sp>
      <p:sp>
        <p:nvSpPr>
          <p:cNvPr id="7" name="Rounded Rectangle 6"/>
          <p:cNvSpPr/>
          <p:nvPr/>
        </p:nvSpPr>
        <p:spPr>
          <a:xfrm>
            <a:off x="914400" y="4572000"/>
            <a:ext cx="10332720" cy="164592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663440"/>
            <a:ext cx="9784080" cy="1463040"/>
          </a:xfrm>
          <a:prstGeom prst="rect">
            <a:avLst/>
          </a:prstGeom>
          <a:noFill/>
        </p:spPr>
        <p:txBody>
          <a:bodyPr wrap="square">
            <a:spAutoFit/>
          </a:bodyPr>
          <a:lstStyle/>
          <a:p>
            <a:pPr algn="l">
              <a:defRPr sz="1300" b="1">
                <a:solidFill>
                  <a:srgbClr val="3B82F6"/>
                </a:solidFill>
              </a:defRPr>
            </a:pPr>
            <a:r>
              <a:t>The Winning Formula: AI drafts → human reviews  |  AI analyzes data → human makes decisions  |  AI generates ideas → human curates</a:t>
            </a:r>
            <a:br/>
            <a:br/>
            <a:r>
              <a:t>This is NOT about replacement. It's about amplification.</a:t>
            </a:r>
            <a:br/>
            <a:r>
              <a:t>Your job is not at risk from AI. Your job is at risk from someone who knows how to USE AI.</a:t>
            </a:r>
          </a:p>
        </p:txBody>
      </p:sp>
      <p:sp>
        <p:nvSpPr>
          <p:cNvPr id="9" name="TextBox 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731520"/>
            <a:ext cx="10332720" cy="914400"/>
          </a:xfrm>
          <a:prstGeom prst="rect">
            <a:avLst/>
          </a:prstGeom>
          <a:noFill/>
        </p:spPr>
        <p:txBody>
          <a:bodyPr wrap="square">
            <a:spAutoFit/>
          </a:bodyPr>
          <a:lstStyle/>
          <a:p>
            <a:pPr algn="l">
              <a:defRPr sz="3600" b="1">
                <a:solidFill>
                  <a:srgbClr val="3B82F6"/>
                </a:solidFill>
              </a:defRPr>
            </a:pPr>
            <a:r>
              <a:t>Key Takeaways</a:t>
            </a:r>
          </a:p>
        </p:txBody>
      </p:sp>
      <p:sp>
        <p:nvSpPr>
          <p:cNvPr id="3" name="Oval 2"/>
          <p:cNvSpPr/>
          <p:nvPr/>
        </p:nvSpPr>
        <p:spPr>
          <a:xfrm>
            <a:off x="914400" y="164592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400">
                <a:solidFill>
                  <a:srgbClr val="FFFFFF"/>
                </a:solidFill>
              </a:defRPr>
            </a:pPr>
            <a:r>
              <a:t>1</a:t>
            </a:r>
          </a:p>
        </p:txBody>
      </p:sp>
      <p:sp>
        <p:nvSpPr>
          <p:cNvPr id="4" name="TextBox 3"/>
          <p:cNvSpPr txBox="1"/>
          <p:nvPr/>
        </p:nvSpPr>
        <p:spPr>
          <a:xfrm>
            <a:off x="1645920" y="1691640"/>
            <a:ext cx="9601200" cy="457200"/>
          </a:xfrm>
          <a:prstGeom prst="rect">
            <a:avLst/>
          </a:prstGeom>
          <a:noFill/>
        </p:spPr>
        <p:txBody>
          <a:bodyPr wrap="square">
            <a:spAutoFit/>
          </a:bodyPr>
          <a:lstStyle/>
          <a:p>
            <a:pPr algn="l">
              <a:defRPr sz="1600" b="0">
                <a:solidFill>
                  <a:srgbClr val="1A1A1A"/>
                </a:solidFill>
              </a:defRPr>
            </a:pPr>
            <a:r>
              <a:t>LLMs are pattern-matching at scale — not magic, just math trained on trillions of examples.</a:t>
            </a:r>
          </a:p>
        </p:txBody>
      </p:sp>
      <p:sp>
        <p:nvSpPr>
          <p:cNvPr id="5" name="Oval 4"/>
          <p:cNvSpPr/>
          <p:nvPr/>
        </p:nvSpPr>
        <p:spPr>
          <a:xfrm>
            <a:off x="914400" y="233172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400">
                <a:solidFill>
                  <a:srgbClr val="FFFFFF"/>
                </a:solidFill>
              </a:defRPr>
            </a:pPr>
            <a:r>
              <a:t>2</a:t>
            </a:r>
          </a:p>
        </p:txBody>
      </p:sp>
      <p:sp>
        <p:nvSpPr>
          <p:cNvPr id="6" name="TextBox 5"/>
          <p:cNvSpPr txBox="1"/>
          <p:nvPr/>
        </p:nvSpPr>
        <p:spPr>
          <a:xfrm>
            <a:off x="1645920" y="2377440"/>
            <a:ext cx="9601200" cy="457200"/>
          </a:xfrm>
          <a:prstGeom prst="rect">
            <a:avLst/>
          </a:prstGeom>
          <a:noFill/>
        </p:spPr>
        <p:txBody>
          <a:bodyPr wrap="square">
            <a:spAutoFit/>
          </a:bodyPr>
          <a:lstStyle/>
          <a:p>
            <a:pPr algn="l">
              <a:defRPr sz="1600" b="0">
                <a:solidFill>
                  <a:srgbClr val="1A1A1A"/>
                </a:solidFill>
              </a:defRPr>
            </a:pPr>
            <a:r>
              <a:t>Five key players: Anthropic, OpenAI, Google, DeepSeek, Meta. Each has distinct strengths.</a:t>
            </a:r>
          </a:p>
        </p:txBody>
      </p:sp>
      <p:sp>
        <p:nvSpPr>
          <p:cNvPr id="7" name="Oval 6"/>
          <p:cNvSpPr/>
          <p:nvPr/>
        </p:nvSpPr>
        <p:spPr>
          <a:xfrm>
            <a:off x="914400" y="301752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400">
                <a:solidFill>
                  <a:srgbClr val="FFFFFF"/>
                </a:solidFill>
              </a:defRPr>
            </a:pPr>
            <a:r>
              <a:t>3</a:t>
            </a:r>
          </a:p>
        </p:txBody>
      </p:sp>
      <p:sp>
        <p:nvSpPr>
          <p:cNvPr id="8" name="TextBox 7"/>
          <p:cNvSpPr txBox="1"/>
          <p:nvPr/>
        </p:nvSpPr>
        <p:spPr>
          <a:xfrm>
            <a:off x="1645920" y="3063240"/>
            <a:ext cx="9601200" cy="457200"/>
          </a:xfrm>
          <a:prstGeom prst="rect">
            <a:avLst/>
          </a:prstGeom>
          <a:noFill/>
        </p:spPr>
        <p:txBody>
          <a:bodyPr wrap="square">
            <a:spAutoFit/>
          </a:bodyPr>
          <a:lstStyle/>
          <a:p>
            <a:pPr algn="l">
              <a:defRPr sz="1600" b="0">
                <a:solidFill>
                  <a:srgbClr val="1A1A1A"/>
                </a:solidFill>
              </a:defRPr>
            </a:pPr>
            <a:r>
              <a:t>Prices dropping 50%+ per year. Yesterday's premium is today's free. DeepSeek is 100x cheaper than Claude.</a:t>
            </a:r>
          </a:p>
        </p:txBody>
      </p:sp>
      <p:sp>
        <p:nvSpPr>
          <p:cNvPr id="9" name="Oval 8"/>
          <p:cNvSpPr/>
          <p:nvPr/>
        </p:nvSpPr>
        <p:spPr>
          <a:xfrm>
            <a:off x="914400" y="370332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400">
                <a:solidFill>
                  <a:srgbClr val="FFFFFF"/>
                </a:solidFill>
              </a:defRPr>
            </a:pPr>
            <a:r>
              <a:t>4</a:t>
            </a:r>
          </a:p>
        </p:txBody>
      </p:sp>
      <p:sp>
        <p:nvSpPr>
          <p:cNvPr id="10" name="TextBox 9"/>
          <p:cNvSpPr txBox="1"/>
          <p:nvPr/>
        </p:nvSpPr>
        <p:spPr>
          <a:xfrm>
            <a:off x="1645920" y="3749040"/>
            <a:ext cx="9601200" cy="457200"/>
          </a:xfrm>
          <a:prstGeom prst="rect">
            <a:avLst/>
          </a:prstGeom>
          <a:noFill/>
        </p:spPr>
        <p:txBody>
          <a:bodyPr wrap="square">
            <a:spAutoFit/>
          </a:bodyPr>
          <a:lstStyle/>
          <a:p>
            <a:pPr algn="l">
              <a:defRPr sz="1600" b="0">
                <a:solidFill>
                  <a:srgbClr val="1A1A1A"/>
                </a:solidFill>
              </a:defRPr>
            </a:pPr>
            <a:r>
              <a:t>Better prompts = better outputs. Being specific is the single highest-ROI AI skill.</a:t>
            </a:r>
          </a:p>
        </p:txBody>
      </p:sp>
      <p:sp>
        <p:nvSpPr>
          <p:cNvPr id="11" name="Oval 10"/>
          <p:cNvSpPr/>
          <p:nvPr/>
        </p:nvSpPr>
        <p:spPr>
          <a:xfrm>
            <a:off x="914400" y="438912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400">
                <a:solidFill>
                  <a:srgbClr val="FFFFFF"/>
                </a:solidFill>
              </a:defRPr>
            </a:pPr>
            <a:r>
              <a:t>5</a:t>
            </a:r>
          </a:p>
        </p:txBody>
      </p:sp>
      <p:sp>
        <p:nvSpPr>
          <p:cNvPr id="12" name="TextBox 11"/>
          <p:cNvSpPr txBox="1"/>
          <p:nvPr/>
        </p:nvSpPr>
        <p:spPr>
          <a:xfrm>
            <a:off x="1645920" y="4434840"/>
            <a:ext cx="9601200" cy="457200"/>
          </a:xfrm>
          <a:prstGeom prst="rect">
            <a:avLst/>
          </a:prstGeom>
          <a:noFill/>
        </p:spPr>
        <p:txBody>
          <a:bodyPr wrap="square">
            <a:spAutoFit/>
          </a:bodyPr>
          <a:lstStyle/>
          <a:p>
            <a:pPr algn="l">
              <a:defRPr sz="1600" b="0">
                <a:solidFill>
                  <a:srgbClr val="1A1A1A"/>
                </a:solidFill>
              </a:defRPr>
            </a:pPr>
            <a:r>
              <a:t>Start with free tiers today. Claude.ai and ChatGPT are free. You can be productive in 30 minutes.</a:t>
            </a:r>
          </a:p>
        </p:txBody>
      </p:sp>
      <p:sp>
        <p:nvSpPr>
          <p:cNvPr id="13" name="Oval 12"/>
          <p:cNvSpPr/>
          <p:nvPr/>
        </p:nvSpPr>
        <p:spPr>
          <a:xfrm>
            <a:off x="914400" y="507492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400">
                <a:solidFill>
                  <a:srgbClr val="FFFFFF"/>
                </a:solidFill>
              </a:defRPr>
            </a:pPr>
            <a:r>
              <a:t>6</a:t>
            </a:r>
          </a:p>
        </p:txBody>
      </p:sp>
      <p:sp>
        <p:nvSpPr>
          <p:cNvPr id="14" name="TextBox 13"/>
          <p:cNvSpPr txBox="1"/>
          <p:nvPr/>
        </p:nvSpPr>
        <p:spPr>
          <a:xfrm>
            <a:off x="1645920" y="5120640"/>
            <a:ext cx="9601200" cy="457200"/>
          </a:xfrm>
          <a:prstGeom prst="rect">
            <a:avLst/>
          </a:prstGeom>
          <a:noFill/>
        </p:spPr>
        <p:txBody>
          <a:bodyPr wrap="square">
            <a:spAutoFit/>
          </a:bodyPr>
          <a:lstStyle/>
          <a:p>
            <a:pPr algn="l">
              <a:defRPr sz="1600" b="0">
                <a:solidFill>
                  <a:srgbClr val="1A1A1A"/>
                </a:solidFill>
              </a:defRPr>
            </a:pPr>
            <a:r>
              <a:t>RAG feeds your documents to AI — the most practical way to make AI useful for YOUR business.</a:t>
            </a:r>
          </a:p>
        </p:txBody>
      </p:sp>
      <p:sp>
        <p:nvSpPr>
          <p:cNvPr id="15" name="Oval 14"/>
          <p:cNvSpPr/>
          <p:nvPr/>
        </p:nvSpPr>
        <p:spPr>
          <a:xfrm>
            <a:off x="914400" y="576072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400">
                <a:solidFill>
                  <a:srgbClr val="FFFFFF"/>
                </a:solidFill>
              </a:defRPr>
            </a:pPr>
            <a:r>
              <a:t>7</a:t>
            </a:r>
          </a:p>
        </p:txBody>
      </p:sp>
      <p:sp>
        <p:nvSpPr>
          <p:cNvPr id="16" name="TextBox 15"/>
          <p:cNvSpPr txBox="1"/>
          <p:nvPr/>
        </p:nvSpPr>
        <p:spPr>
          <a:xfrm>
            <a:off x="1645920" y="5806440"/>
            <a:ext cx="9601200" cy="457200"/>
          </a:xfrm>
          <a:prstGeom prst="rect">
            <a:avLst/>
          </a:prstGeom>
          <a:noFill/>
        </p:spPr>
        <p:txBody>
          <a:bodyPr wrap="square">
            <a:spAutoFit/>
          </a:bodyPr>
          <a:lstStyle/>
          <a:p>
            <a:pPr algn="l">
              <a:defRPr sz="1600" b="0">
                <a:solidFill>
                  <a:srgbClr val="1A1A1A"/>
                </a:solidFill>
              </a:defRPr>
            </a:pPr>
            <a:r>
              <a:t>AI amplifies humans. It doesn't replace them. The winning formula: AI + human judgment.</a:t>
            </a:r>
          </a:p>
        </p:txBody>
      </p:sp>
      <p:sp>
        <p:nvSpPr>
          <p:cNvPr id="17" name="TextBox 16"/>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ctr">
              <a:defRPr sz="5200" b="1">
                <a:solidFill>
                  <a:srgbClr val="3B82F6"/>
                </a:solidFill>
              </a:defRPr>
            </a:pPr>
            <a:r>
              <a:t>Questions?</a:t>
            </a:r>
          </a:p>
        </p:txBody>
      </p:sp>
      <p:sp>
        <p:nvSpPr>
          <p:cNvPr id="3" name="TextBox 2"/>
          <p:cNvSpPr txBox="1"/>
          <p:nvPr/>
        </p:nvSpPr>
        <p:spPr>
          <a:xfrm>
            <a:off x="914400" y="3200400"/>
            <a:ext cx="10332720" cy="914400"/>
          </a:xfrm>
          <a:prstGeom prst="rect">
            <a:avLst/>
          </a:prstGeom>
          <a:noFill/>
        </p:spPr>
        <p:txBody>
          <a:bodyPr wrap="square">
            <a:spAutoFit/>
          </a:bodyPr>
          <a:lstStyle/>
          <a:p>
            <a:pPr algn="ctr">
              <a:defRPr sz="1800" b="0">
                <a:solidFill>
                  <a:srgbClr val="1A1A1A"/>
                </a:solidFill>
              </a:defRPr>
            </a:pPr>
            <a:r>
              <a:t>Ask me anything about AI, LLMs, or how to get started</a:t>
            </a:r>
          </a:p>
        </p:txBody>
      </p:sp>
      <p:sp>
        <p:nvSpPr>
          <p:cNvPr id="4" name="TextBox 3"/>
          <p:cNvSpPr txBox="1"/>
          <p:nvPr/>
        </p:nvSpPr>
        <p:spPr>
          <a:xfrm>
            <a:off x="914400" y="4572000"/>
            <a:ext cx="10332720" cy="457200"/>
          </a:xfrm>
          <a:prstGeom prst="rect">
            <a:avLst/>
          </a:prstGeom>
          <a:noFill/>
        </p:spPr>
        <p:txBody>
          <a:bodyPr wrap="square">
            <a:spAutoFit/>
          </a:bodyPr>
          <a:lstStyle/>
          <a:p>
            <a:pPr algn="ctr">
              <a:defRPr sz="1400" b="0">
                <a:solidFill>
                  <a:srgbClr val="888880"/>
                </a:solidFill>
              </a:defRPr>
            </a:pPr>
            <a:r>
              <a:t>ai-playbook.pages.dev  •  claude.ai  •  chatgpt.com  •  gemini.google.com</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