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Level 3 Deep-Dive. Today we will bypass conceptual summaries to explore the deep mathematics, GPU kernel optimizations, active scaling bottlenecks, reasoning path search algorithms, and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the structural mathematics of modern autoregressive models, exploring why scaled attention exists, how FlashAttention operates on GPUs, and mapping KV cache size limits.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Dot product attention forms the core. Explain that without dividing by the square root of d_k, training deep architectures is physically impossible due to softmax gradient death.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the GPU constraint. LLMs are memory-bandwidth bound rather than compute-bound. FlashAttention is a software engineering trick that speeds up training and inference purely by optimizing GPU memory hierarchy usage.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MoE routing. The gating network decides which expert network is best suited for each token. This allows models to act highly knowledgeable on specialized topics without inflating active inference 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linear scaling problem. Because we must store keys and values in GPU RAM to avoid recalculation, longer prompts eat up massive amounts of memory. Explain GQA as the primary architecture solution.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Part 2, we explore the paradigm shift to reasoning systems like o1/o3 and DeepSeek-R1, and inspect the algorithms that govern thinking paths.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reasoning models decouple model size from capability. An 8B parameter model trained with test-time search can beat a massive 70B static model on complex math and coding tasks.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Differentiate these methods. CoT is linear. ToT is branching with search. PRM is the judge grading each logic step. DeepSeek-R1 combines GRPO reinforcement learning with PRM-like metrics to align reasoning outputs.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final section, we look at deployment realities: speculative decoding, precision quantization tradeoffs, the mathematics of RAGAS, and custom routing pipelines.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Speculative decoding and quantization are the twin workhorses of LLMOps. Explain how they make massive models accessible on standard GPU servers.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RAGAS framework. Standard software testing fails with LLMs due to non-deterministic outputs. RAGAS uses LLMs as judges to score faithfulness, relevance, recall, and precision mathematically.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Cascade Routing. It is a critical design pattern in LLMOps. By categorizing prompts early, we achieve the latency and cost footprint of a small model with the capabilities of a frontier system.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floor for research and deep-dive technical questions. Address topics such as flash-attention hardware constraints, RoPE sequence extrapolation limits, or reinforcement learning GRPO implementations.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645920"/>
            <a:ext cx="10332720" cy="1371600"/>
          </a:xfrm>
          <a:prstGeom prst="rect">
            <a:avLst/>
          </a:prstGeom>
          <a:noFill/>
        </p:spPr>
        <p:txBody>
          <a:bodyPr wrap="square">
            <a:spAutoFit/>
          </a:bodyPr>
          <a:lstStyle/>
          <a:p>
            <a:pPr algn="l">
              <a:defRPr sz="4000" b="1">
                <a:solidFill>
                  <a:srgbClr val="3B82F6"/>
                </a:solidFill>
              </a:defRPr>
            </a:pPr>
            <a:r>
              <a:t>AI Research &amp; Deep-Dives: Math &amp; Systems</a:t>
            </a:r>
          </a:p>
        </p:txBody>
      </p:sp>
      <p:sp>
        <p:nvSpPr>
          <p:cNvPr id="3" name="TextBox 2"/>
          <p:cNvSpPr txBox="1"/>
          <p:nvPr/>
        </p:nvSpPr>
        <p:spPr>
          <a:xfrm>
            <a:off x="914400" y="2926080"/>
            <a:ext cx="10332720" cy="914400"/>
          </a:xfrm>
          <a:prstGeom prst="rect">
            <a:avLst/>
          </a:prstGeom>
          <a:noFill/>
        </p:spPr>
        <p:txBody>
          <a:bodyPr wrap="square">
            <a:spAutoFit/>
          </a:bodyPr>
          <a:lstStyle/>
          <a:p>
            <a:pPr algn="l">
              <a:defRPr sz="2200" b="0">
                <a:solidFill>
                  <a:srgbClr val="1A1A1A"/>
                </a:solidFill>
              </a:defRPr>
            </a:pPr>
            <a:r>
              <a:t>Transformer Internals, Reasoning Paradigms, &amp; Inference Optimization</a:t>
            </a:r>
          </a:p>
        </p:txBody>
      </p:sp>
      <p:sp>
        <p:nvSpPr>
          <p:cNvPr id="4" name="TextBox 3"/>
          <p:cNvSpPr txBox="1"/>
          <p:nvPr/>
        </p:nvSpPr>
        <p:spPr>
          <a:xfrm>
            <a:off x="914400" y="3840480"/>
            <a:ext cx="10332720" cy="548640"/>
          </a:xfrm>
          <a:prstGeom prst="rect">
            <a:avLst/>
          </a:prstGeom>
          <a:noFill/>
        </p:spPr>
        <p:txBody>
          <a:bodyPr wrap="square">
            <a:spAutoFit/>
          </a:bodyPr>
          <a:lstStyle/>
          <a:p>
            <a:pPr algn="l">
              <a:defRPr sz="1300" b="0">
                <a:solidFill>
                  <a:srgbClr val="888880"/>
                </a:solidFill>
              </a:defRPr>
            </a:pPr>
            <a:r>
              <a:t>Level 3: Deep-Dive Presentation  •  AI Playbook</a:t>
            </a:r>
          </a:p>
        </p:txBody>
      </p:sp>
      <p:sp>
        <p:nvSpPr>
          <p:cNvPr id="5" name="Rectangle 4"/>
          <p:cNvSpPr/>
          <p:nvPr/>
        </p:nvSpPr>
        <p:spPr>
          <a:xfrm>
            <a:off x="914400" y="2834640"/>
            <a:ext cx="164592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3B82F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l">
              <a:defRPr sz="1800" b="0">
                <a:solidFill>
                  <a:srgbClr val="FFFFFF"/>
                </a:solidFill>
              </a:defRPr>
            </a:pPr>
            <a:r>
              <a:t>Part 1</a:t>
            </a:r>
          </a:p>
        </p:txBody>
      </p:sp>
      <p:sp>
        <p:nvSpPr>
          <p:cNvPr id="3" name="TextBox 2"/>
          <p:cNvSpPr txBox="1"/>
          <p:nvPr/>
        </p:nvSpPr>
        <p:spPr>
          <a:xfrm>
            <a:off x="914400" y="2743200"/>
            <a:ext cx="10332720" cy="1371600"/>
          </a:xfrm>
          <a:prstGeom prst="rect">
            <a:avLst/>
          </a:prstGeom>
          <a:noFill/>
        </p:spPr>
        <p:txBody>
          <a:bodyPr wrap="square">
            <a:spAutoFit/>
          </a:bodyPr>
          <a:lstStyle/>
          <a:p>
            <a:pPr algn="l">
              <a:defRPr sz="3600" b="1">
                <a:solidFill>
                  <a:srgbClr val="FFFFFF"/>
                </a:solidFill>
              </a:defRPr>
            </a:pPr>
            <a:r>
              <a:t>Transformer Internals &amp; Scaling Math</a:t>
            </a:r>
          </a:p>
        </p:txBody>
      </p:sp>
      <p:sp>
        <p:nvSpPr>
          <p:cNvPr id="4" name="TextBox 3"/>
          <p:cNvSpPr txBox="1"/>
          <p:nvPr/>
        </p:nvSpPr>
        <p:spPr>
          <a:xfrm>
            <a:off x="914400" y="3840480"/>
            <a:ext cx="10332720" cy="914400"/>
          </a:xfrm>
          <a:prstGeom prst="rect">
            <a:avLst/>
          </a:prstGeom>
          <a:noFill/>
        </p:spPr>
        <p:txBody>
          <a:bodyPr wrap="square">
            <a:spAutoFit/>
          </a:bodyPr>
          <a:lstStyle/>
          <a:p>
            <a:pPr algn="l">
              <a:defRPr sz="1600" b="0">
                <a:solidFill>
                  <a:srgbClr val="BFDBFE"/>
                </a:solidFill>
              </a:defRPr>
            </a:pPr>
            <a:r>
              <a:t>Attention mathematics, GPU kernel fusion, MoE gating, and cache footprints</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The Mathematical Core: Scaled Dot-Product Attention</a:t>
            </a:r>
          </a:p>
        </p:txBody>
      </p:sp>
      <p:sp>
        <p:nvSpPr>
          <p:cNvPr id="3" name="Rounded Rectangle 2"/>
          <p:cNvSpPr/>
          <p:nvPr/>
        </p:nvSpPr>
        <p:spPr>
          <a:xfrm>
            <a:off x="914400" y="914400"/>
            <a:ext cx="4846320" cy="2011680"/>
          </a:xfrm>
          <a:prstGeom prst="roundRect">
            <a:avLst/>
          </a:prstGeom>
          <a:solidFill>
            <a:srgbClr val="1A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4480560" cy="1097280"/>
          </a:xfrm>
          <a:prstGeom prst="rect">
            <a:avLst/>
          </a:prstGeom>
          <a:noFill/>
        </p:spPr>
        <p:txBody>
          <a:bodyPr wrap="square">
            <a:spAutoFit/>
          </a:bodyPr>
          <a:lstStyle/>
          <a:p>
            <a:pPr algn="ctr">
              <a:defRPr sz="2200" b="1">
                <a:solidFill>
                  <a:srgbClr val="FFFFFF"/>
                </a:solidFill>
              </a:defRPr>
            </a:pPr>
            <a:r>
              <a:t>Attention(Q, K, V) = softmax( QK^T / √d_k ) V</a:t>
            </a:r>
          </a:p>
        </p:txBody>
      </p:sp>
      <p:sp>
        <p:nvSpPr>
          <p:cNvPr id="5" name="TextBox 4"/>
          <p:cNvSpPr txBox="1"/>
          <p:nvPr/>
        </p:nvSpPr>
        <p:spPr>
          <a:xfrm>
            <a:off x="914400" y="3108960"/>
            <a:ext cx="4846320" cy="2743200"/>
          </a:xfrm>
          <a:prstGeom prst="rect">
            <a:avLst/>
          </a:prstGeom>
          <a:noFill/>
        </p:spPr>
        <p:txBody>
          <a:bodyPr wrap="square">
            <a:spAutoFit/>
          </a:bodyPr>
          <a:lstStyle/>
          <a:p>
            <a:pPr algn="l">
              <a:defRPr sz="1250" b="0">
                <a:solidFill>
                  <a:srgbClr val="1A1A1A"/>
                </a:solidFill>
              </a:defRPr>
            </a:pPr>
            <a:r>
              <a:t>Where variables denote:</a:t>
            </a:r>
            <a:br/>
            <a:r>
              <a:t>• Q (Query): The token seeking context.</a:t>
            </a:r>
            <a:br/>
            <a:r>
              <a:t>• K (Key): The tokens offering context.</a:t>
            </a:r>
            <a:br/>
            <a:r>
              <a:t>• V (Value): The actual information payload.</a:t>
            </a:r>
            <a:br/>
            <a:r>
              <a:t>• d_k: The dimension of query and key vectors.</a:t>
            </a:r>
          </a:p>
        </p:txBody>
      </p:sp>
      <p:sp>
        <p:nvSpPr>
          <p:cNvPr id="6" name="Rounded Rectangle 5"/>
          <p:cNvSpPr/>
          <p:nvPr/>
        </p:nvSpPr>
        <p:spPr>
          <a:xfrm>
            <a:off x="6217920" y="914400"/>
            <a:ext cx="5029200" cy="420624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051560"/>
            <a:ext cx="4663440" cy="365760"/>
          </a:xfrm>
          <a:prstGeom prst="rect">
            <a:avLst/>
          </a:prstGeom>
          <a:noFill/>
        </p:spPr>
        <p:txBody>
          <a:bodyPr wrap="square">
            <a:spAutoFit/>
          </a:bodyPr>
          <a:lstStyle/>
          <a:p>
            <a:pPr algn="l">
              <a:defRPr sz="1500" b="1">
                <a:solidFill>
                  <a:srgbClr val="3B82F6"/>
                </a:solidFill>
              </a:defRPr>
            </a:pPr>
            <a:r>
              <a:t>Why the scaling factor √d_k matters:</a:t>
            </a:r>
          </a:p>
        </p:txBody>
      </p:sp>
      <p:sp>
        <p:nvSpPr>
          <p:cNvPr id="8" name="TextBox 7"/>
          <p:cNvSpPr txBox="1"/>
          <p:nvPr/>
        </p:nvSpPr>
        <p:spPr>
          <a:xfrm>
            <a:off x="6400800" y="1463040"/>
            <a:ext cx="4663440" cy="3474720"/>
          </a:xfrm>
          <a:prstGeom prst="rect">
            <a:avLst/>
          </a:prstGeom>
          <a:noFill/>
        </p:spPr>
        <p:txBody>
          <a:bodyPr wrap="square">
            <a:spAutoFit/>
          </a:bodyPr>
          <a:lstStyle/>
          <a:p>
            <a:pPr algn="l">
              <a:defRPr sz="1200" b="0">
                <a:solidFill>
                  <a:srgbClr val="1A1A1A"/>
                </a:solidFill>
              </a:defRPr>
            </a:pPr>
            <a:r>
              <a:t>As dimension d_k grows large, the dot products grow large in magnitude.</a:t>
            </a:r>
            <a:br/>
            <a:br/>
            <a:r>
              <a:t>This pushes the softmax function into regions with extremely small gradients (the vanishing gradient problem).</a:t>
            </a:r>
            <a:br/>
            <a:br/>
            <a:r>
              <a:t>Dividing by √d_k stabilizes the variance of the dot products to 1, ensuring softmax outputs do not saturate at 0 or 1.</a:t>
            </a:r>
            <a:br/>
            <a:br/>
            <a:r>
              <a:t>Softmax Saturation = Softmax derivative drops to 0, which halts backpropagation training immediately.</a:t>
            </a:r>
          </a:p>
        </p:txBody>
      </p:sp>
      <p:sp>
        <p:nvSpPr>
          <p:cNvPr id="9" name="Rounded Rectangle 8"/>
          <p:cNvSpPr/>
          <p:nvPr/>
        </p:nvSpPr>
        <p:spPr>
          <a:xfrm>
            <a:off x="914400" y="5303520"/>
            <a:ext cx="10332720" cy="73152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5440680"/>
            <a:ext cx="9784080" cy="457200"/>
          </a:xfrm>
          <a:prstGeom prst="rect">
            <a:avLst/>
          </a:prstGeom>
          <a:noFill/>
        </p:spPr>
        <p:txBody>
          <a:bodyPr wrap="square">
            <a:spAutoFit/>
          </a:bodyPr>
          <a:lstStyle/>
          <a:p>
            <a:pPr algn="l">
              <a:defRPr sz="1100" b="1">
                <a:solidFill>
                  <a:srgbClr val="3B82F6"/>
                </a:solidFill>
              </a:defRPr>
            </a:pPr>
            <a:r>
              <a:t>Softmax saturation makes gradient updates impossible. The scaling factor is the key to training large hidden states.</a:t>
            </a:r>
          </a:p>
        </p:txBody>
      </p:sp>
      <p:sp>
        <p:nvSpPr>
          <p:cNvPr id="11" name="TextBox 10"/>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Hardware Optimizations: RoPE &amp; FlashAttention</a:t>
            </a:r>
          </a:p>
        </p:txBody>
      </p:sp>
      <p:sp>
        <p:nvSpPr>
          <p:cNvPr id="3" name="Rounded Rectangle 2"/>
          <p:cNvSpPr/>
          <p:nvPr/>
        </p:nvSpPr>
        <p:spPr>
          <a:xfrm>
            <a:off x="914400" y="914400"/>
            <a:ext cx="4846320" cy="420624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51560"/>
            <a:ext cx="4480560" cy="365760"/>
          </a:xfrm>
          <a:prstGeom prst="rect">
            <a:avLst/>
          </a:prstGeom>
          <a:noFill/>
        </p:spPr>
        <p:txBody>
          <a:bodyPr wrap="square">
            <a:spAutoFit/>
          </a:bodyPr>
          <a:lstStyle/>
          <a:p>
            <a:pPr algn="l">
              <a:defRPr sz="1600" b="1">
                <a:solidFill>
                  <a:srgbClr val="3B82F6"/>
                </a:solidFill>
              </a:defRPr>
            </a:pPr>
            <a:r>
              <a:t>Rotary Position Embeddings (RoPE)</a:t>
            </a:r>
          </a:p>
        </p:txBody>
      </p:sp>
      <p:sp>
        <p:nvSpPr>
          <p:cNvPr id="5" name="TextBox 4"/>
          <p:cNvSpPr txBox="1"/>
          <p:nvPr/>
        </p:nvSpPr>
        <p:spPr>
          <a:xfrm>
            <a:off x="1097280" y="1508760"/>
            <a:ext cx="4480560" cy="3474720"/>
          </a:xfrm>
          <a:prstGeom prst="rect">
            <a:avLst/>
          </a:prstGeom>
          <a:noFill/>
        </p:spPr>
        <p:txBody>
          <a:bodyPr wrap="square">
            <a:spAutoFit/>
          </a:bodyPr>
          <a:lstStyle/>
          <a:p>
            <a:pPr algn="l">
              <a:defRPr sz="1150" b="0">
                <a:solidFill>
                  <a:srgbClr val="1A1A1A"/>
                </a:solidFill>
              </a:defRPr>
            </a:pPr>
            <a:r>
              <a:t>Instead of adding absolute position markers to word embeddings, RoPE applies a 2D rotation matrix directly to Q and K projections in complex vector space.</a:t>
            </a:r>
            <a:br/>
            <a:br/>
            <a:r>
              <a:t>• Preserves relative distances: The decay of rotation mathematically aligns with natural token distance.</a:t>
            </a:r>
            <a:br/>
            <a:r>
              <a:t>• Dynamic Extrapolation: Allows models to scale from 8K training context windows to 1M inference context windows at runtime without retraining.</a:t>
            </a:r>
          </a:p>
        </p:txBody>
      </p:sp>
      <p:sp>
        <p:nvSpPr>
          <p:cNvPr id="6" name="Rounded Rectangle 5"/>
          <p:cNvSpPr/>
          <p:nvPr/>
        </p:nvSpPr>
        <p:spPr>
          <a:xfrm>
            <a:off x="6400800" y="914400"/>
            <a:ext cx="4846320" cy="420624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051560"/>
            <a:ext cx="4480560" cy="365760"/>
          </a:xfrm>
          <a:prstGeom prst="rect">
            <a:avLst/>
          </a:prstGeom>
          <a:noFill/>
        </p:spPr>
        <p:txBody>
          <a:bodyPr wrap="square">
            <a:spAutoFit/>
          </a:bodyPr>
          <a:lstStyle/>
          <a:p>
            <a:pPr algn="l">
              <a:defRPr sz="1600" b="1">
                <a:solidFill>
                  <a:srgbClr val="16A34A"/>
                </a:solidFill>
              </a:defRPr>
            </a:pPr>
            <a:r>
              <a:t>FlashAttention (Kernel Fusion)</a:t>
            </a:r>
          </a:p>
        </p:txBody>
      </p:sp>
      <p:sp>
        <p:nvSpPr>
          <p:cNvPr id="8" name="TextBox 7"/>
          <p:cNvSpPr txBox="1"/>
          <p:nvPr/>
        </p:nvSpPr>
        <p:spPr>
          <a:xfrm>
            <a:off x="6583680" y="1508760"/>
            <a:ext cx="4480560" cy="3474720"/>
          </a:xfrm>
          <a:prstGeom prst="rect">
            <a:avLst/>
          </a:prstGeom>
          <a:noFill/>
        </p:spPr>
        <p:txBody>
          <a:bodyPr wrap="square">
            <a:spAutoFit/>
          </a:bodyPr>
          <a:lstStyle/>
          <a:p>
            <a:pPr algn="l">
              <a:defRPr sz="1150" b="0">
                <a:solidFill>
                  <a:srgbClr val="1A1A1A"/>
                </a:solidFill>
              </a:defRPr>
            </a:pPr>
            <a:r>
              <a:t>Standard attention is memory-bound (reading/writing massive intermediate matrices from slow High Bandwidth Memory [HBM] to fast GPU SRAM).</a:t>
            </a:r>
            <a:br/>
            <a:br/>
            <a:r>
              <a:t>• FlashAttention fuses the attention kernel to operate entirely in SRAM, bypassing expensive DRAM round-trips.</a:t>
            </a:r>
            <a:br/>
            <a:r>
              <a:t>• Computes softmax increments progressively online rather than storing the full N x N matrix.</a:t>
            </a:r>
            <a:br/>
            <a:r>
              <a:t>• Yields a 2x-4x speedup in wall-clock execution time.</a:t>
            </a:r>
          </a:p>
        </p:txBody>
      </p:sp>
      <p:sp>
        <p:nvSpPr>
          <p:cNvPr id="9" name="Rounded Rectangle 8"/>
          <p:cNvSpPr/>
          <p:nvPr/>
        </p:nvSpPr>
        <p:spPr>
          <a:xfrm>
            <a:off x="914400" y="5303520"/>
            <a:ext cx="10332720" cy="731520"/>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5440680"/>
            <a:ext cx="9784080" cy="502920"/>
          </a:xfrm>
          <a:prstGeom prst="rect">
            <a:avLst/>
          </a:prstGeom>
          <a:noFill/>
        </p:spPr>
        <p:txBody>
          <a:bodyPr wrap="square">
            <a:spAutoFit/>
          </a:bodyPr>
          <a:lstStyle/>
          <a:p>
            <a:pPr algn="l">
              <a:defRPr sz="1100" b="1">
                <a:solidFill>
                  <a:srgbClr val="16A34A"/>
                </a:solidFill>
              </a:defRPr>
            </a:pPr>
            <a:r>
              <a:t>Key: RoPE enables flexible context scaling. FlashAttention bypasses memory transfer bottlenecks on the GPU.</a:t>
            </a:r>
          </a:p>
        </p:txBody>
      </p:sp>
      <p:sp>
        <p:nvSpPr>
          <p:cNvPr id="11" name="TextBox 10"/>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Scaling Sparsity: Mixture of Experts (MoE)</a:t>
            </a:r>
          </a:p>
        </p:txBody>
      </p:sp>
      <p:sp>
        <p:nvSpPr>
          <p:cNvPr id="3" name="TextBox 2"/>
          <p:cNvSpPr txBox="1"/>
          <p:nvPr/>
        </p:nvSpPr>
        <p:spPr>
          <a:xfrm>
            <a:off x="914400" y="914400"/>
            <a:ext cx="10332720" cy="1097280"/>
          </a:xfrm>
          <a:prstGeom prst="rect">
            <a:avLst/>
          </a:prstGeom>
          <a:noFill/>
        </p:spPr>
        <p:txBody>
          <a:bodyPr wrap="square">
            <a:spAutoFit/>
          </a:bodyPr>
          <a:lstStyle/>
          <a:p>
            <a:pPr algn="l">
              <a:defRPr sz="1250" b="0">
                <a:solidFill>
                  <a:srgbClr val="1A1A1A"/>
                </a:solidFill>
              </a:defRPr>
            </a:pPr>
            <a:r>
              <a:t>Mixture-of-Experts (MoE) scales model parameters while maintaining a flat compute footprint. Instead of routing a token through every layer's neural connections, a router directs it to only a small subset of experts.</a:t>
            </a:r>
          </a:p>
        </p:txBody>
      </p:sp>
      <p:sp>
        <p:nvSpPr>
          <p:cNvPr id="4" name="Rounded Rectangle 3"/>
          <p:cNvSpPr/>
          <p:nvPr/>
        </p:nvSpPr>
        <p:spPr>
          <a:xfrm>
            <a:off x="914400" y="2651760"/>
            <a:ext cx="1920240" cy="128016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050">
                <a:solidFill>
                  <a:srgbClr val="FFFFFF"/>
                </a:solidFill>
              </a:defRPr>
            </a:pPr>
            <a:r>
              <a:t>Router Network</a:t>
            </a:r>
            <a:br/>
            <a:br/>
            <a:r>
              <a:t>Analyzes token &amp; assigns weights</a:t>
            </a:r>
          </a:p>
        </p:txBody>
      </p:sp>
      <p:cxnSp>
        <p:nvCxnSpPr>
          <p:cNvPr id="5" name="Connector 4"/>
          <p:cNvCxnSpPr/>
          <p:nvPr/>
        </p:nvCxnSpPr>
        <p:spPr>
          <a:xfrm flipV="1">
            <a:off x="2834640" y="2395728"/>
            <a:ext cx="2194560" cy="896112.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834640" y="3291840.0"/>
            <a:ext cx="2194560" cy="18288.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34640" y="3291840.0"/>
            <a:ext cx="2194560" cy="932688.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0" y="2011680"/>
            <a:ext cx="1920240" cy="777240"/>
          </a:xfrm>
          <a:prstGeom prst="round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050">
                <a:solidFill>
                  <a:srgbClr val="FFFFFF"/>
                </a:solidFill>
              </a:defRPr>
            </a:pPr>
            <a:r>
              <a:t>Expert 1 (Math)</a:t>
            </a:r>
            <a:br/>
            <a:br/>
            <a:r>
              <a:t>Processes reasoning tokens</a:t>
            </a:r>
          </a:p>
        </p:txBody>
      </p:sp>
      <p:cxnSp>
        <p:nvCxnSpPr>
          <p:cNvPr id="9" name="Connector 8"/>
          <p:cNvCxnSpPr/>
          <p:nvPr/>
        </p:nvCxnSpPr>
        <p:spPr>
          <a:xfrm>
            <a:off x="6949440" y="2395728"/>
            <a:ext cx="2377440" cy="896112.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29200" y="2926080"/>
            <a:ext cx="1920240" cy="777240"/>
          </a:xfrm>
          <a:prstGeom prst="round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050">
                <a:solidFill>
                  <a:srgbClr val="FFFFFF"/>
                </a:solidFill>
              </a:defRPr>
            </a:pPr>
            <a:r>
              <a:t>Expert 2 (Code)</a:t>
            </a:r>
            <a:br/>
            <a:br/>
            <a:r>
              <a:t>Processes syntax tokens</a:t>
            </a:r>
          </a:p>
        </p:txBody>
      </p:sp>
      <p:cxnSp>
        <p:nvCxnSpPr>
          <p:cNvPr id="11" name="Connector 10"/>
          <p:cNvCxnSpPr/>
          <p:nvPr/>
        </p:nvCxnSpPr>
        <p:spPr>
          <a:xfrm flipV="1">
            <a:off x="6949440" y="3291840.0"/>
            <a:ext cx="2377440" cy="18288.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0" y="3840480"/>
            <a:ext cx="1920240" cy="777240"/>
          </a:xfrm>
          <a:prstGeom prst="round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050">
                <a:solidFill>
                  <a:srgbClr val="FFFFFF"/>
                </a:solidFill>
              </a:defRPr>
            </a:pPr>
            <a:r>
              <a:t>Expert 3 (Writing)</a:t>
            </a:r>
            <a:br/>
            <a:br/>
            <a:r>
              <a:t>Processes prose tokens</a:t>
            </a:r>
          </a:p>
        </p:txBody>
      </p:sp>
      <p:cxnSp>
        <p:nvCxnSpPr>
          <p:cNvPr id="13" name="Connector 12"/>
          <p:cNvCxnSpPr/>
          <p:nvPr/>
        </p:nvCxnSpPr>
        <p:spPr>
          <a:xfrm flipV="1">
            <a:off x="6949440" y="3291840.0"/>
            <a:ext cx="2377440" cy="932688.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326880" y="2651760"/>
            <a:ext cx="1920240" cy="128016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050">
                <a:solidFill>
                  <a:srgbClr val="FFFFFF"/>
                </a:solidFill>
              </a:defRPr>
            </a:pPr>
            <a:r>
              <a:t>Fused Output</a:t>
            </a:r>
            <a:br/>
            <a:br/>
            <a:r>
              <a:t>Combines top 2 expert outputs</a:t>
            </a:r>
          </a:p>
        </p:txBody>
      </p:sp>
      <p:sp>
        <p:nvSpPr>
          <p:cNvPr id="15" name="TextBox 14"/>
          <p:cNvSpPr txBox="1"/>
          <p:nvPr/>
        </p:nvSpPr>
        <p:spPr>
          <a:xfrm>
            <a:off x="914400" y="4846320"/>
            <a:ext cx="10332720" cy="1280160"/>
          </a:xfrm>
          <a:prstGeom prst="rect">
            <a:avLst/>
          </a:prstGeom>
          <a:noFill/>
        </p:spPr>
        <p:txBody>
          <a:bodyPr wrap="square">
            <a:spAutoFit/>
          </a:bodyPr>
          <a:lstStyle/>
          <a:p>
            <a:pPr algn="l">
              <a:defRPr sz="1200" b="0">
                <a:solidFill>
                  <a:srgbClr val="1A1A1A"/>
                </a:solidFill>
              </a:defRPr>
            </a:pPr>
            <a:r>
              <a:t>Mathematical routing breakdown:</a:t>
            </a:r>
            <a:br/>
            <a:r>
              <a:t>• Total Parameters vs. Active Parameters: Llama 4 MoE might host 405B parameters, but only routes to 40B active parameters per token. Gating router applies G(x) softmax across experts to select Top-K experts dynamically.</a:t>
            </a:r>
          </a:p>
        </p:txBody>
      </p:sp>
      <p:sp>
        <p:nvSpPr>
          <p:cNvPr id="16" name="TextBox 15"/>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Active Memory Bottleneck: KV Cache Scaling Math</a:t>
            </a:r>
          </a:p>
        </p:txBody>
      </p:sp>
      <p:sp>
        <p:nvSpPr>
          <p:cNvPr id="3" name="Rounded Rectangle 2"/>
          <p:cNvSpPr/>
          <p:nvPr/>
        </p:nvSpPr>
        <p:spPr>
          <a:xfrm>
            <a:off x="914400" y="914400"/>
            <a:ext cx="10332720" cy="1005840"/>
          </a:xfrm>
          <a:prstGeom prst="roundRect">
            <a:avLst/>
          </a:prstGeom>
          <a:solidFill>
            <a:srgbClr val="1A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51560"/>
            <a:ext cx="9966960" cy="777240"/>
          </a:xfrm>
          <a:prstGeom prst="rect">
            <a:avLst/>
          </a:prstGeom>
          <a:noFill/>
        </p:spPr>
        <p:txBody>
          <a:bodyPr wrap="square">
            <a:spAutoFit/>
          </a:bodyPr>
          <a:lstStyle/>
          <a:p>
            <a:pPr algn="ctr">
              <a:defRPr sz="2000" b="1">
                <a:solidFill>
                  <a:srgbClr val="FFFFFF"/>
                </a:solidFill>
              </a:defRPr>
            </a:pPr>
            <a:r>
              <a:t>KV Cache Footprint (Bytes) = 2 × 2 × n_layers × n_heads × d_head × s × b</a:t>
            </a:r>
          </a:p>
        </p:txBody>
      </p:sp>
      <p:sp>
        <p:nvSpPr>
          <p:cNvPr id="5" name="TextBox 4"/>
          <p:cNvSpPr txBox="1"/>
          <p:nvPr/>
        </p:nvSpPr>
        <p:spPr>
          <a:xfrm>
            <a:off x="914400" y="2103120"/>
            <a:ext cx="4846320" cy="2926080"/>
          </a:xfrm>
          <a:prstGeom prst="rect">
            <a:avLst/>
          </a:prstGeom>
          <a:noFill/>
        </p:spPr>
        <p:txBody>
          <a:bodyPr wrap="square">
            <a:spAutoFit/>
          </a:bodyPr>
          <a:lstStyle/>
          <a:p>
            <a:pPr algn="l">
              <a:defRPr sz="1200" b="0">
                <a:solidFill>
                  <a:srgbClr val="1A1A1A"/>
                </a:solidFill>
              </a:defRPr>
            </a:pPr>
            <a:r>
              <a:t>Where equations variables denote:</a:t>
            </a:r>
            <a:br/>
            <a:r>
              <a:t>• n_layers: Number of transformer decoder layers.</a:t>
            </a:r>
            <a:br/>
            <a:r>
              <a:t>• n_heads: Number of attention key-value heads.</a:t>
            </a:r>
            <a:br/>
            <a:r>
              <a:t>• d_head: Dimension of each head vector.</a:t>
            </a:r>
            <a:br/>
            <a:r>
              <a:t>• s: Input sequence length (context depth).</a:t>
            </a:r>
            <a:br/>
            <a:r>
              <a:t>• b: Inference batch size (parallel users).</a:t>
            </a:r>
            <a:br/>
            <a:br/>
            <a:r>
              <a:t>Note: First factor of 2 accounts for Keys &amp; Values; second factor accounts for FP16/BF16 data formats (2 bytes).</a:t>
            </a:r>
          </a:p>
        </p:txBody>
      </p:sp>
      <p:graphicFrame>
        <p:nvGraphicFramePr>
          <p:cNvPr id="6" name="Table 5"/>
          <p:cNvGraphicFramePr>
            <a:graphicFrameLocks noGrp="1"/>
          </p:cNvGraphicFramePr>
          <p:nvPr/>
        </p:nvGraphicFramePr>
        <p:xfrm>
          <a:off x="6035040" y="2103120"/>
          <a:ext cx="4912075" cy="2194560"/>
        </p:xfrm>
        <a:graphic>
          <a:graphicData uri="http://schemas.openxmlformats.org/drawingml/2006/table">
            <a:tbl>
              <a:tblPr firstRow="1" bandRow="1">
                <a:tableStyleId>{5C22544A-7EE6-4342-B048-85BDC9FD1C3A}</a:tableStyleId>
              </a:tblPr>
              <a:tblGrid>
                <a:gridCol w="701725"/>
                <a:gridCol w="701725"/>
                <a:gridCol w="701725"/>
                <a:gridCol w="701725"/>
                <a:gridCol w="701725"/>
                <a:gridCol w="701725"/>
                <a:gridCol w="701725"/>
              </a:tblGrid>
              <a:tr h="438912">
                <a:tc>
                  <a:txBody>
                    <a:bodyPr/>
                    <a:lstStyle/>
                    <a:p>
                      <a:pPr>
                        <a:defRPr sz="900" b="1">
                          <a:solidFill>
                            <a:srgbClr val="FFFFFF"/>
                          </a:solidFill>
                        </a:defRPr>
                      </a:pPr>
                      <a:r>
                        <a:t>Model</a:t>
                      </a:r>
                    </a:p>
                  </a:txBody>
                  <a:tcPr>
                    <a:solidFill>
                      <a:srgbClr val="3B82F6"/>
                    </a:solidFill>
                  </a:tcPr>
                </a:tc>
                <a:tc>
                  <a:txBody>
                    <a:bodyPr/>
                    <a:lstStyle/>
                    <a:p>
                      <a:pPr>
                        <a:defRPr sz="900" b="1">
                          <a:solidFill>
                            <a:srgbClr val="FFFFFF"/>
                          </a:solidFill>
                        </a:defRPr>
                      </a:pPr>
                      <a:r>
                        <a:t>Layers</a:t>
                      </a:r>
                    </a:p>
                  </a:txBody>
                  <a:tcPr>
                    <a:solidFill>
                      <a:srgbClr val="3B82F6"/>
                    </a:solidFill>
                  </a:tcPr>
                </a:tc>
                <a:tc>
                  <a:txBody>
                    <a:bodyPr/>
                    <a:lstStyle/>
                    <a:p>
                      <a:pPr>
                        <a:defRPr sz="900" b="1">
                          <a:solidFill>
                            <a:srgbClr val="FFFFFF"/>
                          </a:solidFill>
                        </a:defRPr>
                      </a:pPr>
                      <a:r>
                        <a:t>Heads (KV)</a:t>
                      </a:r>
                    </a:p>
                  </a:txBody>
                  <a:tcPr>
                    <a:solidFill>
                      <a:srgbClr val="3B82F6"/>
                    </a:solidFill>
                  </a:tcPr>
                </a:tc>
                <a:tc>
                  <a:txBody>
                    <a:bodyPr/>
                    <a:lstStyle/>
                    <a:p>
                      <a:pPr>
                        <a:defRPr sz="900" b="1">
                          <a:solidFill>
                            <a:srgbClr val="FFFFFF"/>
                          </a:solidFill>
                        </a:defRPr>
                      </a:pPr>
                      <a:r>
                        <a:t>Head Dim</a:t>
                      </a:r>
                    </a:p>
                  </a:txBody>
                  <a:tcPr>
                    <a:solidFill>
                      <a:srgbClr val="3B82F6"/>
                    </a:solidFill>
                  </a:tcPr>
                </a:tc>
                <a:tc>
                  <a:txBody>
                    <a:bodyPr/>
                    <a:lstStyle/>
                    <a:p>
                      <a:pPr>
                        <a:defRPr sz="900" b="1">
                          <a:solidFill>
                            <a:srgbClr val="FFFFFF"/>
                          </a:solidFill>
                        </a:defRPr>
                      </a:pPr>
                      <a:r>
                        <a:t>Sequence</a:t>
                      </a:r>
                    </a:p>
                  </a:txBody>
                  <a:tcPr>
                    <a:solidFill>
                      <a:srgbClr val="3B82F6"/>
                    </a:solidFill>
                  </a:tcPr>
                </a:tc>
                <a:tc>
                  <a:txBody>
                    <a:bodyPr/>
                    <a:lstStyle/>
                    <a:p>
                      <a:pPr>
                        <a:defRPr sz="900" b="1">
                          <a:solidFill>
                            <a:srgbClr val="FFFFFF"/>
                          </a:solidFill>
                        </a:defRPr>
                      </a:pPr>
                      <a:r>
                        <a:t>Batch</a:t>
                      </a:r>
                    </a:p>
                  </a:txBody>
                  <a:tcPr>
                    <a:solidFill>
                      <a:srgbClr val="3B82F6"/>
                    </a:solidFill>
                  </a:tcPr>
                </a:tc>
                <a:tc>
                  <a:txBody>
                    <a:bodyPr/>
                    <a:lstStyle/>
                    <a:p>
                      <a:pPr>
                        <a:defRPr sz="900" b="1">
                          <a:solidFill>
                            <a:srgbClr val="FFFFFF"/>
                          </a:solidFill>
                        </a:defRPr>
                      </a:pPr>
                      <a:r>
                        <a:t>KV Cache Size</a:t>
                      </a:r>
                    </a:p>
                  </a:txBody>
                  <a:tcPr>
                    <a:solidFill>
                      <a:srgbClr val="3B82F6"/>
                    </a:solidFill>
                  </a:tcPr>
                </a:tc>
              </a:tr>
              <a:tr h="438912">
                <a:tc>
                  <a:txBody>
                    <a:bodyPr/>
                    <a:lstStyle/>
                    <a:p>
                      <a:pPr>
                        <a:defRPr sz="1000">
                          <a:solidFill>
                            <a:srgbClr val="1A1A1A"/>
                          </a:solidFill>
                        </a:defRPr>
                      </a:pPr>
                      <a:r>
                        <a:t>Llama 3 8B</a:t>
                      </a:r>
                    </a:p>
                  </a:txBody>
                  <a:tcPr>
                    <a:solidFill>
                      <a:srgbClr val="E0DCD6"/>
                    </a:solidFill>
                  </a:tcPr>
                </a:tc>
                <a:tc>
                  <a:txBody>
                    <a:bodyPr/>
                    <a:lstStyle/>
                    <a:p>
                      <a:pPr>
                        <a:defRPr sz="1000">
                          <a:solidFill>
                            <a:srgbClr val="1A1A1A"/>
                          </a:solidFill>
                        </a:defRPr>
                      </a:pPr>
                      <a:r>
                        <a:t>32</a:t>
                      </a:r>
                    </a:p>
                  </a:txBody>
                  <a:tcPr>
                    <a:solidFill>
                      <a:srgbClr val="E0DCD6"/>
                    </a:solidFill>
                  </a:tcPr>
                </a:tc>
                <a:tc>
                  <a:txBody>
                    <a:bodyPr/>
                    <a:lstStyle/>
                    <a:p>
                      <a:pPr>
                        <a:defRPr sz="1000">
                          <a:solidFill>
                            <a:srgbClr val="1A1A1A"/>
                          </a:solidFill>
                        </a:defRPr>
                      </a:pPr>
                      <a:r>
                        <a:t>8</a:t>
                      </a:r>
                    </a:p>
                  </a:txBody>
                  <a:tcPr>
                    <a:solidFill>
                      <a:srgbClr val="E0DCD6"/>
                    </a:solidFill>
                  </a:tcPr>
                </a:tc>
                <a:tc>
                  <a:txBody>
                    <a:bodyPr/>
                    <a:lstStyle/>
                    <a:p>
                      <a:pPr>
                        <a:defRPr sz="1000">
                          <a:solidFill>
                            <a:srgbClr val="1A1A1A"/>
                          </a:solidFill>
                        </a:defRPr>
                      </a:pPr>
                      <a:r>
                        <a:t>128</a:t>
                      </a:r>
                    </a:p>
                  </a:txBody>
                  <a:tcPr>
                    <a:solidFill>
                      <a:srgbClr val="E0DCD6"/>
                    </a:solidFill>
                  </a:tcPr>
                </a:tc>
                <a:tc>
                  <a:txBody>
                    <a:bodyPr/>
                    <a:lstStyle/>
                    <a:p>
                      <a:pPr>
                        <a:defRPr sz="1000">
                          <a:solidFill>
                            <a:srgbClr val="1A1A1A"/>
                          </a:solidFill>
                        </a:defRPr>
                      </a:pPr>
                      <a:r>
                        <a:t>8,192</a:t>
                      </a:r>
                    </a:p>
                  </a:txBody>
                  <a:tcPr>
                    <a:solidFill>
                      <a:srgbClr val="E0DCD6"/>
                    </a:solidFill>
                  </a:tcPr>
                </a:tc>
                <a:tc>
                  <a:txBody>
                    <a:bodyPr/>
                    <a:lstStyle/>
                    <a:p>
                      <a:pPr>
                        <a:defRPr sz="1000">
                          <a:solidFill>
                            <a:srgbClr val="1A1A1A"/>
                          </a:solidFill>
                        </a:defRPr>
                      </a:pPr>
                      <a:r>
                        <a:t>1</a:t>
                      </a:r>
                    </a:p>
                  </a:txBody>
                  <a:tcPr>
                    <a:solidFill>
                      <a:srgbClr val="E0DCD6"/>
                    </a:solidFill>
                  </a:tcPr>
                </a:tc>
                <a:tc>
                  <a:txBody>
                    <a:bodyPr/>
                    <a:lstStyle/>
                    <a:p>
                      <a:pPr>
                        <a:defRPr sz="1000">
                          <a:solidFill>
                            <a:srgbClr val="1A1A1A"/>
                          </a:solidFill>
                        </a:defRPr>
                      </a:pPr>
                      <a:r>
                        <a:t>0.50 GB</a:t>
                      </a:r>
                    </a:p>
                  </a:txBody>
                  <a:tcPr>
                    <a:solidFill>
                      <a:srgbClr val="E0DCD6"/>
                    </a:solidFill>
                  </a:tcPr>
                </a:tc>
              </a:tr>
              <a:tr h="438912">
                <a:tc>
                  <a:txBody>
                    <a:bodyPr/>
                    <a:lstStyle/>
                    <a:p>
                      <a:pPr>
                        <a:defRPr sz="1000">
                          <a:solidFill>
                            <a:srgbClr val="1A1A1A"/>
                          </a:solidFill>
                        </a:defRPr>
                      </a:pPr>
                      <a:r>
                        <a:t>Llama 3 8B</a:t>
                      </a:r>
                    </a:p>
                  </a:txBody>
                  <a:tcPr/>
                </a:tc>
                <a:tc>
                  <a:txBody>
                    <a:bodyPr/>
                    <a:lstStyle/>
                    <a:p>
                      <a:pPr>
                        <a:defRPr sz="1000">
                          <a:solidFill>
                            <a:srgbClr val="1A1A1A"/>
                          </a:solidFill>
                        </a:defRPr>
                      </a:pPr>
                      <a:r>
                        <a:t>32</a:t>
                      </a:r>
                    </a:p>
                  </a:txBody>
                  <a:tcPr/>
                </a:tc>
                <a:tc>
                  <a:txBody>
                    <a:bodyPr/>
                    <a:lstStyle/>
                    <a:p>
                      <a:pPr>
                        <a:defRPr sz="1000">
                          <a:solidFill>
                            <a:srgbClr val="1A1A1A"/>
                          </a:solidFill>
                        </a:defRPr>
                      </a:pPr>
                      <a:r>
                        <a:t>8</a:t>
                      </a:r>
                    </a:p>
                  </a:txBody>
                  <a:tcPr/>
                </a:tc>
                <a:tc>
                  <a:txBody>
                    <a:bodyPr/>
                    <a:lstStyle/>
                    <a:p>
                      <a:pPr>
                        <a:defRPr sz="1000">
                          <a:solidFill>
                            <a:srgbClr val="1A1A1A"/>
                          </a:solidFill>
                        </a:defRPr>
                      </a:pPr>
                      <a:r>
                        <a:t>128</a:t>
                      </a:r>
                    </a:p>
                  </a:txBody>
                  <a:tcPr/>
                </a:tc>
                <a:tc>
                  <a:txBody>
                    <a:bodyPr/>
                    <a:lstStyle/>
                    <a:p>
                      <a:pPr>
                        <a:defRPr sz="1000">
                          <a:solidFill>
                            <a:srgbClr val="1A1A1A"/>
                          </a:solidFill>
                        </a:defRPr>
                      </a:pPr>
                      <a:r>
                        <a:t>8,192</a:t>
                      </a:r>
                    </a:p>
                  </a:txBody>
                  <a:tcPr/>
                </a:tc>
                <a:tc>
                  <a:txBody>
                    <a:bodyPr/>
                    <a:lstStyle/>
                    <a:p>
                      <a:pPr>
                        <a:defRPr sz="1000">
                          <a:solidFill>
                            <a:srgbClr val="1A1A1A"/>
                          </a:solidFill>
                        </a:defRPr>
                      </a:pPr>
                      <a:r>
                        <a:t>32</a:t>
                      </a:r>
                    </a:p>
                  </a:txBody>
                  <a:tcPr/>
                </a:tc>
                <a:tc>
                  <a:txBody>
                    <a:bodyPr/>
                    <a:lstStyle/>
                    <a:p>
                      <a:pPr>
                        <a:defRPr sz="1000">
                          <a:solidFill>
                            <a:srgbClr val="1A1A1A"/>
                          </a:solidFill>
                        </a:defRPr>
                      </a:pPr>
                      <a:r>
                        <a:t>16.00 GB</a:t>
                      </a:r>
                    </a:p>
                  </a:txBody>
                  <a:tcPr/>
                </a:tc>
              </a:tr>
              <a:tr h="438912">
                <a:tc>
                  <a:txBody>
                    <a:bodyPr/>
                    <a:lstStyle/>
                    <a:p>
                      <a:pPr>
                        <a:defRPr sz="1000">
                          <a:solidFill>
                            <a:srgbClr val="1A1A1A"/>
                          </a:solidFill>
                        </a:defRPr>
                      </a:pPr>
                      <a:r>
                        <a:t>Llama 3 70B</a:t>
                      </a:r>
                    </a:p>
                  </a:txBody>
                  <a:tcPr>
                    <a:solidFill>
                      <a:srgbClr val="E0DCD6"/>
                    </a:solidFill>
                  </a:tcPr>
                </a:tc>
                <a:tc>
                  <a:txBody>
                    <a:bodyPr/>
                    <a:lstStyle/>
                    <a:p>
                      <a:pPr>
                        <a:defRPr sz="1000">
                          <a:solidFill>
                            <a:srgbClr val="1A1A1A"/>
                          </a:solidFill>
                        </a:defRPr>
                      </a:pPr>
                      <a:r>
                        <a:t>80</a:t>
                      </a:r>
                    </a:p>
                  </a:txBody>
                  <a:tcPr>
                    <a:solidFill>
                      <a:srgbClr val="E0DCD6"/>
                    </a:solidFill>
                  </a:tcPr>
                </a:tc>
                <a:tc>
                  <a:txBody>
                    <a:bodyPr/>
                    <a:lstStyle/>
                    <a:p>
                      <a:pPr>
                        <a:defRPr sz="1000">
                          <a:solidFill>
                            <a:srgbClr val="1A1A1A"/>
                          </a:solidFill>
                        </a:defRPr>
                      </a:pPr>
                      <a:r>
                        <a:t>8</a:t>
                      </a:r>
                    </a:p>
                  </a:txBody>
                  <a:tcPr>
                    <a:solidFill>
                      <a:srgbClr val="E0DCD6"/>
                    </a:solidFill>
                  </a:tcPr>
                </a:tc>
                <a:tc>
                  <a:txBody>
                    <a:bodyPr/>
                    <a:lstStyle/>
                    <a:p>
                      <a:pPr>
                        <a:defRPr sz="1000">
                          <a:solidFill>
                            <a:srgbClr val="1A1A1A"/>
                          </a:solidFill>
                        </a:defRPr>
                      </a:pPr>
                      <a:r>
                        <a:t>128</a:t>
                      </a:r>
                    </a:p>
                  </a:txBody>
                  <a:tcPr>
                    <a:solidFill>
                      <a:srgbClr val="E0DCD6"/>
                    </a:solidFill>
                  </a:tcPr>
                </a:tc>
                <a:tc>
                  <a:txBody>
                    <a:bodyPr/>
                    <a:lstStyle/>
                    <a:p>
                      <a:pPr>
                        <a:defRPr sz="1000">
                          <a:solidFill>
                            <a:srgbClr val="1A1A1A"/>
                          </a:solidFill>
                        </a:defRPr>
                      </a:pPr>
                      <a:r>
                        <a:t>8,192</a:t>
                      </a:r>
                    </a:p>
                  </a:txBody>
                  <a:tcPr>
                    <a:solidFill>
                      <a:srgbClr val="E0DCD6"/>
                    </a:solidFill>
                  </a:tcPr>
                </a:tc>
                <a:tc>
                  <a:txBody>
                    <a:bodyPr/>
                    <a:lstStyle/>
                    <a:p>
                      <a:pPr>
                        <a:defRPr sz="1000">
                          <a:solidFill>
                            <a:srgbClr val="1A1A1A"/>
                          </a:solidFill>
                        </a:defRPr>
                      </a:pPr>
                      <a:r>
                        <a:t>1</a:t>
                      </a:r>
                    </a:p>
                  </a:txBody>
                  <a:tcPr>
                    <a:solidFill>
                      <a:srgbClr val="E0DCD6"/>
                    </a:solidFill>
                  </a:tcPr>
                </a:tc>
                <a:tc>
                  <a:txBody>
                    <a:bodyPr/>
                    <a:lstStyle/>
                    <a:p>
                      <a:pPr>
                        <a:defRPr sz="1000">
                          <a:solidFill>
                            <a:srgbClr val="1A1A1A"/>
                          </a:solidFill>
                        </a:defRPr>
                      </a:pPr>
                      <a:r>
                        <a:t>1.31 GB</a:t>
                      </a:r>
                    </a:p>
                  </a:txBody>
                  <a:tcPr>
                    <a:solidFill>
                      <a:srgbClr val="E0DCD6"/>
                    </a:solidFill>
                  </a:tcPr>
                </a:tc>
              </a:tr>
              <a:tr h="438912">
                <a:tc>
                  <a:txBody>
                    <a:bodyPr/>
                    <a:lstStyle/>
                    <a:p>
                      <a:pPr>
                        <a:defRPr sz="1000">
                          <a:solidFill>
                            <a:srgbClr val="1A1A1A"/>
                          </a:solidFill>
                        </a:defRPr>
                      </a:pPr>
                      <a:r>
                        <a:t>Llama 3 70B</a:t>
                      </a:r>
                    </a:p>
                  </a:txBody>
                  <a:tcPr/>
                </a:tc>
                <a:tc>
                  <a:txBody>
                    <a:bodyPr/>
                    <a:lstStyle/>
                    <a:p>
                      <a:pPr>
                        <a:defRPr sz="1000">
                          <a:solidFill>
                            <a:srgbClr val="1A1A1A"/>
                          </a:solidFill>
                        </a:defRPr>
                      </a:pPr>
                      <a:r>
                        <a:t>80</a:t>
                      </a:r>
                    </a:p>
                  </a:txBody>
                  <a:tcPr/>
                </a:tc>
                <a:tc>
                  <a:txBody>
                    <a:bodyPr/>
                    <a:lstStyle/>
                    <a:p>
                      <a:pPr>
                        <a:defRPr sz="1000">
                          <a:solidFill>
                            <a:srgbClr val="1A1A1A"/>
                          </a:solidFill>
                        </a:defRPr>
                      </a:pPr>
                      <a:r>
                        <a:t>8</a:t>
                      </a:r>
                    </a:p>
                  </a:txBody>
                  <a:tcPr/>
                </a:tc>
                <a:tc>
                  <a:txBody>
                    <a:bodyPr/>
                    <a:lstStyle/>
                    <a:p>
                      <a:pPr>
                        <a:defRPr sz="1000">
                          <a:solidFill>
                            <a:srgbClr val="1A1A1A"/>
                          </a:solidFill>
                        </a:defRPr>
                      </a:pPr>
                      <a:r>
                        <a:t>128</a:t>
                      </a:r>
                    </a:p>
                  </a:txBody>
                  <a:tcPr/>
                </a:tc>
                <a:tc>
                  <a:txBody>
                    <a:bodyPr/>
                    <a:lstStyle/>
                    <a:p>
                      <a:pPr>
                        <a:defRPr sz="1000">
                          <a:solidFill>
                            <a:srgbClr val="1A1A1A"/>
                          </a:solidFill>
                        </a:defRPr>
                      </a:pPr>
                      <a:r>
                        <a:t>128,000</a:t>
                      </a:r>
                    </a:p>
                  </a:txBody>
                  <a:tcPr/>
                </a:tc>
                <a:tc>
                  <a:txBody>
                    <a:bodyPr/>
                    <a:lstStyle/>
                    <a:p>
                      <a:pPr>
                        <a:defRPr sz="1000">
                          <a:solidFill>
                            <a:srgbClr val="1A1A1A"/>
                          </a:solidFill>
                        </a:defRPr>
                      </a:pPr>
                      <a:r>
                        <a:t>1</a:t>
                      </a:r>
                    </a:p>
                  </a:txBody>
                  <a:tcPr/>
                </a:tc>
                <a:tc>
                  <a:txBody>
                    <a:bodyPr/>
                    <a:lstStyle/>
                    <a:p>
                      <a:pPr>
                        <a:defRPr sz="1000">
                          <a:solidFill>
                            <a:srgbClr val="1A1A1A"/>
                          </a:solidFill>
                        </a:defRPr>
                      </a:pPr>
                      <a:r>
                        <a:t>20.48 GB</a:t>
                      </a:r>
                    </a:p>
                  </a:txBody>
                  <a:tcPr/>
                </a:tc>
              </a:tr>
            </a:tbl>
          </a:graphicData>
        </a:graphic>
      </p:graphicFrame>
      <p:sp>
        <p:nvSpPr>
          <p:cNvPr id="7" name="Rounded Rectangle 6"/>
          <p:cNvSpPr/>
          <p:nvPr/>
        </p:nvSpPr>
        <p:spPr>
          <a:xfrm>
            <a:off x="914400" y="5212080"/>
            <a:ext cx="10332720" cy="82296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5349240"/>
            <a:ext cx="9784080" cy="548640"/>
          </a:xfrm>
          <a:prstGeom prst="rect">
            <a:avLst/>
          </a:prstGeom>
          <a:noFill/>
        </p:spPr>
        <p:txBody>
          <a:bodyPr wrap="square">
            <a:spAutoFit/>
          </a:bodyPr>
          <a:lstStyle/>
          <a:p>
            <a:pPr algn="l">
              <a:defRPr sz="1100" b="1">
                <a:solidFill>
                  <a:srgbClr val="DC2626"/>
                </a:solidFill>
              </a:defRPr>
            </a:pPr>
            <a:r>
              <a:t>Strategic Bottleneck: KV Cache grows linearly with sequence length and batch size. Multi-Query Attention (MQA) and Grouped-Query Attention (GQA) reduce KV heads to mitigate VRAM overflow.</a:t>
            </a:r>
          </a:p>
        </p:txBody>
      </p:sp>
      <p:sp>
        <p:nvSpPr>
          <p:cNvPr id="9" name="TextBox 8"/>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3B82F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l">
              <a:defRPr sz="1800" b="0">
                <a:solidFill>
                  <a:srgbClr val="FFFFFF"/>
                </a:solidFill>
              </a:defRPr>
            </a:pPr>
            <a:r>
              <a:t>Part 2</a:t>
            </a:r>
          </a:p>
        </p:txBody>
      </p:sp>
      <p:sp>
        <p:nvSpPr>
          <p:cNvPr id="3" name="TextBox 2"/>
          <p:cNvSpPr txBox="1"/>
          <p:nvPr/>
        </p:nvSpPr>
        <p:spPr>
          <a:xfrm>
            <a:off x="914400" y="2743200"/>
            <a:ext cx="10332720" cy="1371600"/>
          </a:xfrm>
          <a:prstGeom prst="rect">
            <a:avLst/>
          </a:prstGeom>
          <a:noFill/>
        </p:spPr>
        <p:txBody>
          <a:bodyPr wrap="square">
            <a:spAutoFit/>
          </a:bodyPr>
          <a:lstStyle/>
          <a:p>
            <a:pPr algn="l">
              <a:defRPr sz="3600" b="1">
                <a:solidFill>
                  <a:srgbClr val="FFFFFF"/>
                </a:solidFill>
              </a:defRPr>
            </a:pPr>
            <a:r>
              <a:t>Reasoning Models &amp; Test-Time Compute</a:t>
            </a:r>
          </a:p>
        </p:txBody>
      </p:sp>
      <p:sp>
        <p:nvSpPr>
          <p:cNvPr id="4" name="TextBox 3"/>
          <p:cNvSpPr txBox="1"/>
          <p:nvPr/>
        </p:nvSpPr>
        <p:spPr>
          <a:xfrm>
            <a:off x="914400" y="3840480"/>
            <a:ext cx="10332720" cy="914400"/>
          </a:xfrm>
          <a:prstGeom prst="rect">
            <a:avLst/>
          </a:prstGeom>
          <a:noFill/>
        </p:spPr>
        <p:txBody>
          <a:bodyPr wrap="square">
            <a:spAutoFit/>
          </a:bodyPr>
          <a:lstStyle/>
          <a:p>
            <a:pPr algn="l">
              <a:defRPr sz="1600" b="0">
                <a:solidFill>
                  <a:srgbClr val="BFDBFE"/>
                </a:solidFill>
              </a:defRPr>
            </a:pPr>
            <a:r>
              <a:t>Algorithmic path searches, GRPO reinforcement learning, and outcome vs. process rewards</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The Paradigm Shift: Pretraining vs. Test-Time Compute</a:t>
            </a:r>
          </a:p>
        </p:txBody>
      </p:sp>
      <p:sp>
        <p:nvSpPr>
          <p:cNvPr id="3" name="Rounded Rectangle 2"/>
          <p:cNvSpPr/>
          <p:nvPr/>
        </p:nvSpPr>
        <p:spPr>
          <a:xfrm>
            <a:off x="914400" y="1005840"/>
            <a:ext cx="4846320" cy="411480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43000"/>
            <a:ext cx="4480560" cy="365760"/>
          </a:xfrm>
          <a:prstGeom prst="rect">
            <a:avLst/>
          </a:prstGeom>
          <a:noFill/>
        </p:spPr>
        <p:txBody>
          <a:bodyPr wrap="square">
            <a:spAutoFit/>
          </a:bodyPr>
          <a:lstStyle/>
          <a:p>
            <a:pPr algn="l">
              <a:defRPr sz="1500" b="1">
                <a:solidFill>
                  <a:srgbClr val="3B82F6"/>
                </a:solidFill>
              </a:defRPr>
            </a:pPr>
            <a:r>
              <a:t>Standard Models (Pretraining Compute)</a:t>
            </a:r>
          </a:p>
        </p:txBody>
      </p:sp>
      <p:sp>
        <p:nvSpPr>
          <p:cNvPr id="5" name="TextBox 4"/>
          <p:cNvSpPr txBox="1"/>
          <p:nvPr/>
        </p:nvSpPr>
        <p:spPr>
          <a:xfrm>
            <a:off x="1097280" y="1600200"/>
            <a:ext cx="4480560" cy="3291840"/>
          </a:xfrm>
          <a:prstGeom prst="rect">
            <a:avLst/>
          </a:prstGeom>
          <a:noFill/>
        </p:spPr>
        <p:txBody>
          <a:bodyPr wrap="square">
            <a:spAutoFit/>
          </a:bodyPr>
          <a:lstStyle/>
          <a:p>
            <a:pPr algn="l">
              <a:defRPr sz="1150" b="0">
                <a:solidFill>
                  <a:srgbClr val="1A1A1A"/>
                </a:solidFill>
              </a:defRPr>
            </a:pPr>
            <a:r>
              <a:t>In standard models, intelligence is proportional to parameter size and training tokens.</a:t>
            </a:r>
            <a:br/>
            <a:br/>
            <a:r>
              <a:t>• Flattens at inference: Model spits out the next token using a static, fixed forward-pass compute budget.</a:t>
            </a:r>
            <a:br/>
            <a:r>
              <a:t>• Cannot allocate extra compute: An easy 'Yes/No' takes the exact same forward-pass parameters as a complex math proof.</a:t>
            </a:r>
            <a:br/>
            <a:r>
              <a:t>• High training costs, fixed query latency.</a:t>
            </a:r>
          </a:p>
        </p:txBody>
      </p:sp>
      <p:sp>
        <p:nvSpPr>
          <p:cNvPr id="6" name="Rounded Rectangle 5"/>
          <p:cNvSpPr/>
          <p:nvPr/>
        </p:nvSpPr>
        <p:spPr>
          <a:xfrm>
            <a:off x="6400800" y="1005840"/>
            <a:ext cx="4846320" cy="411480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143000"/>
            <a:ext cx="4480560" cy="365760"/>
          </a:xfrm>
          <a:prstGeom prst="rect">
            <a:avLst/>
          </a:prstGeom>
          <a:noFill/>
        </p:spPr>
        <p:txBody>
          <a:bodyPr wrap="square">
            <a:spAutoFit/>
          </a:bodyPr>
          <a:lstStyle/>
          <a:p>
            <a:pPr algn="l">
              <a:defRPr sz="1500" b="1">
                <a:solidFill>
                  <a:srgbClr val="16A34A"/>
                </a:solidFill>
              </a:defRPr>
            </a:pPr>
            <a:r>
              <a:t>Reasoning Models (Test-Time Compute)</a:t>
            </a:r>
          </a:p>
        </p:txBody>
      </p:sp>
      <p:sp>
        <p:nvSpPr>
          <p:cNvPr id="8" name="TextBox 7"/>
          <p:cNvSpPr txBox="1"/>
          <p:nvPr/>
        </p:nvSpPr>
        <p:spPr>
          <a:xfrm>
            <a:off x="6583680" y="1600200"/>
            <a:ext cx="4480560" cy="3291840"/>
          </a:xfrm>
          <a:prstGeom prst="rect">
            <a:avLst/>
          </a:prstGeom>
          <a:noFill/>
        </p:spPr>
        <p:txBody>
          <a:bodyPr wrap="square">
            <a:spAutoFit/>
          </a:bodyPr>
          <a:lstStyle/>
          <a:p>
            <a:pPr algn="l">
              <a:defRPr sz="1150" b="0">
                <a:solidFill>
                  <a:srgbClr val="1A1A1A"/>
                </a:solidFill>
              </a:defRPr>
            </a:pPr>
            <a:r>
              <a:t>Reasoning systems scale compute dynamically during generation using search algorithms.</a:t>
            </a:r>
            <a:br/>
            <a:br/>
            <a:r>
              <a:t>• Algorithmic paths: Evaluates multiple possible thoughts, backtracks when finding logical dead-ends, and self-corrects.</a:t>
            </a:r>
            <a:br/>
            <a:r>
              <a:t>• Thinking tokens: Allocates hundreds of tokens internally to 'think' before producing a final output.</a:t>
            </a:r>
            <a:br/>
            <a:r>
              <a:t>• Scales compute at inference: Harder questions generate longer execution paths to yield superior outcomes.</a:t>
            </a:r>
          </a:p>
        </p:txBody>
      </p:sp>
      <p:sp>
        <p:nvSpPr>
          <p:cNvPr id="9" name="Rounded Rectangle 8"/>
          <p:cNvSpPr/>
          <p:nvPr/>
        </p:nvSpPr>
        <p:spPr>
          <a:xfrm>
            <a:off x="914400" y="5303520"/>
            <a:ext cx="10332720" cy="73152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5440680"/>
            <a:ext cx="9784080" cy="502920"/>
          </a:xfrm>
          <a:prstGeom prst="rect">
            <a:avLst/>
          </a:prstGeom>
          <a:noFill/>
        </p:spPr>
        <p:txBody>
          <a:bodyPr wrap="square">
            <a:spAutoFit/>
          </a:bodyPr>
          <a:lstStyle/>
          <a:p>
            <a:pPr algn="l">
              <a:defRPr sz="1100" b="1">
                <a:solidFill>
                  <a:srgbClr val="3B82F6"/>
                </a:solidFill>
              </a:defRPr>
            </a:pPr>
            <a:r>
              <a:t>Key: Intelligence is no longer frozen in SFT weights. We can scale performance purely by allowing longer inference thinking paths.</a:t>
            </a:r>
          </a:p>
        </p:txBody>
      </p:sp>
      <p:sp>
        <p:nvSpPr>
          <p:cNvPr id="11" name="TextBox 10"/>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Search &amp; Reward: CoT, ToT, and Process Reward Models</a:t>
            </a:r>
          </a:p>
        </p:txBody>
      </p:sp>
      <p:sp>
        <p:nvSpPr>
          <p:cNvPr id="3" name="Rounded Rectangle 2"/>
          <p:cNvSpPr/>
          <p:nvPr/>
        </p:nvSpPr>
        <p:spPr>
          <a:xfrm>
            <a:off x="914400" y="1005840"/>
            <a:ext cx="3200400" cy="402336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143000"/>
            <a:ext cx="2926080" cy="411480"/>
          </a:xfrm>
          <a:prstGeom prst="rect">
            <a:avLst/>
          </a:prstGeom>
          <a:noFill/>
        </p:spPr>
        <p:txBody>
          <a:bodyPr wrap="square">
            <a:spAutoFit/>
          </a:bodyPr>
          <a:lstStyle/>
          <a:p>
            <a:pPr algn="l">
              <a:defRPr sz="1400" b="1">
                <a:solidFill>
                  <a:srgbClr val="3B82F6"/>
                </a:solidFill>
              </a:defRPr>
            </a:pPr>
            <a:r>
              <a:t>Chain-of-Thought (CoT)</a:t>
            </a:r>
          </a:p>
        </p:txBody>
      </p:sp>
      <p:sp>
        <p:nvSpPr>
          <p:cNvPr id="5" name="TextBox 4"/>
          <p:cNvSpPr txBox="1"/>
          <p:nvPr/>
        </p:nvSpPr>
        <p:spPr>
          <a:xfrm>
            <a:off x="1051560" y="1645920"/>
            <a:ext cx="2926080" cy="3291840"/>
          </a:xfrm>
          <a:prstGeom prst="rect">
            <a:avLst/>
          </a:prstGeom>
          <a:noFill/>
        </p:spPr>
        <p:txBody>
          <a:bodyPr wrap="square">
            <a:spAutoFit/>
          </a:bodyPr>
          <a:lstStyle/>
          <a:p>
            <a:pPr algn="l">
              <a:defRPr sz="1100" b="0">
                <a:solidFill>
                  <a:srgbClr val="1A1A1A"/>
                </a:solidFill>
              </a:defRPr>
            </a:pPr>
            <a:r>
              <a:t>Forces a linear reasoning path.</a:t>
            </a:r>
            <a:br/>
            <a:br/>
            <a:r>
              <a:t>By outputting step-by-step logic ('Let's think step by step') before the final answer, standard models solve complex math.</a:t>
            </a:r>
            <a:br/>
            <a:br/>
            <a:r>
              <a:t>Math grounding: CoT increases target prediction accuracy by allowing intermediate computations to sit in the context window history.</a:t>
            </a:r>
          </a:p>
        </p:txBody>
      </p:sp>
      <p:sp>
        <p:nvSpPr>
          <p:cNvPr id="6" name="Rounded Rectangle 5"/>
          <p:cNvSpPr/>
          <p:nvPr/>
        </p:nvSpPr>
        <p:spPr>
          <a:xfrm>
            <a:off x="4480560" y="1005840"/>
            <a:ext cx="3200400" cy="402336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143000"/>
            <a:ext cx="2926080" cy="411480"/>
          </a:xfrm>
          <a:prstGeom prst="rect">
            <a:avLst/>
          </a:prstGeom>
          <a:noFill/>
        </p:spPr>
        <p:txBody>
          <a:bodyPr wrap="square">
            <a:spAutoFit/>
          </a:bodyPr>
          <a:lstStyle/>
          <a:p>
            <a:pPr algn="l">
              <a:defRPr sz="1400" b="1">
                <a:solidFill>
                  <a:srgbClr val="16A34A"/>
                </a:solidFill>
              </a:defRPr>
            </a:pPr>
            <a:r>
              <a:t>Tree-of-Thoughts (ToT)</a:t>
            </a:r>
          </a:p>
        </p:txBody>
      </p:sp>
      <p:sp>
        <p:nvSpPr>
          <p:cNvPr id="8" name="TextBox 7"/>
          <p:cNvSpPr txBox="1"/>
          <p:nvPr/>
        </p:nvSpPr>
        <p:spPr>
          <a:xfrm>
            <a:off x="4617720" y="1645920"/>
            <a:ext cx="2926080" cy="3291840"/>
          </a:xfrm>
          <a:prstGeom prst="rect">
            <a:avLst/>
          </a:prstGeom>
          <a:noFill/>
        </p:spPr>
        <p:txBody>
          <a:bodyPr wrap="square">
            <a:spAutoFit/>
          </a:bodyPr>
          <a:lstStyle/>
          <a:p>
            <a:pPr algn="l">
              <a:defRPr sz="1100" b="0">
                <a:solidFill>
                  <a:srgbClr val="1A1A1A"/>
                </a:solidFill>
              </a:defRPr>
            </a:pPr>
            <a:r>
              <a:t>Generalizes CoT into tree branches.</a:t>
            </a:r>
            <a:br/>
            <a:br/>
            <a:r>
              <a:t>Evaluates multiple parallel reasoning paths.</a:t>
            </a:r>
            <a:br/>
            <a:br/>
            <a:r>
              <a:t>Uses search algorithms like Beam Search or Depth-First Search (DFS) to explore logical branches and prune paths that score poorly, avoiding cognitive dead-ends.</a:t>
            </a:r>
          </a:p>
        </p:txBody>
      </p:sp>
      <p:sp>
        <p:nvSpPr>
          <p:cNvPr id="9" name="Rounded Rectangle 8"/>
          <p:cNvSpPr/>
          <p:nvPr/>
        </p:nvSpPr>
        <p:spPr>
          <a:xfrm>
            <a:off x="8046720" y="1005840"/>
            <a:ext cx="3200400" cy="40233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143000"/>
            <a:ext cx="2926080" cy="411480"/>
          </a:xfrm>
          <a:prstGeom prst="rect">
            <a:avLst/>
          </a:prstGeom>
          <a:noFill/>
        </p:spPr>
        <p:txBody>
          <a:bodyPr wrap="square">
            <a:spAutoFit/>
          </a:bodyPr>
          <a:lstStyle/>
          <a:p>
            <a:pPr algn="l">
              <a:defRPr sz="1400" b="1">
                <a:solidFill>
                  <a:srgbClr val="D97706"/>
                </a:solidFill>
              </a:defRPr>
            </a:pPr>
            <a:r>
              <a:t>Process Reward Models (PRM)</a:t>
            </a:r>
          </a:p>
        </p:txBody>
      </p:sp>
      <p:sp>
        <p:nvSpPr>
          <p:cNvPr id="11" name="TextBox 10"/>
          <p:cNvSpPr txBox="1"/>
          <p:nvPr/>
        </p:nvSpPr>
        <p:spPr>
          <a:xfrm>
            <a:off x="8183880" y="1645920"/>
            <a:ext cx="2926080" cy="3291840"/>
          </a:xfrm>
          <a:prstGeom prst="rect">
            <a:avLst/>
          </a:prstGeom>
          <a:noFill/>
        </p:spPr>
        <p:txBody>
          <a:bodyPr wrap="square">
            <a:spAutoFit/>
          </a:bodyPr>
          <a:lstStyle/>
          <a:p>
            <a:pPr algn="l">
              <a:defRPr sz="1100" b="0">
                <a:solidFill>
                  <a:srgbClr val="1A1A1A"/>
                </a:solidFill>
              </a:defRPr>
            </a:pPr>
            <a:r>
              <a:t>Traditional Outcome Models (ORMs) only grade the final answer.</a:t>
            </a:r>
            <a:br/>
            <a:br/>
            <a:r>
              <a:t>PRMs grade every single step in the reasoning chain.</a:t>
            </a:r>
            <a:br/>
            <a:br/>
            <a:r>
              <a:t>Critical benefit: Provides dense feedback to guide searches, detects logic bugs early, and mitigates 'accidental' correct answers derived from incorrect calculations.</a:t>
            </a:r>
          </a:p>
        </p:txBody>
      </p:sp>
      <p:sp>
        <p:nvSpPr>
          <p:cNvPr id="12" name="TextBox 11"/>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3B82F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l">
              <a:defRPr sz="1800" b="0">
                <a:solidFill>
                  <a:srgbClr val="FFFFFF"/>
                </a:solidFill>
              </a:defRPr>
            </a:pPr>
            <a:r>
              <a:t>Part 3</a:t>
            </a:r>
          </a:p>
        </p:txBody>
      </p:sp>
      <p:sp>
        <p:nvSpPr>
          <p:cNvPr id="3" name="TextBox 2"/>
          <p:cNvSpPr txBox="1"/>
          <p:nvPr/>
        </p:nvSpPr>
        <p:spPr>
          <a:xfrm>
            <a:off x="914400" y="2743200"/>
            <a:ext cx="10332720" cy="1371600"/>
          </a:xfrm>
          <a:prstGeom prst="rect">
            <a:avLst/>
          </a:prstGeom>
          <a:noFill/>
        </p:spPr>
        <p:txBody>
          <a:bodyPr wrap="square">
            <a:spAutoFit/>
          </a:bodyPr>
          <a:lstStyle/>
          <a:p>
            <a:pPr algn="l">
              <a:defRPr sz="3600" b="1">
                <a:solidFill>
                  <a:srgbClr val="FFFFFF"/>
                </a:solidFill>
              </a:defRPr>
            </a:pPr>
            <a:r>
              <a:t>Advanced Inference &amp; Evaluation</a:t>
            </a:r>
          </a:p>
        </p:txBody>
      </p:sp>
      <p:sp>
        <p:nvSpPr>
          <p:cNvPr id="4" name="TextBox 3"/>
          <p:cNvSpPr txBox="1"/>
          <p:nvPr/>
        </p:nvSpPr>
        <p:spPr>
          <a:xfrm>
            <a:off x="914400" y="3840480"/>
            <a:ext cx="10332720" cy="914400"/>
          </a:xfrm>
          <a:prstGeom prst="rect">
            <a:avLst/>
          </a:prstGeom>
          <a:noFill/>
        </p:spPr>
        <p:txBody>
          <a:bodyPr wrap="square">
            <a:spAutoFit/>
          </a:bodyPr>
          <a:lstStyle/>
          <a:p>
            <a:pPr algn="l">
              <a:defRPr sz="1600" b="0">
                <a:solidFill>
                  <a:srgbClr val="BFDBFE"/>
                </a:solidFill>
              </a:defRPr>
            </a:pPr>
            <a:r>
              <a:t>Speculative decoding, quantization limits, RAGAS evaluations, and system designs</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Advanced Optimizations: Speculative Decoding &amp; Quantization</a:t>
            </a:r>
          </a:p>
        </p:txBody>
      </p:sp>
      <p:sp>
        <p:nvSpPr>
          <p:cNvPr id="3" name="Rounded Rectangle 2"/>
          <p:cNvSpPr/>
          <p:nvPr/>
        </p:nvSpPr>
        <p:spPr>
          <a:xfrm>
            <a:off x="914400" y="1005840"/>
            <a:ext cx="4846320" cy="411480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43000"/>
            <a:ext cx="4480560" cy="365760"/>
          </a:xfrm>
          <a:prstGeom prst="rect">
            <a:avLst/>
          </a:prstGeom>
          <a:noFill/>
        </p:spPr>
        <p:txBody>
          <a:bodyPr wrap="square">
            <a:spAutoFit/>
          </a:bodyPr>
          <a:lstStyle/>
          <a:p>
            <a:pPr algn="l">
              <a:defRPr sz="1500" b="1">
                <a:solidFill>
                  <a:srgbClr val="3B82F6"/>
                </a:solidFill>
              </a:defRPr>
            </a:pPr>
            <a:r>
              <a:t>Speculative Decoding</a:t>
            </a:r>
          </a:p>
        </p:txBody>
      </p:sp>
      <p:sp>
        <p:nvSpPr>
          <p:cNvPr id="5" name="TextBox 4"/>
          <p:cNvSpPr txBox="1"/>
          <p:nvPr/>
        </p:nvSpPr>
        <p:spPr>
          <a:xfrm>
            <a:off x="1097280" y="1600200"/>
            <a:ext cx="4480560" cy="3291840"/>
          </a:xfrm>
          <a:prstGeom prst="rect">
            <a:avLst/>
          </a:prstGeom>
          <a:noFill/>
        </p:spPr>
        <p:txBody>
          <a:bodyPr wrap="square">
            <a:spAutoFit/>
          </a:bodyPr>
          <a:lstStyle/>
          <a:p>
            <a:pPr algn="l">
              <a:defRPr sz="1150" b="0">
                <a:solidFill>
                  <a:srgbClr val="1A1A1A"/>
                </a:solidFill>
              </a:defRPr>
            </a:pPr>
            <a:r>
              <a:t>Generates tokens using a lightweight 'draft' model (e.g., 8B) very quickly, then verifies them in parallel using a large 'target' model (e.g., 70B) in a single GPU pass.</a:t>
            </a:r>
            <a:br/>
            <a:br/>
            <a:r>
              <a:t>• Parallel validation: Because validating tokens is compute-bound, the large model validates 5-10 tokens simultaneously.</a:t>
            </a:r>
            <a:br/>
            <a:r>
              <a:t>• Yields a 2x-3x speedup with mathematically identical quality outputs.</a:t>
            </a:r>
          </a:p>
        </p:txBody>
      </p:sp>
      <p:sp>
        <p:nvSpPr>
          <p:cNvPr id="6" name="Rounded Rectangle 5"/>
          <p:cNvSpPr/>
          <p:nvPr/>
        </p:nvSpPr>
        <p:spPr>
          <a:xfrm>
            <a:off x="6400800" y="1005840"/>
            <a:ext cx="4846320" cy="411480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143000"/>
            <a:ext cx="4480560" cy="365760"/>
          </a:xfrm>
          <a:prstGeom prst="rect">
            <a:avLst/>
          </a:prstGeom>
          <a:noFill/>
        </p:spPr>
        <p:txBody>
          <a:bodyPr wrap="square">
            <a:spAutoFit/>
          </a:bodyPr>
          <a:lstStyle/>
          <a:p>
            <a:pPr algn="l">
              <a:defRPr sz="1500" b="1">
                <a:solidFill>
                  <a:srgbClr val="16A34A"/>
                </a:solidFill>
              </a:defRPr>
            </a:pPr>
            <a:r>
              <a:t>Model Quantization (FP8, INT8, FP4)</a:t>
            </a:r>
          </a:p>
        </p:txBody>
      </p:sp>
      <p:sp>
        <p:nvSpPr>
          <p:cNvPr id="8" name="TextBox 7"/>
          <p:cNvSpPr txBox="1"/>
          <p:nvPr/>
        </p:nvSpPr>
        <p:spPr>
          <a:xfrm>
            <a:off x="6583680" y="1600200"/>
            <a:ext cx="4480560" cy="3291840"/>
          </a:xfrm>
          <a:prstGeom prst="rect">
            <a:avLst/>
          </a:prstGeom>
          <a:noFill/>
        </p:spPr>
        <p:txBody>
          <a:bodyPr wrap="square">
            <a:spAutoFit/>
          </a:bodyPr>
          <a:lstStyle/>
          <a:p>
            <a:pPr algn="l">
              <a:defRPr sz="1150" b="0">
                <a:solidFill>
                  <a:srgbClr val="1A1A1A"/>
                </a:solidFill>
              </a:defRPr>
            </a:pPr>
            <a:r>
              <a:t>Compresses model parameters by converting floating-point weights (FP32/FP16) into lower-precision formats like FP8 or INT8.</a:t>
            </a:r>
            <a:br/>
            <a:br/>
            <a:r>
              <a:t>• VRAM Reduction: FP16 to FP8 cuts memory footprint in half. A 70B model requires ~140GB in FP16 but fits in ~70GB in FP8.</a:t>
            </a:r>
            <a:br/>
            <a:r>
              <a:t>• Minimal Quality Loss: FP8 and INT8 conversions maintain near-baseline accuracy on benchmark evaluations.</a:t>
            </a:r>
          </a:p>
        </p:txBody>
      </p:sp>
      <p:sp>
        <p:nvSpPr>
          <p:cNvPr id="9" name="TextBox 8"/>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RAG Evaluation: The RAGAS Mathematical Framework</a:t>
            </a:r>
          </a:p>
        </p:txBody>
      </p:sp>
      <p:sp>
        <p:nvSpPr>
          <p:cNvPr id="3" name="Rounded Rectangle 2"/>
          <p:cNvSpPr/>
          <p:nvPr/>
        </p:nvSpPr>
        <p:spPr>
          <a:xfrm>
            <a:off x="914400" y="1005840"/>
            <a:ext cx="5029200" cy="173736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15568"/>
            <a:ext cx="4663440" cy="274320"/>
          </a:xfrm>
          <a:prstGeom prst="rect">
            <a:avLst/>
          </a:prstGeom>
          <a:noFill/>
        </p:spPr>
        <p:txBody>
          <a:bodyPr wrap="square">
            <a:spAutoFit/>
          </a:bodyPr>
          <a:lstStyle/>
          <a:p>
            <a:pPr algn="l">
              <a:defRPr sz="1350" b="1">
                <a:solidFill>
                  <a:srgbClr val="3B82F6"/>
                </a:solidFill>
              </a:defRPr>
            </a:pPr>
            <a:r>
              <a:t>Faithfulness</a:t>
            </a:r>
          </a:p>
        </p:txBody>
      </p:sp>
      <p:sp>
        <p:nvSpPr>
          <p:cNvPr id="5" name="TextBox 4"/>
          <p:cNvSpPr txBox="1"/>
          <p:nvPr/>
        </p:nvSpPr>
        <p:spPr>
          <a:xfrm>
            <a:off x="1097280" y="1417320"/>
            <a:ext cx="4663440" cy="365760"/>
          </a:xfrm>
          <a:prstGeom prst="rect">
            <a:avLst/>
          </a:prstGeom>
          <a:noFill/>
        </p:spPr>
        <p:txBody>
          <a:bodyPr wrap="square">
            <a:spAutoFit/>
          </a:bodyPr>
          <a:lstStyle/>
          <a:p>
            <a:pPr algn="l">
              <a:defRPr sz="1000" b="0">
                <a:solidFill>
                  <a:srgbClr val="888880"/>
                </a:solidFill>
              </a:defRPr>
            </a:pPr>
            <a:r>
              <a:t>Is the answer grounded in the retrieved context?</a:t>
            </a:r>
          </a:p>
        </p:txBody>
      </p:sp>
      <p:sp>
        <p:nvSpPr>
          <p:cNvPr id="6" name="Rounded Rectangle 5"/>
          <p:cNvSpPr/>
          <p:nvPr/>
        </p:nvSpPr>
        <p:spPr>
          <a:xfrm>
            <a:off x="1097280" y="1874520"/>
            <a:ext cx="4663440" cy="685800"/>
          </a:xfrm>
          <a:prstGeom prst="roundRect">
            <a:avLst/>
          </a:prstGeom>
          <a:solidFill>
            <a:srgbClr val="FAFAF9"/>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011680"/>
            <a:ext cx="4480560" cy="502920"/>
          </a:xfrm>
          <a:prstGeom prst="rect">
            <a:avLst/>
          </a:prstGeom>
          <a:noFill/>
        </p:spPr>
        <p:txBody>
          <a:bodyPr wrap="square">
            <a:spAutoFit/>
          </a:bodyPr>
          <a:lstStyle/>
          <a:p>
            <a:pPr algn="l">
              <a:defRPr sz="950" b="1">
                <a:solidFill>
                  <a:srgbClr val="4A4A4A"/>
                </a:solidFill>
              </a:defRPr>
            </a:pPr>
            <a:r>
              <a:t>Faithfulness = Factual Sentences in Answer / Total Sentences in Answer</a:t>
            </a:r>
          </a:p>
        </p:txBody>
      </p:sp>
      <p:sp>
        <p:nvSpPr>
          <p:cNvPr id="8" name="Rounded Rectangle 7"/>
          <p:cNvSpPr/>
          <p:nvPr/>
        </p:nvSpPr>
        <p:spPr>
          <a:xfrm>
            <a:off x="6217920" y="1005840"/>
            <a:ext cx="5029200" cy="173736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115568"/>
            <a:ext cx="4663440" cy="274320"/>
          </a:xfrm>
          <a:prstGeom prst="rect">
            <a:avLst/>
          </a:prstGeom>
          <a:noFill/>
        </p:spPr>
        <p:txBody>
          <a:bodyPr wrap="square">
            <a:spAutoFit/>
          </a:bodyPr>
          <a:lstStyle/>
          <a:p>
            <a:pPr algn="l">
              <a:defRPr sz="1350" b="1">
                <a:solidFill>
                  <a:srgbClr val="16A34A"/>
                </a:solidFill>
              </a:defRPr>
            </a:pPr>
            <a:r>
              <a:t>Answer Relevance</a:t>
            </a:r>
          </a:p>
        </p:txBody>
      </p:sp>
      <p:sp>
        <p:nvSpPr>
          <p:cNvPr id="10" name="TextBox 9"/>
          <p:cNvSpPr txBox="1"/>
          <p:nvPr/>
        </p:nvSpPr>
        <p:spPr>
          <a:xfrm>
            <a:off x="6400800" y="1417320"/>
            <a:ext cx="4663440" cy="365760"/>
          </a:xfrm>
          <a:prstGeom prst="rect">
            <a:avLst/>
          </a:prstGeom>
          <a:noFill/>
        </p:spPr>
        <p:txBody>
          <a:bodyPr wrap="square">
            <a:spAutoFit/>
          </a:bodyPr>
          <a:lstStyle/>
          <a:p>
            <a:pPr algn="l">
              <a:defRPr sz="1000" b="0">
                <a:solidFill>
                  <a:srgbClr val="888880"/>
                </a:solidFill>
              </a:defRPr>
            </a:pPr>
            <a:r>
              <a:t>Does the answer directly address the user's prompt?</a:t>
            </a:r>
          </a:p>
        </p:txBody>
      </p:sp>
      <p:sp>
        <p:nvSpPr>
          <p:cNvPr id="11" name="Rounded Rectangle 10"/>
          <p:cNvSpPr/>
          <p:nvPr/>
        </p:nvSpPr>
        <p:spPr>
          <a:xfrm>
            <a:off x="6400800" y="1874520"/>
            <a:ext cx="4663440" cy="685800"/>
          </a:xfrm>
          <a:prstGeom prst="roundRect">
            <a:avLst/>
          </a:prstGeom>
          <a:solidFill>
            <a:srgbClr val="FAFAF9"/>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011680"/>
            <a:ext cx="4480560" cy="502920"/>
          </a:xfrm>
          <a:prstGeom prst="rect">
            <a:avLst/>
          </a:prstGeom>
          <a:noFill/>
        </p:spPr>
        <p:txBody>
          <a:bodyPr wrap="square">
            <a:spAutoFit/>
          </a:bodyPr>
          <a:lstStyle/>
          <a:p>
            <a:pPr algn="l">
              <a:defRPr sz="950" b="1">
                <a:solidFill>
                  <a:srgbClr val="4A4A4A"/>
                </a:solidFill>
              </a:defRPr>
            </a:pPr>
            <a:r>
              <a:t>Answer Relevance = Cosine Similarity of Generated Questions to Query</a:t>
            </a:r>
          </a:p>
        </p:txBody>
      </p:sp>
      <p:sp>
        <p:nvSpPr>
          <p:cNvPr id="13" name="Rounded Rectangle 12"/>
          <p:cNvSpPr/>
          <p:nvPr/>
        </p:nvSpPr>
        <p:spPr>
          <a:xfrm>
            <a:off x="914400" y="3017520"/>
            <a:ext cx="5029200" cy="17373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27248"/>
            <a:ext cx="4663440" cy="274320"/>
          </a:xfrm>
          <a:prstGeom prst="rect">
            <a:avLst/>
          </a:prstGeom>
          <a:noFill/>
        </p:spPr>
        <p:txBody>
          <a:bodyPr wrap="square">
            <a:spAutoFit/>
          </a:bodyPr>
          <a:lstStyle/>
          <a:p>
            <a:pPr algn="l">
              <a:defRPr sz="1350" b="1">
                <a:solidFill>
                  <a:srgbClr val="D97706"/>
                </a:solidFill>
              </a:defRPr>
            </a:pPr>
            <a:r>
              <a:t>Context Recall</a:t>
            </a:r>
          </a:p>
        </p:txBody>
      </p:sp>
      <p:sp>
        <p:nvSpPr>
          <p:cNvPr id="15" name="TextBox 14"/>
          <p:cNvSpPr txBox="1"/>
          <p:nvPr/>
        </p:nvSpPr>
        <p:spPr>
          <a:xfrm>
            <a:off x="1097280" y="3429000"/>
            <a:ext cx="4663440" cy="365760"/>
          </a:xfrm>
          <a:prstGeom prst="rect">
            <a:avLst/>
          </a:prstGeom>
          <a:noFill/>
        </p:spPr>
        <p:txBody>
          <a:bodyPr wrap="square">
            <a:spAutoFit/>
          </a:bodyPr>
          <a:lstStyle/>
          <a:p>
            <a:pPr algn="l">
              <a:defRPr sz="1000" b="0">
                <a:solidFill>
                  <a:srgbClr val="888880"/>
                </a:solidFill>
              </a:defRPr>
            </a:pPr>
            <a:r>
              <a:t>Did the system retrieve all the necessary facts?</a:t>
            </a:r>
          </a:p>
        </p:txBody>
      </p:sp>
      <p:sp>
        <p:nvSpPr>
          <p:cNvPr id="16" name="Rounded Rectangle 15"/>
          <p:cNvSpPr/>
          <p:nvPr/>
        </p:nvSpPr>
        <p:spPr>
          <a:xfrm>
            <a:off x="1097280" y="3886200"/>
            <a:ext cx="4663440" cy="685800"/>
          </a:xfrm>
          <a:prstGeom prst="roundRect">
            <a:avLst/>
          </a:prstGeom>
          <a:solidFill>
            <a:srgbClr val="FAFAF9"/>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023360"/>
            <a:ext cx="4480560" cy="502920"/>
          </a:xfrm>
          <a:prstGeom prst="rect">
            <a:avLst/>
          </a:prstGeom>
          <a:noFill/>
        </p:spPr>
        <p:txBody>
          <a:bodyPr wrap="square">
            <a:spAutoFit/>
          </a:bodyPr>
          <a:lstStyle/>
          <a:p>
            <a:pPr algn="l">
              <a:defRPr sz="950" b="1">
                <a:solidFill>
                  <a:srgbClr val="4A4A4A"/>
                </a:solidFill>
              </a:defRPr>
            </a:pPr>
            <a:r>
              <a:t>Context Recall = Sentences in Context Ground Truth / Total Ground Truth</a:t>
            </a:r>
          </a:p>
        </p:txBody>
      </p:sp>
      <p:sp>
        <p:nvSpPr>
          <p:cNvPr id="18" name="Rounded Rectangle 17"/>
          <p:cNvSpPr/>
          <p:nvPr/>
        </p:nvSpPr>
        <p:spPr>
          <a:xfrm>
            <a:off x="6217920" y="3017520"/>
            <a:ext cx="5029200" cy="1737360"/>
          </a:xfrm>
          <a:prstGeom prst="roundRect">
            <a:avLst/>
          </a:prstGeom>
          <a:solidFill>
            <a:srgbClr val="FFFFFF"/>
          </a:solidFill>
          <a:ln w="19050">
            <a:solidFill>
              <a:srgbClr val="1A2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127248"/>
            <a:ext cx="4663440" cy="274320"/>
          </a:xfrm>
          <a:prstGeom prst="rect">
            <a:avLst/>
          </a:prstGeom>
          <a:noFill/>
        </p:spPr>
        <p:txBody>
          <a:bodyPr wrap="square">
            <a:spAutoFit/>
          </a:bodyPr>
          <a:lstStyle/>
          <a:p>
            <a:pPr algn="l">
              <a:defRPr sz="1350" b="1">
                <a:solidFill>
                  <a:srgbClr val="1A2D4D"/>
                </a:solidFill>
              </a:defRPr>
            </a:pPr>
            <a:r>
              <a:t>Context Precision</a:t>
            </a:r>
          </a:p>
        </p:txBody>
      </p:sp>
      <p:sp>
        <p:nvSpPr>
          <p:cNvPr id="20" name="TextBox 19"/>
          <p:cNvSpPr txBox="1"/>
          <p:nvPr/>
        </p:nvSpPr>
        <p:spPr>
          <a:xfrm>
            <a:off x="6400800" y="3429000"/>
            <a:ext cx="4663440" cy="365760"/>
          </a:xfrm>
          <a:prstGeom prst="rect">
            <a:avLst/>
          </a:prstGeom>
          <a:noFill/>
        </p:spPr>
        <p:txBody>
          <a:bodyPr wrap="square">
            <a:spAutoFit/>
          </a:bodyPr>
          <a:lstStyle/>
          <a:p>
            <a:pPr algn="l">
              <a:defRPr sz="1000" b="0">
                <a:solidFill>
                  <a:srgbClr val="888880"/>
                </a:solidFill>
              </a:defRPr>
            </a:pPr>
            <a:r>
              <a:t>Is the retrieved context clean and noise-free?</a:t>
            </a:r>
          </a:p>
        </p:txBody>
      </p:sp>
      <p:sp>
        <p:nvSpPr>
          <p:cNvPr id="21" name="Rounded Rectangle 20"/>
          <p:cNvSpPr/>
          <p:nvPr/>
        </p:nvSpPr>
        <p:spPr>
          <a:xfrm>
            <a:off x="6400800" y="3886200"/>
            <a:ext cx="4663440" cy="685800"/>
          </a:xfrm>
          <a:prstGeom prst="roundRect">
            <a:avLst/>
          </a:prstGeom>
          <a:solidFill>
            <a:srgbClr val="FAFAF9"/>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4023360"/>
            <a:ext cx="4480560" cy="502920"/>
          </a:xfrm>
          <a:prstGeom prst="rect">
            <a:avLst/>
          </a:prstGeom>
          <a:noFill/>
        </p:spPr>
        <p:txBody>
          <a:bodyPr wrap="square">
            <a:spAutoFit/>
          </a:bodyPr>
          <a:lstStyle/>
          <a:p>
            <a:pPr algn="l">
              <a:defRPr sz="950" b="1">
                <a:solidFill>
                  <a:srgbClr val="4A4A4A"/>
                </a:solidFill>
              </a:defRPr>
            </a:pPr>
            <a:r>
              <a:t>Context Precision = Precision@K over retrieved document ranks</a:t>
            </a:r>
          </a:p>
        </p:txBody>
      </p:sp>
      <p:sp>
        <p:nvSpPr>
          <p:cNvPr id="23" name="TextBox 22"/>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System Design Patterns: Cascade Difficulty Routing</a:t>
            </a:r>
          </a:p>
        </p:txBody>
      </p:sp>
      <p:sp>
        <p:nvSpPr>
          <p:cNvPr id="3" name="TextBox 2"/>
          <p:cNvSpPr txBox="1"/>
          <p:nvPr/>
        </p:nvSpPr>
        <p:spPr>
          <a:xfrm>
            <a:off x="914400" y="914400"/>
            <a:ext cx="10332720" cy="1097280"/>
          </a:xfrm>
          <a:prstGeom prst="rect">
            <a:avLst/>
          </a:prstGeom>
          <a:noFill/>
        </p:spPr>
        <p:txBody>
          <a:bodyPr wrap="square">
            <a:spAutoFit/>
          </a:bodyPr>
          <a:lstStyle/>
          <a:p>
            <a:pPr algn="l">
              <a:defRPr sz="1250" b="0">
                <a:solidFill>
                  <a:srgbClr val="1A1A1A"/>
                </a:solidFill>
              </a:defRPr>
            </a:pPr>
            <a:r>
              <a:t>Instead of routing every request to a massive, expensive model, Cascade Routing employs an intelligent classifier to triage tasks by complexity. Simple requests are resolved by cheap local models, while hard logic is escalated.</a:t>
            </a:r>
          </a:p>
        </p:txBody>
      </p:sp>
      <p:sp>
        <p:nvSpPr>
          <p:cNvPr id="4" name="Rounded Rectangle 3"/>
          <p:cNvSpPr/>
          <p:nvPr/>
        </p:nvSpPr>
        <p:spPr>
          <a:xfrm>
            <a:off x="914400" y="2926080"/>
            <a:ext cx="2011680" cy="777240"/>
          </a:xfrm>
          <a:prstGeom prst="roundRect">
            <a:avLst/>
          </a:prstGeom>
          <a:solidFill>
            <a:srgbClr val="1A2D4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FFFFFF"/>
                </a:solidFill>
              </a:defRPr>
            </a:pPr>
            <a:r>
              <a:t>User Prompt Input</a:t>
            </a:r>
          </a:p>
        </p:txBody>
      </p:sp>
      <p:cxnSp>
        <p:nvCxnSpPr>
          <p:cNvPr id="5" name="Connector 4"/>
          <p:cNvCxnSpPr/>
          <p:nvPr/>
        </p:nvCxnSpPr>
        <p:spPr>
          <a:xfrm>
            <a:off x="2926080" y="3310128"/>
            <a:ext cx="1188720" cy="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114800" y="2606040"/>
            <a:ext cx="2103120" cy="13716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FFFFFF"/>
                </a:solidFill>
              </a:defRPr>
            </a:pPr>
            <a:r>
              <a:t>Intelligent Classifier</a:t>
            </a:r>
            <a:br/>
            <a:br/>
            <a:r>
              <a:t>(Classifies intent &amp;</a:t>
            </a:r>
            <a:br/>
            <a:r>
              <a:t>complexity score)</a:t>
            </a:r>
          </a:p>
        </p:txBody>
      </p:sp>
      <p:cxnSp>
        <p:nvCxnSpPr>
          <p:cNvPr id="7" name="Connector 6"/>
          <p:cNvCxnSpPr/>
          <p:nvPr/>
        </p:nvCxnSpPr>
        <p:spPr>
          <a:xfrm flipV="1">
            <a:off x="6217920" y="2468880"/>
            <a:ext cx="1554480" cy="45720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772400" y="2011680"/>
            <a:ext cx="3200400" cy="77724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50">
                <a:solidFill>
                  <a:srgbClr val="FFFFFF"/>
                </a:solidFill>
              </a:defRPr>
            </a:pPr>
            <a:r>
              <a:t>Easy / Fast Path</a:t>
            </a:r>
            <a:br/>
            <a:br/>
            <a:r>
              <a:t>Route to Llama 8B / DeepSeek</a:t>
            </a:r>
            <a:br/>
            <a:r>
              <a:t>(Latency: ~100ms  |  Cost: $0)</a:t>
            </a:r>
          </a:p>
        </p:txBody>
      </p:sp>
      <p:cxnSp>
        <p:nvCxnSpPr>
          <p:cNvPr id="9" name="Connector 8"/>
          <p:cNvCxnSpPr/>
          <p:nvPr/>
        </p:nvCxnSpPr>
        <p:spPr>
          <a:xfrm>
            <a:off x="6217920" y="3657600"/>
            <a:ext cx="1554480" cy="457200"/>
          </a:xfrm>
          <a:prstGeom prst="line">
            <a:avLst/>
          </a:prstGeom>
          <a:ln w="25400">
            <a:solidFill>
              <a:srgbClr val="DC262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772400" y="3749040"/>
            <a:ext cx="3200400" cy="77724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50">
                <a:solidFill>
                  <a:srgbClr val="FFFFFF"/>
                </a:solidFill>
              </a:defRPr>
            </a:pPr>
            <a:r>
              <a:t>Hard / Reasoning Path</a:t>
            </a:r>
            <a:br/>
            <a:br/>
            <a:r>
              <a:t>Route to o3 / DeepSeek-R1</a:t>
            </a:r>
            <a:br/>
            <a:r>
              <a:t>(Latency: 5-15s  |  Cost: $15/1M)</a:t>
            </a:r>
          </a:p>
        </p:txBody>
      </p:sp>
      <p:sp>
        <p:nvSpPr>
          <p:cNvPr id="11" name="TextBox 10"/>
          <p:cNvSpPr txBox="1"/>
          <p:nvPr/>
        </p:nvSpPr>
        <p:spPr>
          <a:xfrm>
            <a:off x="914400" y="4663440"/>
            <a:ext cx="10332720" cy="1188720"/>
          </a:xfrm>
          <a:prstGeom prst="rect">
            <a:avLst/>
          </a:prstGeom>
          <a:noFill/>
        </p:spPr>
        <p:txBody>
          <a:bodyPr wrap="square">
            <a:spAutoFit/>
          </a:bodyPr>
          <a:lstStyle/>
          <a:p>
            <a:pPr algn="l">
              <a:defRPr sz="1150" b="0">
                <a:solidFill>
                  <a:srgbClr val="1A1A1A"/>
                </a:solidFill>
              </a:defRPr>
            </a:pPr>
            <a:r>
              <a:t>Design Advantages:</a:t>
            </a:r>
            <a:br/>
            <a:r>
              <a:t>• Yields up to 90% cost savings by preventing wasteful allocations on simple greeting or search queries.</a:t>
            </a:r>
            <a:br/>
            <a:r>
              <a:t>• Maximizes system availability and keeps average user latency to a minimum.</a:t>
            </a:r>
          </a:p>
        </p:txBody>
      </p:sp>
      <p:sp>
        <p:nvSpPr>
          <p:cNvPr id="12" name="TextBox 11"/>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645920"/>
            <a:ext cx="10332720" cy="914400"/>
          </a:xfrm>
          <a:prstGeom prst="rect">
            <a:avLst/>
          </a:prstGeom>
          <a:noFill/>
        </p:spPr>
        <p:txBody>
          <a:bodyPr wrap="square">
            <a:spAutoFit/>
          </a:bodyPr>
          <a:lstStyle/>
          <a:p>
            <a:pPr algn="ctr">
              <a:defRPr sz="5200" b="1">
                <a:solidFill>
                  <a:srgbClr val="3B82F6"/>
                </a:solidFill>
              </a:defRPr>
            </a:pPr>
            <a:r>
              <a:t>Deep-Dive Q&amp;A</a:t>
            </a:r>
          </a:p>
        </p:txBody>
      </p:sp>
      <p:sp>
        <p:nvSpPr>
          <p:cNvPr id="3" name="TextBox 2"/>
          <p:cNvSpPr txBox="1"/>
          <p:nvPr/>
        </p:nvSpPr>
        <p:spPr>
          <a:xfrm>
            <a:off x="914400" y="2743200"/>
            <a:ext cx="10332720" cy="731520"/>
          </a:xfrm>
          <a:prstGeom prst="rect">
            <a:avLst/>
          </a:prstGeom>
          <a:noFill/>
        </p:spPr>
        <p:txBody>
          <a:bodyPr wrap="square">
            <a:spAutoFit/>
          </a:bodyPr>
          <a:lstStyle/>
          <a:p>
            <a:pPr algn="ctr">
              <a:defRPr sz="1800" b="0">
                <a:solidFill>
                  <a:srgbClr val="1A1A1A"/>
                </a:solidFill>
              </a:defRPr>
            </a:pPr>
            <a:r>
              <a:t>Ask me anything about scaled attention, KV caching constraints, thinking paths, or speculative optimizations</a:t>
            </a:r>
          </a:p>
        </p:txBody>
      </p:sp>
      <p:sp>
        <p:nvSpPr>
          <p:cNvPr id="4" name="TextBox 3"/>
          <p:cNvSpPr txBox="1"/>
          <p:nvPr/>
        </p:nvSpPr>
        <p:spPr>
          <a:xfrm>
            <a:off x="914400" y="4114800"/>
            <a:ext cx="10332720" cy="548640"/>
          </a:xfrm>
          <a:prstGeom prst="rect">
            <a:avLst/>
          </a:prstGeom>
          <a:noFill/>
        </p:spPr>
        <p:txBody>
          <a:bodyPr wrap="square">
            <a:spAutoFit/>
          </a:bodyPr>
          <a:lstStyle/>
          <a:p>
            <a:pPr algn="ctr">
              <a:defRPr sz="1400" b="0">
                <a:solidFill>
                  <a:srgbClr val="888880"/>
                </a:solidFill>
              </a:defRPr>
            </a:pPr>
            <a:r>
              <a:t>Visit the Playbook: ai-playbook.pages.dev  •  FlashAttention  •  vLLM</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