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Input ($/1M tokens)</c:v>
                </c:pt>
              </c:strCache>
            </c:strRef>
          </c:tx>
          <c:spPr>
            <a:solidFill>
              <a:srgbClr val="3B82F6"/>
            </a:solidFill>
          </c:spPr>
          <c:cat>
            <c:strRef>
              <c:f>Sheet1!$A$2:$A$7</c:f>
              <c:strCache>
                <c:ptCount val="6"/>
                <c:pt idx="0">
                  <c:v>Claude Opus 4.7</c:v>
                </c:pt>
                <c:pt idx="1">
                  <c:v>Claude Sonnet</c:v>
                </c:pt>
                <c:pt idx="2">
                  <c:v>GPT-5.5</c:v>
                </c:pt>
                <c:pt idx="3">
                  <c:v>Gemini Pro</c:v>
                </c:pt>
                <c:pt idx="4">
                  <c:v>DeepSeek V4</c:v>
                </c:pt>
                <c:pt idx="5">
                  <c:v>Llama 4 (on GPU)</c:v>
                </c:pt>
              </c:strCache>
            </c:strRef>
          </c:cat>
          <c:val>
            <c:numRef>
              <c:f>Sheet1!$B$2:$B$7</c:f>
              <c:numCache>
                <c:formatCode>General</c:formatCode>
                <c:ptCount val="6"/>
                <c:pt idx="0">
                  <c:v>15</c:v>
                </c:pt>
                <c:pt idx="1">
                  <c:v>3</c:v>
                </c:pt>
                <c:pt idx="2">
                  <c:v>2</c:v>
                </c:pt>
                <c:pt idx="3">
                  <c:v>2</c:v>
                </c:pt>
                <c:pt idx="4">
                  <c:v>0.14</c:v>
                </c:pt>
                <c:pt idx="5">
                  <c:v>0</c:v>
                </c:pt>
              </c:numCache>
            </c:numRef>
          </c:val>
        </c:ser>
        <c:ser>
          <c:idx val="1"/>
          <c:order val="1"/>
          <c:tx>
            <c:strRef>
              <c:f>Sheet1!$C$1</c:f>
              <c:strCache>
                <c:ptCount val="1"/>
                <c:pt idx="0">
                  <c:v>Output ($/1M tokens)</c:v>
                </c:pt>
              </c:strCache>
            </c:strRef>
          </c:tx>
          <c:spPr>
            <a:solidFill>
              <a:srgbClr val="16A34A"/>
            </a:solidFill>
          </c:spPr>
          <c:cat>
            <c:strRef>
              <c:f>Sheet1!$A$2:$A$7</c:f>
              <c:strCache>
                <c:ptCount val="6"/>
                <c:pt idx="0">
                  <c:v>Claude Opus 4.7</c:v>
                </c:pt>
                <c:pt idx="1">
                  <c:v>Claude Sonnet</c:v>
                </c:pt>
                <c:pt idx="2">
                  <c:v>GPT-5.5</c:v>
                </c:pt>
                <c:pt idx="3">
                  <c:v>Gemini Pro</c:v>
                </c:pt>
                <c:pt idx="4">
                  <c:v>DeepSeek V4</c:v>
                </c:pt>
                <c:pt idx="5">
                  <c:v>Llama 4 (on GPU)</c:v>
                </c:pt>
              </c:strCache>
            </c:strRef>
          </c:cat>
          <c:val>
            <c:numRef>
              <c:f>Sheet1!$C$2:$C$7</c:f>
              <c:numCache>
                <c:formatCode>General</c:formatCode>
                <c:ptCount val="6"/>
                <c:pt idx="0">
                  <c:v>75</c:v>
                </c:pt>
                <c:pt idx="1">
                  <c:v>15</c:v>
                </c:pt>
                <c:pt idx="2">
                  <c:v>8</c:v>
                </c:pt>
                <c:pt idx="3">
                  <c:v>12</c:v>
                </c:pt>
                <c:pt idx="4">
                  <c:v>0.28</c:v>
                </c:pt>
                <c:pt idx="5">
                  <c:v>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Builder Level Presentation. Today we will dive under the hood of LLM application design, review the training pipeline, contrast adaptation styles, inspect RAG architectures, and map build-vs-buy parameters.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section, we move beyond simple autocomplete to inspect tokens, parameters, and the formal training pipelines.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tokens are sub-word units. Large context windows mean models can analyze entire books or large repositories of code. However, longer history means higher per-message API costs since the context gets re-processed.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training hierarchy. Pretraining is building the brain. SFT is teaching it a specific profession. RLHF is teaching it how to behave politely in office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adaptation spectrum. Remind builders that fine-tuning does not prevent hallucinations, it only changes the model's formatting style. RAG is the primary cure for factual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second part, we explore the mechanics of RAG (Retrieval-Augmented Generation) and analyze corporate system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RAG is popular: it provides a clear audit trail. Because the model must cite its source snippet from the vector database, we can immediately verify its statements and prevent hallucinated fabrications.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Categorize the tools for the builder. Remind them that most organizations combine multiple: Cursor for developers, Claude for corporate writers, and APIs + Vector Databases for custom internal software.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decision mechanics. Unless highly restricted by medical or financial compliance, starting with Cloud APIs is almost always the right financial choice. Self-hosting only becomes cheaper at extreme token volumes.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pricing chart. Highlight that DeepSeek has completely disrupted the market by offering frontier capabilities at 100x lower fees. Llama has zero license fee but requires renting hardware GPUs.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builders through this practical 30-day plan. Building doesn't require months. By breaking the task into Prototyping, RAG context injection, and Production telemetry, a solid MVP can be shipped in under a month.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floor for builder-focused Q&amp;A. Be prepared to address questions regarding token limits, vector database pricing, and handling raw document formatting inside RAG loaders.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1371600"/>
          </a:xfrm>
          <a:prstGeom prst="rect">
            <a:avLst/>
          </a:prstGeom>
          <a:noFill/>
        </p:spPr>
        <p:txBody>
          <a:bodyPr wrap="square">
            <a:spAutoFit/>
          </a:bodyPr>
          <a:lstStyle/>
          <a:p>
            <a:pPr algn="l">
              <a:defRPr sz="4400" b="1">
                <a:solidFill>
                  <a:srgbClr val="3B82F6"/>
                </a:solidFill>
              </a:defRPr>
            </a:pPr>
            <a:r>
              <a:t>AI System Design: Building with LLMs</a:t>
            </a:r>
          </a:p>
        </p:txBody>
      </p:sp>
      <p:sp>
        <p:nvSpPr>
          <p:cNvPr id="3" name="TextBox 2"/>
          <p:cNvSpPr txBox="1"/>
          <p:nvPr/>
        </p:nvSpPr>
        <p:spPr>
          <a:xfrm>
            <a:off x="914400" y="2926080"/>
            <a:ext cx="10332720" cy="914400"/>
          </a:xfrm>
          <a:prstGeom prst="rect">
            <a:avLst/>
          </a:prstGeom>
          <a:noFill/>
        </p:spPr>
        <p:txBody>
          <a:bodyPr wrap="square">
            <a:spAutoFit/>
          </a:bodyPr>
          <a:lstStyle/>
          <a:p>
            <a:pPr algn="l">
              <a:defRPr sz="2200" b="0">
                <a:solidFill>
                  <a:srgbClr val="1A1A1A"/>
                </a:solidFill>
              </a:defRPr>
            </a:pPr>
            <a:r>
              <a:t>From Prompting to RAG, Fine-tuning, &amp; Infrastructure Decisions</a:t>
            </a:r>
          </a:p>
        </p:txBody>
      </p:sp>
      <p:sp>
        <p:nvSpPr>
          <p:cNvPr id="4" name="TextBox 3"/>
          <p:cNvSpPr txBox="1"/>
          <p:nvPr/>
        </p:nvSpPr>
        <p:spPr>
          <a:xfrm>
            <a:off x="914400" y="3840480"/>
            <a:ext cx="10332720" cy="548640"/>
          </a:xfrm>
          <a:prstGeom prst="rect">
            <a:avLst/>
          </a:prstGeom>
          <a:noFill/>
        </p:spPr>
        <p:txBody>
          <a:bodyPr wrap="square">
            <a:spAutoFit/>
          </a:bodyPr>
          <a:lstStyle/>
          <a:p>
            <a:pPr algn="l">
              <a:defRPr sz="1300" b="0">
                <a:solidFill>
                  <a:srgbClr val="888880"/>
                </a:solidFill>
              </a:defRPr>
            </a:pPr>
            <a:r>
              <a:t>Level 2: Builder Presentation  •  AI Playbook</a:t>
            </a:r>
          </a:p>
        </p:txBody>
      </p:sp>
      <p:sp>
        <p:nvSpPr>
          <p:cNvPr id="5" name="Rectangle 4"/>
          <p:cNvSpPr/>
          <p:nvPr/>
        </p:nvSpPr>
        <p:spPr>
          <a:xfrm>
            <a:off x="914400" y="2834640"/>
            <a:ext cx="164592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1</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Deepening the Mechanics</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Tokens, training pipelines, and the LLM adaptation spectrum</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Tokens, Context Windows &amp; Memory limits</a:t>
            </a:r>
          </a:p>
        </p:txBody>
      </p:sp>
      <p:sp>
        <p:nvSpPr>
          <p:cNvPr id="3" name="TextBox 2"/>
          <p:cNvSpPr txBox="1"/>
          <p:nvPr/>
        </p:nvSpPr>
        <p:spPr>
          <a:xfrm>
            <a:off x="914400" y="914400"/>
            <a:ext cx="4846320" cy="365760"/>
          </a:xfrm>
          <a:prstGeom prst="rect">
            <a:avLst/>
          </a:prstGeom>
          <a:noFill/>
        </p:spPr>
        <p:txBody>
          <a:bodyPr wrap="square">
            <a:spAutoFit/>
          </a:bodyPr>
          <a:lstStyle/>
          <a:p>
            <a:pPr algn="l">
              <a:defRPr sz="1800" b="1">
                <a:solidFill>
                  <a:srgbClr val="3B82F6"/>
                </a:solidFill>
              </a:defRPr>
            </a:pPr>
            <a:r>
              <a:t>Tokens: The Currency of AI</a:t>
            </a:r>
          </a:p>
        </p:txBody>
      </p:sp>
      <p:sp>
        <p:nvSpPr>
          <p:cNvPr id="4" name="TextBox 3"/>
          <p:cNvSpPr txBox="1"/>
          <p:nvPr/>
        </p:nvSpPr>
        <p:spPr>
          <a:xfrm>
            <a:off x="914400" y="1371600"/>
            <a:ext cx="4846320" cy="2743200"/>
          </a:xfrm>
          <a:prstGeom prst="rect">
            <a:avLst/>
          </a:prstGeom>
          <a:noFill/>
        </p:spPr>
        <p:txBody>
          <a:bodyPr wrap="square">
            <a:spAutoFit/>
          </a:bodyPr>
          <a:lstStyle/>
          <a:p>
            <a:pPr algn="l">
              <a:defRPr sz="1200" b="0">
                <a:solidFill>
                  <a:srgbClr val="1A1A1A"/>
                </a:solidFill>
              </a:defRPr>
            </a:pPr>
            <a:r>
              <a:t>Models do not process characters or words directly; they process tokens.</a:t>
            </a:r>
            <a:br/>
            <a:br/>
            <a:r>
              <a:t>• A token is approximately ¾ of a word.</a:t>
            </a:r>
            <a:br/>
            <a:r>
              <a:t>• 1,000 tokens ≈ 750 words ≈ 1.5 single-spaced pages.</a:t>
            </a:r>
            <a:br/>
            <a:r>
              <a:t>• Input Tokens: Prompt data read by the model (cheaper).</a:t>
            </a:r>
            <a:br/>
            <a:r>
              <a:t>• Output Tokens: Response data written by the model (more expensive).</a:t>
            </a:r>
            <a:br/>
            <a:br/>
            <a:r>
              <a:t>Example text segmentation:</a:t>
            </a:r>
          </a:p>
        </p:txBody>
      </p:sp>
      <p:sp>
        <p:nvSpPr>
          <p:cNvPr id="5" name="Rounded Rectangle 4"/>
          <p:cNvSpPr/>
          <p:nvPr/>
        </p:nvSpPr>
        <p:spPr>
          <a:xfrm>
            <a:off x="914400" y="4297680"/>
            <a:ext cx="4846320" cy="640080"/>
          </a:xfrm>
          <a:prstGeom prst="round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389120"/>
            <a:ext cx="4846320" cy="457200"/>
          </a:xfrm>
          <a:prstGeom prst="rect">
            <a:avLst/>
          </a:prstGeom>
          <a:noFill/>
        </p:spPr>
        <p:txBody>
          <a:bodyPr wrap="square">
            <a:spAutoFit/>
          </a:bodyPr>
          <a:lstStyle/>
          <a:p>
            <a:pPr algn="ctr">
              <a:defRPr sz="1200" b="0">
                <a:solidFill>
                  <a:srgbClr val="1A1A1A"/>
                </a:solidFill>
              </a:defRPr>
            </a:pPr>
            <a:r>
              <a:t>Token | i | za | tion |  helps |  mod | els |  read</a:t>
            </a:r>
          </a:p>
        </p:txBody>
      </p:sp>
      <p:sp>
        <p:nvSpPr>
          <p:cNvPr id="7" name="TextBox 6"/>
          <p:cNvSpPr txBox="1"/>
          <p:nvPr/>
        </p:nvSpPr>
        <p:spPr>
          <a:xfrm>
            <a:off x="6400800" y="914400"/>
            <a:ext cx="4846320" cy="365760"/>
          </a:xfrm>
          <a:prstGeom prst="rect">
            <a:avLst/>
          </a:prstGeom>
          <a:noFill/>
        </p:spPr>
        <p:txBody>
          <a:bodyPr wrap="square">
            <a:spAutoFit/>
          </a:bodyPr>
          <a:lstStyle/>
          <a:p>
            <a:pPr algn="l">
              <a:defRPr sz="1800" b="1">
                <a:solidFill>
                  <a:srgbClr val="3B82F6"/>
                </a:solidFill>
              </a:defRPr>
            </a:pPr>
            <a:r>
              <a:t>Context Windows: Scaling Conversation Memory</a:t>
            </a:r>
          </a:p>
        </p:txBody>
      </p:sp>
      <p:sp>
        <p:nvSpPr>
          <p:cNvPr id="8" name="TextBox 7"/>
          <p:cNvSpPr txBox="1"/>
          <p:nvPr/>
        </p:nvSpPr>
        <p:spPr>
          <a:xfrm>
            <a:off x="6400800" y="1371600"/>
            <a:ext cx="4846320" cy="2743200"/>
          </a:xfrm>
          <a:prstGeom prst="rect">
            <a:avLst/>
          </a:prstGeom>
          <a:noFill/>
        </p:spPr>
        <p:txBody>
          <a:bodyPr wrap="square">
            <a:spAutoFit/>
          </a:bodyPr>
          <a:lstStyle/>
          <a:p>
            <a:pPr algn="l">
              <a:defRPr sz="1200" b="0">
                <a:solidFill>
                  <a:srgbClr val="1A1A1A"/>
                </a:solidFill>
              </a:defRPr>
            </a:pPr>
            <a:r>
              <a:t>The context window determines the exact amount of text the model can process in a single conversation history.</a:t>
            </a:r>
            <a:br/>
            <a:br/>
            <a:r>
              <a:t>Crucially: The entire chat log is re-sent with every new message. Longer histories cost exponentially more in token fees.</a:t>
            </a:r>
            <a:br/>
            <a:br/>
            <a:r>
              <a:t>2026 Memory Windows compared:</a:t>
            </a:r>
            <a:br/>
            <a:r>
              <a:t>• GPT-5.5: 128,000 tokens (~200 pages)</a:t>
            </a:r>
            <a:br/>
            <a:r>
              <a:t>• Claude Opus 4.7: 400,000 tokens (~600 pages)</a:t>
            </a:r>
            <a:br/>
            <a:r>
              <a:t>• Gemini 3.1 Pro: 1,000,000 tokens (~1,500 pages / 2x War &amp; Peace)</a:t>
            </a:r>
          </a:p>
        </p:txBody>
      </p:sp>
      <p:sp>
        <p:nvSpPr>
          <p:cNvPr id="9" name="TextBox 8"/>
          <p:cNvSpPr txBox="1"/>
          <p:nvPr/>
        </p:nvSpPr>
        <p:spPr>
          <a:xfrm>
            <a:off x="6400800" y="4297680"/>
            <a:ext cx="4846320" cy="457200"/>
          </a:xfrm>
          <a:prstGeom prst="rect">
            <a:avLst/>
          </a:prstGeom>
          <a:noFill/>
        </p:spPr>
        <p:txBody>
          <a:bodyPr wrap="square">
            <a:spAutoFit/>
          </a:bodyPr>
          <a:lstStyle/>
          <a:p>
            <a:pPr algn="ctr">
              <a:defRPr sz="1100" b="1">
                <a:solidFill>
                  <a:srgbClr val="16A34A"/>
                </a:solidFill>
              </a:defRPr>
            </a:pPr>
            <a:r>
              <a:t>Gemini (1M) &gt; Claude (400K) &gt; GPT (128K)</a:t>
            </a:r>
          </a:p>
        </p:txBody>
      </p:sp>
      <p:sp>
        <p:nvSpPr>
          <p:cNvPr id="10" name="TextBox 9"/>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How LLMs Learn — Deployed Training Pipeline</a:t>
            </a:r>
          </a:p>
        </p:txBody>
      </p:sp>
      <p:sp>
        <p:nvSpPr>
          <p:cNvPr id="3" name="Rounded Rectangle 2"/>
          <p:cNvSpPr/>
          <p:nvPr/>
        </p:nvSpPr>
        <p:spPr>
          <a:xfrm>
            <a:off x="914400" y="1097280"/>
            <a:ext cx="3200400" cy="329184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2834640" cy="411480"/>
          </a:xfrm>
          <a:prstGeom prst="rect">
            <a:avLst/>
          </a:prstGeom>
          <a:noFill/>
        </p:spPr>
        <p:txBody>
          <a:bodyPr wrap="square">
            <a:spAutoFit/>
          </a:bodyPr>
          <a:lstStyle/>
          <a:p>
            <a:pPr algn="l">
              <a:defRPr sz="1600" b="1">
                <a:solidFill>
                  <a:srgbClr val="3B82F6"/>
                </a:solidFill>
              </a:defRPr>
            </a:pPr>
            <a:r>
              <a:t>Pretraining</a:t>
            </a:r>
          </a:p>
        </p:txBody>
      </p:sp>
      <p:sp>
        <p:nvSpPr>
          <p:cNvPr id="5" name="TextBox 4"/>
          <p:cNvSpPr txBox="1"/>
          <p:nvPr/>
        </p:nvSpPr>
        <p:spPr>
          <a:xfrm>
            <a:off x="1097280" y="1737360"/>
            <a:ext cx="2834640" cy="274320"/>
          </a:xfrm>
          <a:prstGeom prst="rect">
            <a:avLst/>
          </a:prstGeom>
          <a:noFill/>
        </p:spPr>
        <p:txBody>
          <a:bodyPr wrap="square">
            <a:spAutoFit/>
          </a:bodyPr>
          <a:lstStyle/>
          <a:p>
            <a:pPr algn="l">
              <a:defRPr sz="1100" b="0">
                <a:solidFill>
                  <a:srgbClr val="888880"/>
                </a:solidFill>
              </a:defRPr>
            </a:pPr>
            <a:r>
              <a:t>Mode: Unsupervised</a:t>
            </a:r>
          </a:p>
        </p:txBody>
      </p:sp>
      <p:sp>
        <p:nvSpPr>
          <p:cNvPr id="6" name="Rectangle 5"/>
          <p:cNvSpPr/>
          <p:nvPr/>
        </p:nvSpPr>
        <p:spPr>
          <a:xfrm>
            <a:off x="1097280" y="2103120"/>
            <a:ext cx="2834640" cy="127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2834640" cy="1828800"/>
          </a:xfrm>
          <a:prstGeom prst="rect">
            <a:avLst/>
          </a:prstGeom>
          <a:noFill/>
        </p:spPr>
        <p:txBody>
          <a:bodyPr wrap="square">
            <a:spAutoFit/>
          </a:bodyPr>
          <a:lstStyle/>
          <a:p>
            <a:pPr algn="l">
              <a:defRPr sz="1050" b="0">
                <a:solidFill>
                  <a:srgbClr val="1A1A1A"/>
                </a:solidFill>
              </a:defRPr>
            </a:pPr>
            <a:r>
              <a:t>• Data size: Trillions of words</a:t>
            </a:r>
            <a:br/>
            <a:br/>
            <a:r>
              <a:t>• Training cost: Cost: $10M-$100M</a:t>
            </a:r>
            <a:br/>
            <a:br/>
            <a:r>
              <a:t>• Primary goal: Goal: Learn grammar, syntax, world facts</a:t>
            </a:r>
          </a:p>
        </p:txBody>
      </p:sp>
      <p:cxnSp>
        <p:nvCxnSpPr>
          <p:cNvPr id="8" name="Connector 7"/>
          <p:cNvCxnSpPr/>
          <p:nvPr/>
        </p:nvCxnSpPr>
        <p:spPr>
          <a:xfrm>
            <a:off x="4114800" y="2743200"/>
            <a:ext cx="365760" cy="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0560" y="1097280"/>
            <a:ext cx="3200400" cy="329184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280160"/>
            <a:ext cx="2834640" cy="411480"/>
          </a:xfrm>
          <a:prstGeom prst="rect">
            <a:avLst/>
          </a:prstGeom>
          <a:noFill/>
        </p:spPr>
        <p:txBody>
          <a:bodyPr wrap="square">
            <a:spAutoFit/>
          </a:bodyPr>
          <a:lstStyle/>
          <a:p>
            <a:pPr algn="l">
              <a:defRPr sz="1600" b="1">
                <a:solidFill>
                  <a:srgbClr val="3B82F6"/>
                </a:solidFill>
              </a:defRPr>
            </a:pPr>
            <a:r>
              <a:t>SFT Fine-Tuning</a:t>
            </a:r>
          </a:p>
        </p:txBody>
      </p:sp>
      <p:sp>
        <p:nvSpPr>
          <p:cNvPr id="11" name="TextBox 10"/>
          <p:cNvSpPr txBox="1"/>
          <p:nvPr/>
        </p:nvSpPr>
        <p:spPr>
          <a:xfrm>
            <a:off x="4663440" y="1737360"/>
            <a:ext cx="2834640" cy="274320"/>
          </a:xfrm>
          <a:prstGeom prst="rect">
            <a:avLst/>
          </a:prstGeom>
          <a:noFill/>
        </p:spPr>
        <p:txBody>
          <a:bodyPr wrap="square">
            <a:spAutoFit/>
          </a:bodyPr>
          <a:lstStyle/>
          <a:p>
            <a:pPr algn="l">
              <a:defRPr sz="1100" b="0">
                <a:solidFill>
                  <a:srgbClr val="888880"/>
                </a:solidFill>
              </a:defRPr>
            </a:pPr>
            <a:r>
              <a:t>Mode: Supervised</a:t>
            </a:r>
          </a:p>
        </p:txBody>
      </p:sp>
      <p:sp>
        <p:nvSpPr>
          <p:cNvPr id="12" name="Rectangle 11"/>
          <p:cNvSpPr/>
          <p:nvPr/>
        </p:nvSpPr>
        <p:spPr>
          <a:xfrm>
            <a:off x="4663440" y="2103120"/>
            <a:ext cx="2834640" cy="127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286000"/>
            <a:ext cx="2834640" cy="1828800"/>
          </a:xfrm>
          <a:prstGeom prst="rect">
            <a:avLst/>
          </a:prstGeom>
          <a:noFill/>
        </p:spPr>
        <p:txBody>
          <a:bodyPr wrap="square">
            <a:spAutoFit/>
          </a:bodyPr>
          <a:lstStyle/>
          <a:p>
            <a:pPr algn="l">
              <a:defRPr sz="1050" b="0">
                <a:solidFill>
                  <a:srgbClr val="1A1A1A"/>
                </a:solidFill>
              </a:defRPr>
            </a:pPr>
            <a:r>
              <a:t>• Data size: Thousands of target examples</a:t>
            </a:r>
            <a:br/>
            <a:br/>
            <a:r>
              <a:t>• Training cost: Cost: $100-$10K</a:t>
            </a:r>
            <a:br/>
            <a:br/>
            <a:r>
              <a:t>• Primary goal: Goal: Adapt to custom tasks/voices</a:t>
            </a:r>
          </a:p>
        </p:txBody>
      </p:sp>
      <p:cxnSp>
        <p:nvCxnSpPr>
          <p:cNvPr id="14" name="Connector 13"/>
          <p:cNvCxnSpPr/>
          <p:nvPr/>
        </p:nvCxnSpPr>
        <p:spPr>
          <a:xfrm>
            <a:off x="7680960" y="2743200"/>
            <a:ext cx="365760" cy="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20" y="1097280"/>
            <a:ext cx="3200400" cy="329184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280160"/>
            <a:ext cx="2834640" cy="411480"/>
          </a:xfrm>
          <a:prstGeom prst="rect">
            <a:avLst/>
          </a:prstGeom>
          <a:noFill/>
        </p:spPr>
        <p:txBody>
          <a:bodyPr wrap="square">
            <a:spAutoFit/>
          </a:bodyPr>
          <a:lstStyle/>
          <a:p>
            <a:pPr algn="l">
              <a:defRPr sz="1600" b="1">
                <a:solidFill>
                  <a:srgbClr val="16A34A"/>
                </a:solidFill>
              </a:defRPr>
            </a:pPr>
            <a:r>
              <a:t>RLHF / DPO</a:t>
            </a:r>
          </a:p>
        </p:txBody>
      </p:sp>
      <p:sp>
        <p:nvSpPr>
          <p:cNvPr id="17" name="TextBox 16"/>
          <p:cNvSpPr txBox="1"/>
          <p:nvPr/>
        </p:nvSpPr>
        <p:spPr>
          <a:xfrm>
            <a:off x="8229600" y="1737360"/>
            <a:ext cx="2834640" cy="274320"/>
          </a:xfrm>
          <a:prstGeom prst="rect">
            <a:avLst/>
          </a:prstGeom>
          <a:noFill/>
        </p:spPr>
        <p:txBody>
          <a:bodyPr wrap="square">
            <a:spAutoFit/>
          </a:bodyPr>
          <a:lstStyle/>
          <a:p>
            <a:pPr algn="l">
              <a:defRPr sz="1100" b="0">
                <a:solidFill>
                  <a:srgbClr val="888880"/>
                </a:solidFill>
              </a:defRPr>
            </a:pPr>
            <a:r>
              <a:t>Mode: Reinforcement</a:t>
            </a:r>
          </a:p>
        </p:txBody>
      </p:sp>
      <p:sp>
        <p:nvSpPr>
          <p:cNvPr id="18" name="Rectangle 17"/>
          <p:cNvSpPr/>
          <p:nvPr/>
        </p:nvSpPr>
        <p:spPr>
          <a:xfrm>
            <a:off x="8229600" y="2103120"/>
            <a:ext cx="2834640" cy="127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286000"/>
            <a:ext cx="2834640" cy="1828800"/>
          </a:xfrm>
          <a:prstGeom prst="rect">
            <a:avLst/>
          </a:prstGeom>
          <a:noFill/>
        </p:spPr>
        <p:txBody>
          <a:bodyPr wrap="square">
            <a:spAutoFit/>
          </a:bodyPr>
          <a:lstStyle/>
          <a:p>
            <a:pPr algn="l">
              <a:defRPr sz="1050" b="0">
                <a:solidFill>
                  <a:srgbClr val="1A1A1A"/>
                </a:solidFill>
              </a:defRPr>
            </a:pPr>
            <a:r>
              <a:t>• Data size: Human preference pairings</a:t>
            </a:r>
            <a:br/>
            <a:br/>
            <a:r>
              <a:t>• Training cost: Cost: $1K-$50K</a:t>
            </a:r>
            <a:br/>
            <a:br/>
            <a:r>
              <a:t>• Primary goal: Goal: Align outputs for helpfulness/safety</a:t>
            </a:r>
          </a:p>
        </p:txBody>
      </p:sp>
      <p:sp>
        <p:nvSpPr>
          <p:cNvPr id="20" name="Rounded Rectangle 19"/>
          <p:cNvSpPr/>
          <p:nvPr/>
        </p:nvSpPr>
        <p:spPr>
          <a:xfrm>
            <a:off x="914400" y="4663440"/>
            <a:ext cx="10332720" cy="11887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754880"/>
            <a:ext cx="9784080" cy="1005840"/>
          </a:xfrm>
          <a:prstGeom prst="rect">
            <a:avLst/>
          </a:prstGeom>
          <a:noFill/>
        </p:spPr>
        <p:txBody>
          <a:bodyPr wrap="square">
            <a:spAutoFit/>
          </a:bodyPr>
          <a:lstStyle/>
          <a:p>
            <a:pPr algn="l">
              <a:defRPr sz="1100" b="1">
                <a:solidFill>
                  <a:srgbClr val="16A34A"/>
                </a:solidFill>
              </a:defRPr>
            </a:pPr>
            <a:r>
              <a:t>Strategic Insight: You rarely need to pretrain a model. Fine-tuning is 10,000x cheaper. SFT teaches the model formatting and style, while RLHF (or DPO—Direct Preference Optimization) aligns it to human guidelines.</a:t>
            </a:r>
          </a:p>
        </p:txBody>
      </p:sp>
      <p:sp>
        <p:nvSpPr>
          <p:cNvPr id="22" name="TextBox 21"/>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Adaptability: Prompting vs. RAG vs. Fine-Tuning</a:t>
            </a:r>
          </a:p>
        </p:txBody>
      </p:sp>
      <p:graphicFrame>
        <p:nvGraphicFramePr>
          <p:cNvPr id="3" name="Table 2"/>
          <p:cNvGraphicFramePr>
            <a:graphicFrameLocks noGrp="1"/>
          </p:cNvGraphicFramePr>
          <p:nvPr/>
        </p:nvGraphicFramePr>
        <p:xfrm>
          <a:off x="914400" y="1005840"/>
          <a:ext cx="10032720" cy="2011680"/>
        </p:xfrm>
        <a:graphic>
          <a:graphicData uri="http://schemas.openxmlformats.org/drawingml/2006/table">
            <a:tbl>
              <a:tblPr firstRow="1" bandRow="1">
                <a:tableStyleId>{5C22544A-7EE6-4342-B048-85BDC9FD1C3A}</a:tableStyleId>
              </a:tblPr>
              <a:tblGrid>
                <a:gridCol w="1672120"/>
                <a:gridCol w="1672120"/>
                <a:gridCol w="1672120"/>
                <a:gridCol w="1672120"/>
                <a:gridCol w="1672120"/>
                <a:gridCol w="1672120"/>
              </a:tblGrid>
              <a:tr h="502920">
                <a:tc>
                  <a:txBody>
                    <a:bodyPr/>
                    <a:lstStyle/>
                    <a:p>
                      <a:pPr>
                        <a:defRPr sz="950" b="1">
                          <a:solidFill>
                            <a:srgbClr val="FFFFFF"/>
                          </a:solidFill>
                        </a:defRPr>
                      </a:pPr>
                      <a:r>
                        <a:t>Method</a:t>
                      </a:r>
                    </a:p>
                  </a:txBody>
                  <a:tcPr>
                    <a:solidFill>
                      <a:srgbClr val="3B82F6"/>
                    </a:solidFill>
                  </a:tcPr>
                </a:tc>
                <a:tc>
                  <a:txBody>
                    <a:bodyPr/>
                    <a:lstStyle/>
                    <a:p>
                      <a:pPr>
                        <a:defRPr sz="950" b="1">
                          <a:solidFill>
                            <a:srgbClr val="FFFFFF"/>
                          </a:solidFill>
                        </a:defRPr>
                      </a:pPr>
                      <a:r>
                        <a:t>Set-up Time</a:t>
                      </a:r>
                    </a:p>
                  </a:txBody>
                  <a:tcPr>
                    <a:solidFill>
                      <a:srgbClr val="3B82F6"/>
                    </a:solidFill>
                  </a:tcPr>
                </a:tc>
                <a:tc>
                  <a:txBody>
                    <a:bodyPr/>
                    <a:lstStyle/>
                    <a:p>
                      <a:pPr>
                        <a:defRPr sz="950" b="1">
                          <a:solidFill>
                            <a:srgbClr val="FFFFFF"/>
                          </a:solidFill>
                        </a:defRPr>
                      </a:pPr>
                      <a:r>
                        <a:t>Compute Cost</a:t>
                      </a:r>
                    </a:p>
                  </a:txBody>
                  <a:tcPr>
                    <a:solidFill>
                      <a:srgbClr val="3B82F6"/>
                    </a:solidFill>
                  </a:tcPr>
                </a:tc>
                <a:tc>
                  <a:txBody>
                    <a:bodyPr/>
                    <a:lstStyle/>
                    <a:p>
                      <a:pPr>
                        <a:defRPr sz="950" b="1">
                          <a:solidFill>
                            <a:srgbClr val="FFFFFF"/>
                          </a:solidFill>
                        </a:defRPr>
                      </a:pPr>
                      <a:r>
                        <a:t>Setup Difficulty</a:t>
                      </a:r>
                    </a:p>
                  </a:txBody>
                  <a:tcPr>
                    <a:solidFill>
                      <a:srgbClr val="3B82F6"/>
                    </a:solidFill>
                  </a:tcPr>
                </a:tc>
                <a:tc>
                  <a:txBody>
                    <a:bodyPr/>
                    <a:lstStyle/>
                    <a:p>
                      <a:pPr>
                        <a:defRPr sz="950" b="1">
                          <a:solidFill>
                            <a:srgbClr val="FFFFFF"/>
                          </a:solidFill>
                        </a:defRPr>
                      </a:pPr>
                      <a:r>
                        <a:t>Data Access</a:t>
                      </a:r>
                    </a:p>
                  </a:txBody>
                  <a:tcPr>
                    <a:solidFill>
                      <a:srgbClr val="3B82F6"/>
                    </a:solidFill>
                  </a:tcPr>
                </a:tc>
                <a:tc>
                  <a:txBody>
                    <a:bodyPr/>
                    <a:lstStyle/>
                    <a:p>
                      <a:pPr>
                        <a:defRPr sz="950" b="1">
                          <a:solidFill>
                            <a:srgbClr val="FFFFFF"/>
                          </a:solidFill>
                        </a:defRPr>
                      </a:pPr>
                      <a:r>
                        <a:t>Best Suited For</a:t>
                      </a:r>
                    </a:p>
                  </a:txBody>
                  <a:tcPr>
                    <a:solidFill>
                      <a:srgbClr val="3B82F6"/>
                    </a:solidFill>
                  </a:tcPr>
                </a:tc>
              </a:tr>
              <a:tr h="502920">
                <a:tc>
                  <a:txBody>
                    <a:bodyPr/>
                    <a:lstStyle/>
                    <a:p>
                      <a:pPr>
                        <a:defRPr sz="1050">
                          <a:solidFill>
                            <a:srgbClr val="1A1A1A"/>
                          </a:solidFill>
                        </a:defRPr>
                      </a:pPr>
                      <a:r>
                        <a:t>Prompt Engineering</a:t>
                      </a:r>
                    </a:p>
                  </a:txBody>
                  <a:tcPr>
                    <a:solidFill>
                      <a:srgbClr val="E0DCD6"/>
                    </a:solidFill>
                  </a:tcPr>
                </a:tc>
                <a:tc>
                  <a:txBody>
                    <a:bodyPr/>
                    <a:lstStyle/>
                    <a:p>
                      <a:pPr>
                        <a:defRPr sz="1050">
                          <a:solidFill>
                            <a:srgbClr val="1A1A1A"/>
                          </a:solidFill>
                        </a:defRPr>
                      </a:pPr>
                      <a:r>
                        <a:t>Instant (minutes)</a:t>
                      </a:r>
                    </a:p>
                  </a:txBody>
                  <a:tcPr>
                    <a:solidFill>
                      <a:srgbClr val="E0DCD6"/>
                    </a:solidFill>
                  </a:tcPr>
                </a:tc>
                <a:tc>
                  <a:txBody>
                    <a:bodyPr/>
                    <a:lstStyle/>
                    <a:p>
                      <a:pPr>
                        <a:defRPr sz="1050">
                          <a:solidFill>
                            <a:srgbClr val="1A1A1A"/>
                          </a:solidFill>
                        </a:defRPr>
                      </a:pPr>
                      <a:r>
                        <a:t>Zero extra cost</a:t>
                      </a:r>
                    </a:p>
                  </a:txBody>
                  <a:tcPr>
                    <a:solidFill>
                      <a:srgbClr val="E0DCD6"/>
                    </a:solidFill>
                  </a:tcPr>
                </a:tc>
                <a:tc>
                  <a:txBody>
                    <a:bodyPr/>
                    <a:lstStyle/>
                    <a:p>
                      <a:pPr>
                        <a:defRPr sz="1050">
                          <a:solidFill>
                            <a:srgbClr val="1A1A1A"/>
                          </a:solidFill>
                        </a:defRPr>
                      </a:pPr>
                      <a:r>
                        <a:t>Low (writing skills)</a:t>
                      </a:r>
                    </a:p>
                  </a:txBody>
                  <a:tcPr>
                    <a:solidFill>
                      <a:srgbClr val="E0DCD6"/>
                    </a:solidFill>
                  </a:tcPr>
                </a:tc>
                <a:tc>
                  <a:txBody>
                    <a:bodyPr/>
                    <a:lstStyle/>
                    <a:p>
                      <a:pPr>
                        <a:defRPr sz="1050">
                          <a:solidFill>
                            <a:srgbClr val="1A1A1A"/>
                          </a:solidFill>
                        </a:defRPr>
                      </a:pPr>
                      <a:r>
                        <a:t>Static / In-context</a:t>
                      </a:r>
                    </a:p>
                  </a:txBody>
                  <a:tcPr>
                    <a:solidFill>
                      <a:srgbClr val="E0DCD6"/>
                    </a:solidFill>
                  </a:tcPr>
                </a:tc>
                <a:tc>
                  <a:txBody>
                    <a:bodyPr/>
                    <a:lstStyle/>
                    <a:p>
                      <a:pPr>
                        <a:defRPr sz="1050">
                          <a:solidFill>
                            <a:srgbClr val="1A1A1A"/>
                          </a:solidFill>
                        </a:defRPr>
                      </a:pPr>
                      <a:r>
                        <a:t>General writing, summaries, coding helper</a:t>
                      </a:r>
                    </a:p>
                  </a:txBody>
                  <a:tcPr>
                    <a:solidFill>
                      <a:srgbClr val="E0DCD6"/>
                    </a:solidFill>
                  </a:tcPr>
                </a:tc>
              </a:tr>
              <a:tr h="502920">
                <a:tc>
                  <a:txBody>
                    <a:bodyPr/>
                    <a:lstStyle/>
                    <a:p>
                      <a:pPr>
                        <a:defRPr sz="1050">
                          <a:solidFill>
                            <a:srgbClr val="1A1A1A"/>
                          </a:solidFill>
                        </a:defRPr>
                      </a:pPr>
                      <a:r>
                        <a:t>Retrieval-Augmented (RAG)</a:t>
                      </a:r>
                    </a:p>
                  </a:txBody>
                  <a:tcPr/>
                </a:tc>
                <a:tc>
                  <a:txBody>
                    <a:bodyPr/>
                    <a:lstStyle/>
                    <a:p>
                      <a:pPr>
                        <a:defRPr sz="1050">
                          <a:solidFill>
                            <a:srgbClr val="1A1A1A"/>
                          </a:solidFill>
                        </a:defRPr>
                      </a:pPr>
                      <a:r>
                        <a:t>Hours - Days</a:t>
                      </a:r>
                    </a:p>
                  </a:txBody>
                  <a:tcPr/>
                </a:tc>
                <a:tc>
                  <a:txBody>
                    <a:bodyPr/>
                    <a:lstStyle/>
                    <a:p>
                      <a:pPr>
                        <a:defRPr sz="1050">
                          <a:solidFill>
                            <a:srgbClr val="1A1A1A"/>
                          </a:solidFill>
                        </a:defRPr>
                      </a:pPr>
                      <a:r>
                        <a:t>Low ($10-$100/mo)</a:t>
                      </a:r>
                    </a:p>
                  </a:txBody>
                  <a:tcPr/>
                </a:tc>
                <a:tc>
                  <a:txBody>
                    <a:bodyPr/>
                    <a:lstStyle/>
                    <a:p>
                      <a:pPr>
                        <a:defRPr sz="1050">
                          <a:solidFill>
                            <a:srgbClr val="1A1A1A"/>
                          </a:solidFill>
                        </a:defRPr>
                      </a:pPr>
                      <a:r>
                        <a:t>Medium (vector APIs)</a:t>
                      </a:r>
                    </a:p>
                  </a:txBody>
                  <a:tcPr/>
                </a:tc>
                <a:tc>
                  <a:txBody>
                    <a:bodyPr/>
                    <a:lstStyle/>
                    <a:p>
                      <a:pPr>
                        <a:defRPr sz="1050">
                          <a:solidFill>
                            <a:srgbClr val="1A1A1A"/>
                          </a:solidFill>
                        </a:defRPr>
                      </a:pPr>
                      <a:r>
                        <a:t>Dynamic / Live files</a:t>
                      </a:r>
                    </a:p>
                  </a:txBody>
                  <a:tcPr/>
                </a:tc>
                <a:tc>
                  <a:txBody>
                    <a:bodyPr/>
                    <a:lstStyle/>
                    <a:p>
                      <a:pPr>
                        <a:defRPr sz="1050">
                          <a:solidFill>
                            <a:srgbClr val="1A1A1A"/>
                          </a:solidFill>
                        </a:defRPr>
                      </a:pPr>
                      <a:r>
                        <a:t>Customer support bots, Q&amp;A on private files</a:t>
                      </a:r>
                    </a:p>
                  </a:txBody>
                  <a:tcPr/>
                </a:tc>
              </a:tr>
              <a:tr h="502920">
                <a:tc>
                  <a:txBody>
                    <a:bodyPr/>
                    <a:lstStyle/>
                    <a:p>
                      <a:pPr>
                        <a:defRPr sz="1050">
                          <a:solidFill>
                            <a:srgbClr val="1A1A1A"/>
                          </a:solidFill>
                        </a:defRPr>
                      </a:pPr>
                      <a:r>
                        <a:t>Fine-Tuning (SFT)</a:t>
                      </a:r>
                    </a:p>
                  </a:txBody>
                  <a:tcPr>
                    <a:solidFill>
                      <a:srgbClr val="E0DCD6"/>
                    </a:solidFill>
                  </a:tcPr>
                </a:tc>
                <a:tc>
                  <a:txBody>
                    <a:bodyPr/>
                    <a:lstStyle/>
                    <a:p>
                      <a:pPr>
                        <a:defRPr sz="1050">
                          <a:solidFill>
                            <a:srgbClr val="1A1A1A"/>
                          </a:solidFill>
                        </a:defRPr>
                      </a:pPr>
                      <a:r>
                        <a:t>Days - Weeks</a:t>
                      </a:r>
                    </a:p>
                  </a:txBody>
                  <a:tcPr>
                    <a:solidFill>
                      <a:srgbClr val="E0DCD6"/>
                    </a:solidFill>
                  </a:tcPr>
                </a:tc>
                <a:tc>
                  <a:txBody>
                    <a:bodyPr/>
                    <a:lstStyle/>
                    <a:p>
                      <a:pPr>
                        <a:defRPr sz="1050">
                          <a:solidFill>
                            <a:srgbClr val="1A1A1A"/>
                          </a:solidFill>
                        </a:defRPr>
                      </a:pPr>
                      <a:r>
                        <a:t>$100 - $10,000</a:t>
                      </a:r>
                    </a:p>
                  </a:txBody>
                  <a:tcPr>
                    <a:solidFill>
                      <a:srgbClr val="E0DCD6"/>
                    </a:solidFill>
                  </a:tcPr>
                </a:tc>
                <a:tc>
                  <a:txBody>
                    <a:bodyPr/>
                    <a:lstStyle/>
                    <a:p>
                      <a:pPr>
                        <a:defRPr sz="1050">
                          <a:solidFill>
                            <a:srgbClr val="1A1A1A"/>
                          </a:solidFill>
                        </a:defRPr>
                      </a:pPr>
                      <a:r>
                        <a:t>High (GPU training)</a:t>
                      </a:r>
                    </a:p>
                  </a:txBody>
                  <a:tcPr>
                    <a:solidFill>
                      <a:srgbClr val="E0DCD6"/>
                    </a:solidFill>
                  </a:tcPr>
                </a:tc>
                <a:tc>
                  <a:txBody>
                    <a:bodyPr/>
                    <a:lstStyle/>
                    <a:p>
                      <a:pPr>
                        <a:defRPr sz="1050">
                          <a:solidFill>
                            <a:srgbClr val="1A1A1A"/>
                          </a:solidFill>
                        </a:defRPr>
                      </a:pPr>
                      <a:r>
                        <a:t>Frozen in weights</a:t>
                      </a:r>
                    </a:p>
                  </a:txBody>
                  <a:tcPr>
                    <a:solidFill>
                      <a:srgbClr val="E0DCD6"/>
                    </a:solidFill>
                  </a:tcPr>
                </a:tc>
                <a:tc>
                  <a:txBody>
                    <a:bodyPr/>
                    <a:lstStyle/>
                    <a:p>
                      <a:pPr>
                        <a:defRPr sz="1050">
                          <a:solidFill>
                            <a:srgbClr val="1A1A1A"/>
                          </a:solidFill>
                        </a:defRPr>
                      </a:pPr>
                      <a:r>
                        <a:t>Highly specialized vocabulary, custom brand tone</a:t>
                      </a:r>
                    </a:p>
                  </a:txBody>
                  <a:tcPr>
                    <a:solidFill>
                      <a:srgbClr val="E0DCD6"/>
                    </a:solidFill>
                  </a:tcPr>
                </a:tc>
              </a:tr>
            </a:tbl>
          </a:graphicData>
        </a:graphic>
      </p:graphicFrame>
      <p:sp>
        <p:nvSpPr>
          <p:cNvPr id="4" name="TextBox 3"/>
          <p:cNvSpPr txBox="1"/>
          <p:nvPr/>
        </p:nvSpPr>
        <p:spPr>
          <a:xfrm>
            <a:off x="914400" y="2926080"/>
            <a:ext cx="10332720" cy="2011680"/>
          </a:xfrm>
          <a:prstGeom prst="rect">
            <a:avLst/>
          </a:prstGeom>
          <a:noFill/>
        </p:spPr>
        <p:txBody>
          <a:bodyPr wrap="square">
            <a:spAutoFit/>
          </a:bodyPr>
          <a:lstStyle/>
          <a:p>
            <a:pPr algn="l">
              <a:defRPr sz="1200" b="0">
                <a:solidFill>
                  <a:srgbClr val="1A1A1A"/>
                </a:solidFill>
              </a:defRPr>
            </a:pPr>
            <a:r>
              <a:t>The Golden Rule of AI Engineering:</a:t>
            </a:r>
            <a:br/>
            <a:r>
              <a:t>1. Earn the right to complexity. Start by writing rich, multi-shot prompt instructions.</a:t>
            </a:r>
            <a:br/>
            <a:r>
              <a:t>2. If the model lacks access to your corporate documents or live databases, build a RAG pipeline.</a:t>
            </a:r>
            <a:br/>
            <a:r>
              <a:t>3. Only attempt fine-tuning if the model fails to capture specialized formatting, vocabularies, or strict brand tone.</a:t>
            </a:r>
          </a:p>
        </p:txBody>
      </p:sp>
      <p:sp>
        <p:nvSpPr>
          <p:cNvPr id="5" name="Rounded Rectangle 4"/>
          <p:cNvSpPr/>
          <p:nvPr/>
        </p:nvSpPr>
        <p:spPr>
          <a:xfrm>
            <a:off x="914400" y="5303520"/>
            <a:ext cx="10332720" cy="7315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5440680"/>
            <a:ext cx="9784080" cy="457200"/>
          </a:xfrm>
          <a:prstGeom prst="rect">
            <a:avLst/>
          </a:prstGeom>
          <a:noFill/>
        </p:spPr>
        <p:txBody>
          <a:bodyPr wrap="square">
            <a:spAutoFit/>
          </a:bodyPr>
          <a:lstStyle/>
          <a:p>
            <a:pPr algn="l">
              <a:defRPr sz="1100" b="1">
                <a:solidFill>
                  <a:srgbClr val="3B82F6"/>
                </a:solidFill>
              </a:defRPr>
            </a:pPr>
            <a:r>
              <a:t>Recommendation: 95% of corporate application needs can be solved perfectly by pairing Prompting + RAG.</a:t>
            </a:r>
          </a:p>
        </p:txBody>
      </p:sp>
      <p:sp>
        <p:nvSpPr>
          <p:cNvPr id="7" name="TextBox 6"/>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2</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RAG &amp; Decision Frameworks</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Understanding retrieval-augmented architectures and build-vs-buy parameters</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What is RAG? The Retrieval-Augmented Generation Architecture</a:t>
            </a:r>
          </a:p>
        </p:txBody>
      </p:sp>
      <p:sp>
        <p:nvSpPr>
          <p:cNvPr id="3" name="Rounded Rectangle 2"/>
          <p:cNvSpPr/>
          <p:nvPr/>
        </p:nvSpPr>
        <p:spPr>
          <a:xfrm>
            <a:off x="914400" y="1645920"/>
            <a:ext cx="1920240" cy="137160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1. User Query</a:t>
            </a:r>
          </a:p>
        </p:txBody>
      </p:sp>
      <p:sp>
        <p:nvSpPr>
          <p:cNvPr id="4" name="TextBox 3"/>
          <p:cNvSpPr txBox="1"/>
          <p:nvPr/>
        </p:nvSpPr>
        <p:spPr>
          <a:xfrm>
            <a:off x="914400" y="3154680"/>
            <a:ext cx="1920240" cy="777240"/>
          </a:xfrm>
          <a:prstGeom prst="rect">
            <a:avLst/>
          </a:prstGeom>
          <a:noFill/>
        </p:spPr>
        <p:txBody>
          <a:bodyPr wrap="square">
            <a:spAutoFit/>
          </a:bodyPr>
          <a:lstStyle/>
          <a:p>
            <a:pPr algn="ctr">
              <a:defRPr sz="950" b="0">
                <a:solidFill>
                  <a:srgbClr val="4A4A4A"/>
                </a:solidFill>
              </a:defRPr>
            </a:pPr>
            <a:r>
              <a:t>User inputs question in natural language.</a:t>
            </a:r>
          </a:p>
        </p:txBody>
      </p:sp>
      <p:cxnSp>
        <p:nvCxnSpPr>
          <p:cNvPr id="5" name="Connector 4"/>
          <p:cNvCxnSpPr/>
          <p:nvPr/>
        </p:nvCxnSpPr>
        <p:spPr>
          <a:xfrm>
            <a:off x="2834640" y="2331720.0"/>
            <a:ext cx="256032"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90672" y="1645920"/>
            <a:ext cx="1920240" cy="13716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2. Search Index</a:t>
            </a:r>
          </a:p>
        </p:txBody>
      </p:sp>
      <p:sp>
        <p:nvSpPr>
          <p:cNvPr id="7" name="TextBox 6"/>
          <p:cNvSpPr txBox="1"/>
          <p:nvPr/>
        </p:nvSpPr>
        <p:spPr>
          <a:xfrm>
            <a:off x="3090672" y="3154680"/>
            <a:ext cx="1920240" cy="777240"/>
          </a:xfrm>
          <a:prstGeom prst="rect">
            <a:avLst/>
          </a:prstGeom>
          <a:noFill/>
        </p:spPr>
        <p:txBody>
          <a:bodyPr wrap="square">
            <a:spAutoFit/>
          </a:bodyPr>
          <a:lstStyle/>
          <a:p>
            <a:pPr algn="ctr">
              <a:defRPr sz="950" b="0">
                <a:solidFill>
                  <a:srgbClr val="4A4A4A"/>
                </a:solidFill>
              </a:defRPr>
            </a:pPr>
            <a:r>
              <a:t>System queries a Vector Database for context.</a:t>
            </a:r>
          </a:p>
        </p:txBody>
      </p:sp>
      <p:cxnSp>
        <p:nvCxnSpPr>
          <p:cNvPr id="8" name="Connector 7"/>
          <p:cNvCxnSpPr/>
          <p:nvPr/>
        </p:nvCxnSpPr>
        <p:spPr>
          <a:xfrm>
            <a:off x="5010912" y="2331720.0"/>
            <a:ext cx="256032"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66944" y="1645920"/>
            <a:ext cx="1920240" cy="1371600"/>
          </a:xfrm>
          <a:prstGeom prst="round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3. Retrieval</a:t>
            </a:r>
          </a:p>
        </p:txBody>
      </p:sp>
      <p:sp>
        <p:nvSpPr>
          <p:cNvPr id="10" name="TextBox 9"/>
          <p:cNvSpPr txBox="1"/>
          <p:nvPr/>
        </p:nvSpPr>
        <p:spPr>
          <a:xfrm>
            <a:off x="5266944" y="3154680"/>
            <a:ext cx="1920240" cy="777240"/>
          </a:xfrm>
          <a:prstGeom prst="rect">
            <a:avLst/>
          </a:prstGeom>
          <a:noFill/>
        </p:spPr>
        <p:txBody>
          <a:bodyPr wrap="square">
            <a:spAutoFit/>
          </a:bodyPr>
          <a:lstStyle/>
          <a:p>
            <a:pPr algn="ctr">
              <a:defRPr sz="950" b="0">
                <a:solidFill>
                  <a:srgbClr val="4A4A4A"/>
                </a:solidFill>
              </a:defRPr>
            </a:pPr>
            <a:r>
              <a:t>Top matching text snippets are retrieved.</a:t>
            </a:r>
          </a:p>
        </p:txBody>
      </p:sp>
      <p:cxnSp>
        <p:nvCxnSpPr>
          <p:cNvPr id="11" name="Connector 10"/>
          <p:cNvCxnSpPr/>
          <p:nvPr/>
        </p:nvCxnSpPr>
        <p:spPr>
          <a:xfrm>
            <a:off x="7187184" y="2331720.0"/>
            <a:ext cx="256032"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43216" y="1645920"/>
            <a:ext cx="1920240" cy="137160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4. Prompt Context</a:t>
            </a:r>
          </a:p>
        </p:txBody>
      </p:sp>
      <p:sp>
        <p:nvSpPr>
          <p:cNvPr id="13" name="TextBox 12"/>
          <p:cNvSpPr txBox="1"/>
          <p:nvPr/>
        </p:nvSpPr>
        <p:spPr>
          <a:xfrm>
            <a:off x="7443216" y="3154680"/>
            <a:ext cx="1920240" cy="777240"/>
          </a:xfrm>
          <a:prstGeom prst="rect">
            <a:avLst/>
          </a:prstGeom>
          <a:noFill/>
        </p:spPr>
        <p:txBody>
          <a:bodyPr wrap="square">
            <a:spAutoFit/>
          </a:bodyPr>
          <a:lstStyle/>
          <a:p>
            <a:pPr algn="ctr">
              <a:defRPr sz="950" b="0">
                <a:solidFill>
                  <a:srgbClr val="4A4A4A"/>
                </a:solidFill>
              </a:defRPr>
            </a:pPr>
            <a:r>
              <a:t>Query + retrieved context are fused together.</a:t>
            </a:r>
          </a:p>
        </p:txBody>
      </p:sp>
      <p:cxnSp>
        <p:nvCxnSpPr>
          <p:cNvPr id="14" name="Connector 13"/>
          <p:cNvCxnSpPr/>
          <p:nvPr/>
        </p:nvCxnSpPr>
        <p:spPr>
          <a:xfrm>
            <a:off x="9363456" y="2331720.0"/>
            <a:ext cx="256032" cy="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619488" y="1645920"/>
            <a:ext cx="1920240" cy="1371600"/>
          </a:xfrm>
          <a:prstGeom prst="roundRect">
            <a:avLst/>
          </a:prstGeom>
          <a:solidFill>
            <a:srgbClr val="166B34"/>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200">
                <a:solidFill>
                  <a:srgbClr val="FFFFFF"/>
                </a:solidFill>
              </a:defRPr>
            </a:pPr>
            <a:r>
              <a:t>5. LLM Answer</a:t>
            </a:r>
          </a:p>
        </p:txBody>
      </p:sp>
      <p:sp>
        <p:nvSpPr>
          <p:cNvPr id="16" name="TextBox 15"/>
          <p:cNvSpPr txBox="1"/>
          <p:nvPr/>
        </p:nvSpPr>
        <p:spPr>
          <a:xfrm>
            <a:off x="9619488" y="3154680"/>
            <a:ext cx="1920240" cy="777240"/>
          </a:xfrm>
          <a:prstGeom prst="rect">
            <a:avLst/>
          </a:prstGeom>
          <a:noFill/>
        </p:spPr>
        <p:txBody>
          <a:bodyPr wrap="square">
            <a:spAutoFit/>
          </a:bodyPr>
          <a:lstStyle/>
          <a:p>
            <a:pPr algn="ctr">
              <a:defRPr sz="950" b="0">
                <a:solidFill>
                  <a:srgbClr val="4A4A4A"/>
                </a:solidFill>
              </a:defRPr>
            </a:pPr>
            <a:r>
              <a:t>LLM responds using only the provided facts.</a:t>
            </a:r>
          </a:p>
        </p:txBody>
      </p:sp>
      <p:sp>
        <p:nvSpPr>
          <p:cNvPr id="17" name="Rounded Rectangle 16"/>
          <p:cNvSpPr/>
          <p:nvPr/>
        </p:nvSpPr>
        <p:spPr>
          <a:xfrm>
            <a:off x="914400" y="4663440"/>
            <a:ext cx="10332720" cy="11887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754880"/>
            <a:ext cx="9784080" cy="1005840"/>
          </a:xfrm>
          <a:prstGeom prst="rect">
            <a:avLst/>
          </a:prstGeom>
          <a:noFill/>
        </p:spPr>
        <p:txBody>
          <a:bodyPr wrap="square">
            <a:spAutoFit/>
          </a:bodyPr>
          <a:lstStyle/>
          <a:p>
            <a:pPr algn="l">
              <a:defRPr sz="1100" b="0">
                <a:solidFill>
                  <a:srgbClr val="3B82F6"/>
                </a:solidFill>
              </a:defRPr>
            </a:pPr>
            <a:r>
              <a:t>Analogy: RAG operates like an open-book exam. Instead of relying on what the model learned during training, the system searches the textbook for the exact page, feeds it to the model, and asks it to summarize the answer.</a:t>
            </a:r>
          </a:p>
        </p:txBody>
      </p:sp>
      <p:sp>
        <p:nvSpPr>
          <p:cNvPr id="19" name="TextBox 1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AI Developer &amp; Tool Landscape</a:t>
            </a:r>
          </a:p>
        </p:txBody>
      </p:sp>
      <p:sp>
        <p:nvSpPr>
          <p:cNvPr id="3" name="Rounded Rectangle 2"/>
          <p:cNvSpPr/>
          <p:nvPr/>
        </p:nvSpPr>
        <p:spPr>
          <a:xfrm>
            <a:off x="914400" y="914400"/>
            <a:ext cx="5029200" cy="25603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51560"/>
            <a:ext cx="4663440" cy="365760"/>
          </a:xfrm>
          <a:prstGeom prst="rect">
            <a:avLst/>
          </a:prstGeom>
          <a:noFill/>
        </p:spPr>
        <p:txBody>
          <a:bodyPr wrap="square">
            <a:spAutoFit/>
          </a:bodyPr>
          <a:lstStyle/>
          <a:p>
            <a:pPr algn="l">
              <a:defRPr sz="1400" b="1">
                <a:solidFill>
                  <a:srgbClr val="3B82F6"/>
                </a:solidFill>
              </a:defRPr>
            </a:pPr>
            <a:r>
              <a:t>Chat Interfaces (SaaS)</a:t>
            </a:r>
          </a:p>
        </p:txBody>
      </p:sp>
      <p:sp>
        <p:nvSpPr>
          <p:cNvPr id="5" name="TextBox 4"/>
          <p:cNvSpPr txBox="1"/>
          <p:nvPr/>
        </p:nvSpPr>
        <p:spPr>
          <a:xfrm>
            <a:off x="1097280" y="1508760"/>
            <a:ext cx="4663440" cy="1828800"/>
          </a:xfrm>
          <a:prstGeom prst="rect">
            <a:avLst/>
          </a:prstGeom>
          <a:noFill/>
        </p:spPr>
        <p:txBody>
          <a:bodyPr wrap="square">
            <a:spAutoFit/>
          </a:bodyPr>
          <a:lstStyle/>
          <a:p>
            <a:pPr>
              <a:spcAft>
                <a:spcPts val="400"/>
              </a:spcAft>
              <a:defRPr sz="1050">
                <a:solidFill>
                  <a:srgbClr val="1A1A1A"/>
                </a:solidFill>
              </a:defRPr>
            </a:pPr>
            <a:r>
              <a:t>▪  Claude.ai — Best text and formatting</a:t>
            </a:r>
          </a:p>
          <a:p>
            <a:pPr>
              <a:spcAft>
                <a:spcPts val="400"/>
              </a:spcAft>
              <a:defRPr sz="1050">
                <a:solidFill>
                  <a:srgbClr val="1A1A1A"/>
                </a:solidFill>
              </a:defRPr>
            </a:pPr>
            <a:r>
              <a:t>▪  ChatGPT Plus — Speed and web searches</a:t>
            </a:r>
          </a:p>
          <a:p>
            <a:pPr>
              <a:spcAft>
                <a:spcPts val="400"/>
              </a:spcAft>
              <a:defRPr sz="1050">
                <a:solidFill>
                  <a:srgbClr val="1A1A1A"/>
                </a:solidFill>
              </a:defRPr>
            </a:pPr>
            <a:r>
              <a:t>▪  Perplexity — Search index citation focus</a:t>
            </a:r>
          </a:p>
          <a:p>
            <a:pPr>
              <a:spcAft>
                <a:spcPts val="400"/>
              </a:spcAft>
              <a:defRPr sz="1050">
                <a:solidFill>
                  <a:srgbClr val="1A1A1A"/>
                </a:solidFill>
              </a:defRPr>
            </a:pPr>
            <a:r>
              <a:t>▪  NotebookLM — Auto audio &amp; summary notes</a:t>
            </a:r>
          </a:p>
        </p:txBody>
      </p:sp>
      <p:sp>
        <p:nvSpPr>
          <p:cNvPr id="6" name="Rounded Rectangle 5"/>
          <p:cNvSpPr/>
          <p:nvPr/>
        </p:nvSpPr>
        <p:spPr>
          <a:xfrm>
            <a:off x="6400800" y="914400"/>
            <a:ext cx="5029200" cy="25603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051560"/>
            <a:ext cx="4663440" cy="365760"/>
          </a:xfrm>
          <a:prstGeom prst="rect">
            <a:avLst/>
          </a:prstGeom>
          <a:noFill/>
        </p:spPr>
        <p:txBody>
          <a:bodyPr wrap="square">
            <a:spAutoFit/>
          </a:bodyPr>
          <a:lstStyle/>
          <a:p>
            <a:pPr algn="l">
              <a:defRPr sz="1400" b="1">
                <a:solidFill>
                  <a:srgbClr val="16A34A"/>
                </a:solidFill>
              </a:defRPr>
            </a:pPr>
            <a:r>
              <a:t>Coding Assistants (IDEs)</a:t>
            </a:r>
          </a:p>
        </p:txBody>
      </p:sp>
      <p:sp>
        <p:nvSpPr>
          <p:cNvPr id="8" name="TextBox 7"/>
          <p:cNvSpPr txBox="1"/>
          <p:nvPr/>
        </p:nvSpPr>
        <p:spPr>
          <a:xfrm>
            <a:off x="6583680" y="1508760"/>
            <a:ext cx="4663440" cy="1828800"/>
          </a:xfrm>
          <a:prstGeom prst="rect">
            <a:avLst/>
          </a:prstGeom>
          <a:noFill/>
        </p:spPr>
        <p:txBody>
          <a:bodyPr wrap="square">
            <a:spAutoFit/>
          </a:bodyPr>
          <a:lstStyle/>
          <a:p>
            <a:pPr>
              <a:spcAft>
                <a:spcPts val="400"/>
              </a:spcAft>
              <a:defRPr sz="1050">
                <a:solidFill>
                  <a:srgbClr val="1A1A1A"/>
                </a:solidFill>
              </a:defRPr>
            </a:pPr>
            <a:r>
              <a:t>▪  Cursor — Market-leading AI IDE code editor</a:t>
            </a:r>
          </a:p>
          <a:p>
            <a:pPr>
              <a:spcAft>
                <a:spcPts val="400"/>
              </a:spcAft>
              <a:defRPr sz="1050">
                <a:solidFill>
                  <a:srgbClr val="1A1A1A"/>
                </a:solidFill>
              </a:defRPr>
            </a:pPr>
            <a:r>
              <a:t>▪  Claude Code — Terminal CLI-based automation</a:t>
            </a:r>
          </a:p>
          <a:p>
            <a:pPr>
              <a:spcAft>
                <a:spcPts val="400"/>
              </a:spcAft>
              <a:defRPr sz="1050">
                <a:solidFill>
                  <a:srgbClr val="1A1A1A"/>
                </a:solidFill>
              </a:defRPr>
            </a:pPr>
            <a:r>
              <a:t>▪  GitHub Copilot — Highly capable basic auto-complete</a:t>
            </a:r>
          </a:p>
          <a:p>
            <a:pPr>
              <a:spcAft>
                <a:spcPts val="400"/>
              </a:spcAft>
              <a:defRPr sz="1050">
                <a:solidFill>
                  <a:srgbClr val="1A1A1A"/>
                </a:solidFill>
              </a:defRPr>
            </a:pPr>
            <a:r>
              <a:t>▪  Windsurf — Agentic multi-file code editing</a:t>
            </a:r>
          </a:p>
        </p:txBody>
      </p:sp>
      <p:sp>
        <p:nvSpPr>
          <p:cNvPr id="9" name="Rounded Rectangle 8"/>
          <p:cNvSpPr/>
          <p:nvPr/>
        </p:nvSpPr>
        <p:spPr>
          <a:xfrm>
            <a:off x="914400" y="3657600"/>
            <a:ext cx="5029200" cy="25603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794760"/>
            <a:ext cx="4663440" cy="365760"/>
          </a:xfrm>
          <a:prstGeom prst="rect">
            <a:avLst/>
          </a:prstGeom>
          <a:noFill/>
        </p:spPr>
        <p:txBody>
          <a:bodyPr wrap="square">
            <a:spAutoFit/>
          </a:bodyPr>
          <a:lstStyle/>
          <a:p>
            <a:pPr algn="l">
              <a:defRPr sz="1400" b="1">
                <a:solidFill>
                  <a:srgbClr val="D97706"/>
                </a:solidFill>
              </a:defRPr>
            </a:pPr>
            <a:r>
              <a:t>Content Creation</a:t>
            </a:r>
          </a:p>
        </p:txBody>
      </p:sp>
      <p:sp>
        <p:nvSpPr>
          <p:cNvPr id="11" name="TextBox 10"/>
          <p:cNvSpPr txBox="1"/>
          <p:nvPr/>
        </p:nvSpPr>
        <p:spPr>
          <a:xfrm>
            <a:off x="1097280" y="4251960"/>
            <a:ext cx="4663440" cy="1828800"/>
          </a:xfrm>
          <a:prstGeom prst="rect">
            <a:avLst/>
          </a:prstGeom>
          <a:noFill/>
        </p:spPr>
        <p:txBody>
          <a:bodyPr wrap="square">
            <a:spAutoFit/>
          </a:bodyPr>
          <a:lstStyle/>
          <a:p>
            <a:pPr>
              <a:spcAft>
                <a:spcPts val="400"/>
              </a:spcAft>
              <a:defRPr sz="1050">
                <a:solidFill>
                  <a:srgbClr val="1A1A1A"/>
                </a:solidFill>
              </a:defRPr>
            </a:pPr>
            <a:r>
              <a:t>▪  Midjourney — Best image synthesis</a:t>
            </a:r>
          </a:p>
          <a:p>
            <a:pPr>
              <a:spcAft>
                <a:spcPts val="400"/>
              </a:spcAft>
              <a:defRPr sz="1050">
                <a:solidFill>
                  <a:srgbClr val="1A1A1A"/>
                </a:solidFill>
              </a:defRPr>
            </a:pPr>
            <a:r>
              <a:t>▪  Runway / Sora — Professional-grade video generation</a:t>
            </a:r>
          </a:p>
          <a:p>
            <a:pPr>
              <a:spcAft>
                <a:spcPts val="400"/>
              </a:spcAft>
              <a:defRPr sz="1050">
                <a:solidFill>
                  <a:srgbClr val="1A1A1A"/>
                </a:solidFill>
              </a:defRPr>
            </a:pPr>
            <a:r>
              <a:t>▪  Suno / Udio — AI audio generation</a:t>
            </a:r>
          </a:p>
          <a:p>
            <a:pPr>
              <a:spcAft>
                <a:spcPts val="400"/>
              </a:spcAft>
              <a:defRPr sz="1050">
                <a:solidFill>
                  <a:srgbClr val="1A1A1A"/>
                </a:solidFill>
              </a:defRPr>
            </a:pPr>
            <a:r>
              <a:t>▪  ElevenLabs — Hyper-realistic voice synthesis</a:t>
            </a:r>
          </a:p>
        </p:txBody>
      </p:sp>
      <p:sp>
        <p:nvSpPr>
          <p:cNvPr id="12" name="Rounded Rectangle 11"/>
          <p:cNvSpPr/>
          <p:nvPr/>
        </p:nvSpPr>
        <p:spPr>
          <a:xfrm>
            <a:off x="6400800" y="3657600"/>
            <a:ext cx="5029200" cy="2560320"/>
          </a:xfrm>
          <a:prstGeom prst="roundRect">
            <a:avLst/>
          </a:prstGeom>
          <a:solidFill>
            <a:srgbClr val="FFFFFF"/>
          </a:solidFill>
          <a:ln w="2540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3794760"/>
            <a:ext cx="4663440" cy="365760"/>
          </a:xfrm>
          <a:prstGeom prst="rect">
            <a:avLst/>
          </a:prstGeom>
          <a:noFill/>
        </p:spPr>
        <p:txBody>
          <a:bodyPr wrap="square">
            <a:spAutoFit/>
          </a:bodyPr>
          <a:lstStyle/>
          <a:p>
            <a:pPr algn="l">
              <a:defRPr sz="1400" b="1">
                <a:solidFill>
                  <a:srgbClr val="1A2D4D"/>
                </a:solidFill>
              </a:defRPr>
            </a:pPr>
            <a:r>
              <a:t>Infrastructure &amp; APIs</a:t>
            </a:r>
          </a:p>
        </p:txBody>
      </p:sp>
      <p:sp>
        <p:nvSpPr>
          <p:cNvPr id="14" name="TextBox 13"/>
          <p:cNvSpPr txBox="1"/>
          <p:nvPr/>
        </p:nvSpPr>
        <p:spPr>
          <a:xfrm>
            <a:off x="6583680" y="4251960"/>
            <a:ext cx="4663440" cy="1828800"/>
          </a:xfrm>
          <a:prstGeom prst="rect">
            <a:avLst/>
          </a:prstGeom>
          <a:noFill/>
        </p:spPr>
        <p:txBody>
          <a:bodyPr wrap="square">
            <a:spAutoFit/>
          </a:bodyPr>
          <a:lstStyle/>
          <a:p>
            <a:pPr>
              <a:spcAft>
                <a:spcPts val="400"/>
              </a:spcAft>
              <a:defRPr sz="1050">
                <a:solidFill>
                  <a:srgbClr val="1A1A1A"/>
                </a:solidFill>
              </a:defRPr>
            </a:pPr>
            <a:r>
              <a:t>▪  APIs: Anthropic, OpenAI, Vertex AI</a:t>
            </a:r>
          </a:p>
          <a:p>
            <a:pPr>
              <a:spcAft>
                <a:spcPts val="400"/>
              </a:spcAft>
              <a:defRPr sz="1050">
                <a:solidFill>
                  <a:srgbClr val="1A1A1A"/>
                </a:solidFill>
              </a:defRPr>
            </a:pPr>
            <a:r>
              <a:t>▪  Local Hosting: Ollama, vLLM</a:t>
            </a:r>
          </a:p>
          <a:p>
            <a:pPr>
              <a:spcAft>
                <a:spcPts val="400"/>
              </a:spcAft>
              <a:defRPr sz="1050">
                <a:solidFill>
                  <a:srgbClr val="1A1A1A"/>
                </a:solidFill>
              </a:defRPr>
            </a:pPr>
            <a:r>
              <a:t>▪  Vector DBs: Pinecone, pgvector, Qdrant</a:t>
            </a:r>
          </a:p>
          <a:p>
            <a:pPr>
              <a:spcAft>
                <a:spcPts val="400"/>
              </a:spcAft>
              <a:defRPr sz="1050">
                <a:solidFill>
                  <a:srgbClr val="1A1A1A"/>
                </a:solidFill>
              </a:defRPr>
            </a:pPr>
            <a:r>
              <a:t>▪  Frameworks: LangChain, LlamaIndex, CrewAI</a:t>
            </a:r>
          </a:p>
        </p:txBody>
      </p:sp>
      <p:sp>
        <p:nvSpPr>
          <p:cNvPr id="15" name="TextBox 1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Build vs. Buy / Self-Hosting vs. API Decision Tree</a:t>
            </a:r>
          </a:p>
        </p:txBody>
      </p:sp>
      <p:sp>
        <p:nvSpPr>
          <p:cNvPr id="3" name="Rounded Rectangle 2"/>
          <p:cNvSpPr/>
          <p:nvPr/>
        </p:nvSpPr>
        <p:spPr>
          <a:xfrm>
            <a:off x="4114800" y="1005840"/>
            <a:ext cx="3931920" cy="59436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100">
                <a:solidFill>
                  <a:srgbClr val="FFFFFF"/>
                </a:solidFill>
              </a:defRPr>
            </a:pPr>
            <a:r>
              <a:t>Does data privacy or regulations</a:t>
            </a:r>
            <a:br/>
            <a:r>
              <a:t>strictly forbid cloud hosting?</a:t>
            </a:r>
          </a:p>
        </p:txBody>
      </p:sp>
      <p:sp>
        <p:nvSpPr>
          <p:cNvPr id="4" name="Rounded Rectangle 3"/>
          <p:cNvSpPr/>
          <p:nvPr/>
        </p:nvSpPr>
        <p:spPr>
          <a:xfrm>
            <a:off x="914400" y="1920240"/>
            <a:ext cx="274320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50">
                <a:solidFill>
                  <a:srgbClr val="FFFFFF"/>
                </a:solidFill>
              </a:defRPr>
            </a:pPr>
            <a:r>
              <a:t>YES</a:t>
            </a:r>
            <a:br/>
            <a:br/>
            <a:r>
              <a:t>Self-Host Open-Weight Models</a:t>
            </a:r>
            <a:br/>
            <a:r>
              <a:t>(Llama 4, DeepSeek V4) on private VPC</a:t>
            </a:r>
          </a:p>
        </p:txBody>
      </p:sp>
      <p:cxnSp>
        <p:nvCxnSpPr>
          <p:cNvPr id="5" name="Connector 4"/>
          <p:cNvCxnSpPr/>
          <p:nvPr/>
        </p:nvCxnSpPr>
        <p:spPr>
          <a:xfrm flipH="1">
            <a:off x="2286000" y="1600200"/>
            <a:ext cx="3794760" cy="32004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0" y="1920240"/>
            <a:ext cx="274320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1000">
                <a:solidFill>
                  <a:srgbClr val="FFFFFF"/>
                </a:solidFill>
              </a:defRPr>
            </a:pPr>
            <a:r>
              <a:t>NO</a:t>
            </a:r>
            <a:br/>
            <a:br/>
            <a:r>
              <a:t>Is monthly volume &gt; 50M tokens?</a:t>
            </a:r>
          </a:p>
        </p:txBody>
      </p:sp>
      <p:cxnSp>
        <p:nvCxnSpPr>
          <p:cNvPr id="7" name="Connector 6"/>
          <p:cNvCxnSpPr/>
          <p:nvPr/>
        </p:nvCxnSpPr>
        <p:spPr>
          <a:xfrm flipH="1">
            <a:off x="5943600" y="1325880"/>
            <a:ext cx="2103120" cy="59436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0" y="2926080"/>
            <a:ext cx="2743200" cy="6400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50">
                <a:solidFill>
                  <a:srgbClr val="FFFFFF"/>
                </a:solidFill>
              </a:defRPr>
            </a:pPr>
            <a:r>
              <a:t>YES</a:t>
            </a:r>
            <a:br/>
            <a:br/>
            <a:r>
              <a:t>Self-Host to reduce token fees</a:t>
            </a:r>
            <a:br/>
            <a:r>
              <a:t>(vLLM + Llama 70B on private server)</a:t>
            </a:r>
          </a:p>
        </p:txBody>
      </p:sp>
      <p:cxnSp>
        <p:nvCxnSpPr>
          <p:cNvPr id="9" name="Connector 8"/>
          <p:cNvCxnSpPr/>
          <p:nvPr/>
        </p:nvCxnSpPr>
        <p:spPr>
          <a:xfrm>
            <a:off x="6400800" y="2560320"/>
            <a:ext cx="0" cy="36576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0" y="2926080"/>
            <a:ext cx="274320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950">
                <a:solidFill>
                  <a:srgbClr val="FFFFFF"/>
                </a:solidFill>
              </a:defRPr>
            </a:pPr>
            <a:r>
              <a:t>NO</a:t>
            </a:r>
            <a:br/>
            <a:br/>
            <a:r>
              <a:t>Use Cloud APIs (Anthropic / OpenAI)</a:t>
            </a:r>
            <a:br/>
            <a:r>
              <a:t>Fastest setup, zero infra maintenance</a:t>
            </a:r>
          </a:p>
        </p:txBody>
      </p:sp>
      <p:cxnSp>
        <p:nvCxnSpPr>
          <p:cNvPr id="11" name="Connector 10"/>
          <p:cNvCxnSpPr/>
          <p:nvPr/>
        </p:nvCxnSpPr>
        <p:spPr>
          <a:xfrm>
            <a:off x="7772400" y="2240280"/>
            <a:ext cx="1554480" cy="685800"/>
          </a:xfrm>
          <a:prstGeom prst="line">
            <a:avLst/>
          </a:prstGeom>
          <a:ln w="25400">
            <a:solidFill>
              <a:srgbClr val="3B82F6"/>
            </a:solidFill>
          </a:ln>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914400" y="3657600"/>
          <a:ext cx="10032720" cy="1755648"/>
        </p:xfrm>
        <a:graphic>
          <a:graphicData uri="http://schemas.openxmlformats.org/drawingml/2006/table">
            <a:tbl>
              <a:tblPr firstRow="1" bandRow="1">
                <a:tableStyleId>{5C22544A-7EE6-4342-B048-85BDC9FD1C3A}</a:tableStyleId>
              </a:tblPr>
              <a:tblGrid>
                <a:gridCol w="2006544"/>
                <a:gridCol w="2006544"/>
                <a:gridCol w="2006544"/>
                <a:gridCol w="2006544"/>
                <a:gridCol w="2006544"/>
              </a:tblGrid>
              <a:tr h="438912">
                <a:tc>
                  <a:txBody>
                    <a:bodyPr/>
                    <a:lstStyle/>
                    <a:p>
                      <a:pPr>
                        <a:defRPr sz="900" b="1">
                          <a:solidFill>
                            <a:srgbClr val="FFFFFF"/>
                          </a:solidFill>
                        </a:defRPr>
                      </a:pPr>
                      <a:r>
                        <a:t>Scenario</a:t>
                      </a:r>
                    </a:p>
                  </a:txBody>
                  <a:tcPr>
                    <a:solidFill>
                      <a:srgbClr val="3B82F6"/>
                    </a:solidFill>
                  </a:tcPr>
                </a:tc>
                <a:tc>
                  <a:txBody>
                    <a:bodyPr/>
                    <a:lstStyle/>
                    <a:p>
                      <a:pPr>
                        <a:defRPr sz="900" b="1">
                          <a:solidFill>
                            <a:srgbClr val="FFFFFF"/>
                          </a:solidFill>
                        </a:defRPr>
                      </a:pPr>
                      <a:r>
                        <a:t>Privacy Policy</a:t>
                      </a:r>
                    </a:p>
                  </a:txBody>
                  <a:tcPr>
                    <a:solidFill>
                      <a:srgbClr val="3B82F6"/>
                    </a:solidFill>
                  </a:tcPr>
                </a:tc>
                <a:tc>
                  <a:txBody>
                    <a:bodyPr/>
                    <a:lstStyle/>
                    <a:p>
                      <a:pPr>
                        <a:defRPr sz="900" b="1">
                          <a:solidFill>
                            <a:srgbClr val="FFFFFF"/>
                          </a:solidFill>
                        </a:defRPr>
                      </a:pPr>
                      <a:r>
                        <a:t>Maintenance Effort</a:t>
                      </a:r>
                    </a:p>
                  </a:txBody>
                  <a:tcPr>
                    <a:solidFill>
                      <a:srgbClr val="3B82F6"/>
                    </a:solidFill>
                  </a:tcPr>
                </a:tc>
                <a:tc>
                  <a:txBody>
                    <a:bodyPr/>
                    <a:lstStyle/>
                    <a:p>
                      <a:pPr>
                        <a:defRPr sz="900" b="1">
                          <a:solidFill>
                            <a:srgbClr val="FFFFFF"/>
                          </a:solidFill>
                        </a:defRPr>
                      </a:pPr>
                      <a:r>
                        <a:t>Estimated Monthly Cost</a:t>
                      </a:r>
                    </a:p>
                  </a:txBody>
                  <a:tcPr>
                    <a:solidFill>
                      <a:srgbClr val="3B82F6"/>
                    </a:solidFill>
                  </a:tcPr>
                </a:tc>
                <a:tc>
                  <a:txBody>
                    <a:bodyPr/>
                    <a:lstStyle/>
                    <a:p>
                      <a:pPr>
                        <a:defRPr sz="900" b="1">
                          <a:solidFill>
                            <a:srgbClr val="FFFFFF"/>
                          </a:solidFill>
                        </a:defRPr>
                      </a:pPr>
                      <a:r>
                        <a:t>Recommended Path</a:t>
                      </a:r>
                    </a:p>
                  </a:txBody>
                  <a:tcPr>
                    <a:solidFill>
                      <a:srgbClr val="3B82F6"/>
                    </a:solidFill>
                  </a:tcPr>
                </a:tc>
              </a:tr>
              <a:tr h="438912">
                <a:tc>
                  <a:txBody>
                    <a:bodyPr/>
                    <a:lstStyle/>
                    <a:p>
                      <a:pPr>
                        <a:defRPr sz="1000">
                          <a:solidFill>
                            <a:srgbClr val="1A1A1A"/>
                          </a:solidFill>
                        </a:defRPr>
                      </a:pPr>
                      <a:r>
                        <a:t>Low volume (&lt;10M tokens)</a:t>
                      </a:r>
                    </a:p>
                  </a:txBody>
                  <a:tcPr>
                    <a:solidFill>
                      <a:srgbClr val="E0DCD6"/>
                    </a:solidFill>
                  </a:tcPr>
                </a:tc>
                <a:tc>
                  <a:txBody>
                    <a:bodyPr/>
                    <a:lstStyle/>
                    <a:p>
                      <a:pPr>
                        <a:defRPr sz="1000">
                          <a:solidFill>
                            <a:srgbClr val="1A1A1A"/>
                          </a:solidFill>
                        </a:defRPr>
                      </a:pPr>
                      <a:r>
                        <a:t>Cloud permitted</a:t>
                      </a:r>
                    </a:p>
                  </a:txBody>
                  <a:tcPr>
                    <a:solidFill>
                      <a:srgbClr val="E0DCD6"/>
                    </a:solidFill>
                  </a:tcPr>
                </a:tc>
                <a:tc>
                  <a:txBody>
                    <a:bodyPr/>
                    <a:lstStyle/>
                    <a:p>
                      <a:pPr>
                        <a:defRPr sz="1000">
                          <a:solidFill>
                            <a:srgbClr val="1A1A1A"/>
                          </a:solidFill>
                        </a:defRPr>
                      </a:pPr>
                      <a:r>
                        <a:t>Zero</a:t>
                      </a:r>
                    </a:p>
                  </a:txBody>
                  <a:tcPr>
                    <a:solidFill>
                      <a:srgbClr val="E0DCD6"/>
                    </a:solidFill>
                  </a:tcPr>
                </a:tc>
                <a:tc>
                  <a:txBody>
                    <a:bodyPr/>
                    <a:lstStyle/>
                    <a:p>
                      <a:pPr>
                        <a:defRPr sz="1000">
                          <a:solidFill>
                            <a:srgbClr val="1A1A1A"/>
                          </a:solidFill>
                        </a:defRPr>
                      </a:pPr>
                      <a:r>
                        <a:t>Under $50 / month</a:t>
                      </a:r>
                    </a:p>
                  </a:txBody>
                  <a:tcPr>
                    <a:solidFill>
                      <a:srgbClr val="E0DCD6"/>
                    </a:solidFill>
                  </a:tcPr>
                </a:tc>
                <a:tc>
                  <a:txBody>
                    <a:bodyPr/>
                    <a:lstStyle/>
                    <a:p>
                      <a:pPr>
                        <a:defRPr sz="1000">
                          <a:solidFill>
                            <a:srgbClr val="1A1A1A"/>
                          </a:solidFill>
                        </a:defRPr>
                      </a:pPr>
                      <a:r>
                        <a:t>Use Cloud APIs (Sonnet/GPT)</a:t>
                      </a:r>
                    </a:p>
                  </a:txBody>
                  <a:tcPr>
                    <a:solidFill>
                      <a:srgbClr val="E0DCD6"/>
                    </a:solidFill>
                  </a:tcPr>
                </a:tc>
              </a:tr>
              <a:tr h="438912">
                <a:tc>
                  <a:txBody>
                    <a:bodyPr/>
                    <a:lstStyle/>
                    <a:p>
                      <a:pPr>
                        <a:defRPr sz="1000">
                          <a:solidFill>
                            <a:srgbClr val="1A1A1A"/>
                          </a:solidFill>
                        </a:defRPr>
                      </a:pPr>
                      <a:r>
                        <a:t>High volume (&gt;50M tokens)</a:t>
                      </a:r>
                    </a:p>
                  </a:txBody>
                  <a:tcPr/>
                </a:tc>
                <a:tc>
                  <a:txBody>
                    <a:bodyPr/>
                    <a:lstStyle/>
                    <a:p>
                      <a:pPr>
                        <a:defRPr sz="1000">
                          <a:solidFill>
                            <a:srgbClr val="1A1A1A"/>
                          </a:solidFill>
                        </a:defRPr>
                      </a:pPr>
                      <a:r>
                        <a:t>Cloud permitted</a:t>
                      </a:r>
                    </a:p>
                  </a:txBody>
                  <a:tcPr/>
                </a:tc>
                <a:tc>
                  <a:txBody>
                    <a:bodyPr/>
                    <a:lstStyle/>
                    <a:p>
                      <a:pPr>
                        <a:defRPr sz="1000">
                          <a:solidFill>
                            <a:srgbClr val="1A1A1A"/>
                          </a:solidFill>
                        </a:defRPr>
                      </a:pPr>
                      <a:r>
                        <a:t>Medium (Docker setups)</a:t>
                      </a:r>
                    </a:p>
                  </a:txBody>
                  <a:tcPr/>
                </a:tc>
                <a:tc>
                  <a:txBody>
                    <a:bodyPr/>
                    <a:lstStyle/>
                    <a:p>
                      <a:pPr>
                        <a:defRPr sz="1000">
                          <a:solidFill>
                            <a:srgbClr val="1A1A1A"/>
                          </a:solidFill>
                        </a:defRPr>
                      </a:pPr>
                      <a:r>
                        <a:t>Cost break-even favors server</a:t>
                      </a:r>
                    </a:p>
                  </a:txBody>
                  <a:tcPr/>
                </a:tc>
                <a:tc>
                  <a:txBody>
                    <a:bodyPr/>
                    <a:lstStyle/>
                    <a:p>
                      <a:pPr>
                        <a:defRPr sz="1000">
                          <a:solidFill>
                            <a:srgbClr val="1A1A1A"/>
                          </a:solidFill>
                        </a:defRPr>
                      </a:pPr>
                      <a:r>
                        <a:t>vLLM / DeepSeek hosting</a:t>
                      </a:r>
                    </a:p>
                  </a:txBody>
                  <a:tcPr/>
                </a:tc>
              </a:tr>
              <a:tr h="438912">
                <a:tc>
                  <a:txBody>
                    <a:bodyPr/>
                    <a:lstStyle/>
                    <a:p>
                      <a:pPr>
                        <a:defRPr sz="1000">
                          <a:solidFill>
                            <a:srgbClr val="1A1A1A"/>
                          </a:solidFill>
                        </a:defRPr>
                      </a:pPr>
                      <a:r>
                        <a:t>Regulated (Medical/Legal)</a:t>
                      </a:r>
                    </a:p>
                  </a:txBody>
                  <a:tcPr>
                    <a:solidFill>
                      <a:srgbClr val="E0DCD6"/>
                    </a:solidFill>
                  </a:tcPr>
                </a:tc>
                <a:tc>
                  <a:txBody>
                    <a:bodyPr/>
                    <a:lstStyle/>
                    <a:p>
                      <a:pPr>
                        <a:defRPr sz="1000">
                          <a:solidFill>
                            <a:srgbClr val="1A1A1A"/>
                          </a:solidFill>
                        </a:defRPr>
                      </a:pPr>
                      <a:r>
                        <a:t>Local network only</a:t>
                      </a:r>
                    </a:p>
                  </a:txBody>
                  <a:tcPr>
                    <a:solidFill>
                      <a:srgbClr val="E0DCD6"/>
                    </a:solidFill>
                  </a:tcPr>
                </a:tc>
                <a:tc>
                  <a:txBody>
                    <a:bodyPr/>
                    <a:lstStyle/>
                    <a:p>
                      <a:pPr>
                        <a:defRPr sz="1000">
                          <a:solidFill>
                            <a:srgbClr val="1A1A1A"/>
                          </a:solidFill>
                        </a:defRPr>
                      </a:pPr>
                      <a:r>
                        <a:t>High (requires GPU admins)</a:t>
                      </a:r>
                    </a:p>
                  </a:txBody>
                  <a:tcPr>
                    <a:solidFill>
                      <a:srgbClr val="E0DCD6"/>
                    </a:solidFill>
                  </a:tcPr>
                </a:tc>
                <a:tc>
                  <a:txBody>
                    <a:bodyPr/>
                    <a:lstStyle/>
                    <a:p>
                      <a:pPr>
                        <a:defRPr sz="1000">
                          <a:solidFill>
                            <a:srgbClr val="1A1A1A"/>
                          </a:solidFill>
                        </a:defRPr>
                      </a:pPr>
                      <a:r>
                        <a:t>Hardware GPU lease fees</a:t>
                      </a:r>
                    </a:p>
                  </a:txBody>
                  <a:tcPr>
                    <a:solidFill>
                      <a:srgbClr val="E0DCD6"/>
                    </a:solidFill>
                  </a:tcPr>
                </a:tc>
                <a:tc>
                  <a:txBody>
                    <a:bodyPr/>
                    <a:lstStyle/>
                    <a:p>
                      <a:pPr>
                        <a:defRPr sz="1000">
                          <a:solidFill>
                            <a:srgbClr val="1A1A1A"/>
                          </a:solidFill>
                        </a:defRPr>
                      </a:pPr>
                      <a:r>
                        <a:t>Ollama / Llama on-premise</a:t>
                      </a:r>
                    </a:p>
                  </a:txBody>
                  <a:tcPr>
                    <a:solidFill>
                      <a:srgbClr val="E0DCD6"/>
                    </a:solidFill>
                  </a:tcPr>
                </a:tc>
              </a:tr>
            </a:tbl>
          </a:graphicData>
        </a:graphic>
      </p:graphicFrame>
      <p:sp>
        <p:nvSpPr>
          <p:cNvPr id="13" name="TextBox 12"/>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2026 API Pricing Comparison: Input vs. Output</a:t>
            </a:r>
          </a:p>
        </p:txBody>
      </p:sp>
      <p:graphicFrame>
        <p:nvGraphicFramePr>
          <p:cNvPr id="3" name="Chart 2"/>
          <p:cNvGraphicFramePr>
            <a:graphicFrameLocks noGrp="1"/>
          </p:cNvGraphicFramePr>
          <p:nvPr/>
        </p:nvGraphicFramePr>
        <p:xfrm>
          <a:off x="914400" y="1005840"/>
          <a:ext cx="6583680" cy="4114800"/>
        </p:xfrm>
        <a:graphic>
          <a:graphicData uri="http://schemas.openxmlformats.org/drawingml/2006/chart">
            <c:chart xmlns:c="http://schemas.openxmlformats.org/drawingml/2006/chart" r:id="rId2"/>
          </a:graphicData>
        </a:graphic>
      </p:graphicFrame>
      <p:sp>
        <p:nvSpPr>
          <p:cNvPr id="4" name="TextBox 3"/>
          <p:cNvSpPr txBox="1"/>
          <p:nvPr/>
        </p:nvSpPr>
        <p:spPr>
          <a:xfrm>
            <a:off x="7772400" y="1005840"/>
            <a:ext cx="3657600" cy="4114800"/>
          </a:xfrm>
          <a:prstGeom prst="rect">
            <a:avLst/>
          </a:prstGeom>
          <a:noFill/>
        </p:spPr>
        <p:txBody>
          <a:bodyPr wrap="square">
            <a:spAutoFit/>
          </a:bodyPr>
          <a:lstStyle/>
          <a:p>
            <a:pPr algn="l">
              <a:defRPr sz="1150" b="0">
                <a:solidFill>
                  <a:srgbClr val="1A1A1A"/>
                </a:solidFill>
              </a:defRPr>
            </a:pPr>
            <a:r>
              <a:t>Cost Dynamics Analysis:</a:t>
            </a:r>
            <a:br/>
            <a:br/>
            <a:r>
              <a:t>▪ Claude Opus 4.7 is the gold standard but costs 100x more than DeepSeek.</a:t>
            </a:r>
            <a:br/>
            <a:br/>
            <a:r>
              <a:t>▪ Sonnet and GPT-5.5 provide excellent builder value at $2-$3 per million tokens.</a:t>
            </a:r>
            <a:br/>
            <a:br/>
            <a:r>
              <a:t>▪ DeepSeek V4 matches performance on major benchmarks while costing a tiny fraction ($0.14).</a:t>
            </a:r>
            <a:br/>
            <a:br/>
            <a:r>
              <a:t>▪ Llama 4 is free to license, but you must factor in the cost of GPU server maintenance.</a:t>
            </a:r>
          </a:p>
        </p:txBody>
      </p:sp>
      <p:sp>
        <p:nvSpPr>
          <p:cNvPr id="5" name="Rounded Rectangle 4"/>
          <p:cNvSpPr/>
          <p:nvPr/>
        </p:nvSpPr>
        <p:spPr>
          <a:xfrm>
            <a:off x="914400" y="5303520"/>
            <a:ext cx="10332720" cy="7315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5440680"/>
            <a:ext cx="9784080" cy="502920"/>
          </a:xfrm>
          <a:prstGeom prst="rect">
            <a:avLst/>
          </a:prstGeom>
          <a:noFill/>
        </p:spPr>
        <p:txBody>
          <a:bodyPr wrap="square">
            <a:spAutoFit/>
          </a:bodyPr>
          <a:lstStyle/>
          <a:p>
            <a:pPr algn="l">
              <a:defRPr sz="1100" b="1">
                <a:solidFill>
                  <a:srgbClr val="16A34A"/>
                </a:solidFill>
              </a:defRPr>
            </a:pPr>
            <a:r>
              <a:t>Takeaway: Output tokens are typically 3x-5x more expensive than input tokens. Size your generations carefully.</a:t>
            </a:r>
          </a:p>
        </p:txBody>
      </p:sp>
      <p:sp>
        <p:nvSpPr>
          <p:cNvPr id="7" name="TextBox 6"/>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Practical Roadmap: Deploying Your First AI Pipeline</a:t>
            </a:r>
          </a:p>
        </p:txBody>
      </p:sp>
      <p:sp>
        <p:nvSpPr>
          <p:cNvPr id="3" name="Rounded Rectangle 2"/>
          <p:cNvSpPr/>
          <p:nvPr/>
        </p:nvSpPr>
        <p:spPr>
          <a:xfrm>
            <a:off x="914400" y="1097280"/>
            <a:ext cx="3200400" cy="39319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2834640" cy="365760"/>
          </a:xfrm>
          <a:prstGeom prst="rect">
            <a:avLst/>
          </a:prstGeom>
          <a:noFill/>
        </p:spPr>
        <p:txBody>
          <a:bodyPr wrap="square">
            <a:spAutoFit/>
          </a:bodyPr>
          <a:lstStyle/>
          <a:p>
            <a:pPr algn="l">
              <a:defRPr sz="1500" b="1">
                <a:solidFill>
                  <a:srgbClr val="3B82F6"/>
                </a:solidFill>
              </a:defRPr>
            </a:pPr>
            <a:r>
              <a:t>Phase 1: Prototyping</a:t>
            </a:r>
          </a:p>
        </p:txBody>
      </p:sp>
      <p:sp>
        <p:nvSpPr>
          <p:cNvPr id="5" name="TextBox 4"/>
          <p:cNvSpPr txBox="1"/>
          <p:nvPr/>
        </p:nvSpPr>
        <p:spPr>
          <a:xfrm>
            <a:off x="1097280" y="1600200"/>
            <a:ext cx="2834640" cy="228600"/>
          </a:xfrm>
          <a:prstGeom prst="rect">
            <a:avLst/>
          </a:prstGeom>
          <a:noFill/>
        </p:spPr>
        <p:txBody>
          <a:bodyPr wrap="square">
            <a:spAutoFit/>
          </a:bodyPr>
          <a:lstStyle/>
          <a:p>
            <a:pPr algn="l">
              <a:defRPr sz="1000" b="0">
                <a:solidFill>
                  <a:srgbClr val="888880"/>
                </a:solidFill>
              </a:defRPr>
            </a:pPr>
            <a:r>
              <a:t>Duration: Days 1 - 5</a:t>
            </a:r>
          </a:p>
        </p:txBody>
      </p:sp>
      <p:sp>
        <p:nvSpPr>
          <p:cNvPr id="6" name="Rectangle 5"/>
          <p:cNvSpPr/>
          <p:nvPr/>
        </p:nvSpPr>
        <p:spPr>
          <a:xfrm>
            <a:off x="1097280" y="1920240"/>
            <a:ext cx="2834640" cy="127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03120"/>
            <a:ext cx="2834640" cy="2743200"/>
          </a:xfrm>
          <a:prstGeom prst="rect">
            <a:avLst/>
          </a:prstGeom>
          <a:noFill/>
        </p:spPr>
        <p:txBody>
          <a:bodyPr wrap="square">
            <a:spAutoFit/>
          </a:bodyPr>
          <a:lstStyle/>
          <a:p>
            <a:pPr algn="l">
              <a:defRPr sz="1100" b="0">
                <a:solidFill>
                  <a:srgbClr val="1A1A1A"/>
                </a:solidFill>
              </a:defRPr>
            </a:pPr>
            <a:r>
              <a:t>• Setup API keys for Sonnet/GPT-5.5</a:t>
            </a:r>
            <a:br/>
            <a:r>
              <a:t>• Write markdown prompt templates</a:t>
            </a:r>
            <a:br/>
            <a:r>
              <a:t>• Use Cursor to draft code helpers</a:t>
            </a:r>
            <a:br/>
            <a:r>
              <a:t>• Verify basic output quality by hand</a:t>
            </a:r>
          </a:p>
        </p:txBody>
      </p:sp>
      <p:sp>
        <p:nvSpPr>
          <p:cNvPr id="8" name="Rounded Rectangle 7"/>
          <p:cNvSpPr/>
          <p:nvPr/>
        </p:nvSpPr>
        <p:spPr>
          <a:xfrm>
            <a:off x="4480560" y="1097280"/>
            <a:ext cx="3200400" cy="39319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280160"/>
            <a:ext cx="2834640" cy="365760"/>
          </a:xfrm>
          <a:prstGeom prst="rect">
            <a:avLst/>
          </a:prstGeom>
          <a:noFill/>
        </p:spPr>
        <p:txBody>
          <a:bodyPr wrap="square">
            <a:spAutoFit/>
          </a:bodyPr>
          <a:lstStyle/>
          <a:p>
            <a:pPr algn="l">
              <a:defRPr sz="1500" b="1">
                <a:solidFill>
                  <a:srgbClr val="16A34A"/>
                </a:solidFill>
              </a:defRPr>
            </a:pPr>
            <a:r>
              <a:t>Phase 2: RAG Pipeline</a:t>
            </a:r>
          </a:p>
        </p:txBody>
      </p:sp>
      <p:sp>
        <p:nvSpPr>
          <p:cNvPr id="10" name="TextBox 9"/>
          <p:cNvSpPr txBox="1"/>
          <p:nvPr/>
        </p:nvSpPr>
        <p:spPr>
          <a:xfrm>
            <a:off x="4663440" y="1600200"/>
            <a:ext cx="2834640" cy="228600"/>
          </a:xfrm>
          <a:prstGeom prst="rect">
            <a:avLst/>
          </a:prstGeom>
          <a:noFill/>
        </p:spPr>
        <p:txBody>
          <a:bodyPr wrap="square">
            <a:spAutoFit/>
          </a:bodyPr>
          <a:lstStyle/>
          <a:p>
            <a:pPr algn="l">
              <a:defRPr sz="1000" b="0">
                <a:solidFill>
                  <a:srgbClr val="888880"/>
                </a:solidFill>
              </a:defRPr>
            </a:pPr>
            <a:r>
              <a:t>Duration: Days 6 - 15</a:t>
            </a:r>
          </a:p>
        </p:txBody>
      </p:sp>
      <p:sp>
        <p:nvSpPr>
          <p:cNvPr id="11" name="Rectangle 10"/>
          <p:cNvSpPr/>
          <p:nvPr/>
        </p:nvSpPr>
        <p:spPr>
          <a:xfrm>
            <a:off x="4663440" y="1920240"/>
            <a:ext cx="2834640" cy="127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103120"/>
            <a:ext cx="2834640" cy="2743200"/>
          </a:xfrm>
          <a:prstGeom prst="rect">
            <a:avLst/>
          </a:prstGeom>
          <a:noFill/>
        </p:spPr>
        <p:txBody>
          <a:bodyPr wrap="square">
            <a:spAutoFit/>
          </a:bodyPr>
          <a:lstStyle/>
          <a:p>
            <a:pPr algn="l">
              <a:defRPr sz="1100" b="0">
                <a:solidFill>
                  <a:srgbClr val="1A1A1A"/>
                </a:solidFill>
              </a:defRPr>
            </a:pPr>
            <a:r>
              <a:t>• Connect pgvector or Pinecone DB</a:t>
            </a:r>
            <a:br/>
            <a:r>
              <a:t>• Write text chunking scripts</a:t>
            </a:r>
            <a:br/>
            <a:r>
              <a:t>• Build a semantic lookup system</a:t>
            </a:r>
            <a:br/>
            <a:r>
              <a:t>• Link lookup context to LLM prompts</a:t>
            </a:r>
          </a:p>
        </p:txBody>
      </p:sp>
      <p:sp>
        <p:nvSpPr>
          <p:cNvPr id="13" name="Rounded Rectangle 12"/>
          <p:cNvSpPr/>
          <p:nvPr/>
        </p:nvSpPr>
        <p:spPr>
          <a:xfrm>
            <a:off x="8046720" y="1097280"/>
            <a:ext cx="3200400" cy="39319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280160"/>
            <a:ext cx="2834640" cy="365760"/>
          </a:xfrm>
          <a:prstGeom prst="rect">
            <a:avLst/>
          </a:prstGeom>
          <a:noFill/>
        </p:spPr>
        <p:txBody>
          <a:bodyPr wrap="square">
            <a:spAutoFit/>
          </a:bodyPr>
          <a:lstStyle/>
          <a:p>
            <a:pPr algn="l">
              <a:defRPr sz="1500" b="1">
                <a:solidFill>
                  <a:srgbClr val="D97706"/>
                </a:solidFill>
              </a:defRPr>
            </a:pPr>
            <a:r>
              <a:t>Phase 3: Production</a:t>
            </a:r>
          </a:p>
        </p:txBody>
      </p:sp>
      <p:sp>
        <p:nvSpPr>
          <p:cNvPr id="15" name="TextBox 14"/>
          <p:cNvSpPr txBox="1"/>
          <p:nvPr/>
        </p:nvSpPr>
        <p:spPr>
          <a:xfrm>
            <a:off x="8229600" y="1600200"/>
            <a:ext cx="2834640" cy="228600"/>
          </a:xfrm>
          <a:prstGeom prst="rect">
            <a:avLst/>
          </a:prstGeom>
          <a:noFill/>
        </p:spPr>
        <p:txBody>
          <a:bodyPr wrap="square">
            <a:spAutoFit/>
          </a:bodyPr>
          <a:lstStyle/>
          <a:p>
            <a:pPr algn="l">
              <a:defRPr sz="1000" b="0">
                <a:solidFill>
                  <a:srgbClr val="888880"/>
                </a:solidFill>
              </a:defRPr>
            </a:pPr>
            <a:r>
              <a:t>Duration: Days 16 - 30</a:t>
            </a:r>
          </a:p>
        </p:txBody>
      </p:sp>
      <p:sp>
        <p:nvSpPr>
          <p:cNvPr id="16" name="Rectangle 15"/>
          <p:cNvSpPr/>
          <p:nvPr/>
        </p:nvSpPr>
        <p:spPr>
          <a:xfrm>
            <a:off x="8229600" y="1920240"/>
            <a:ext cx="2834640" cy="127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103120"/>
            <a:ext cx="2834640" cy="2743200"/>
          </a:xfrm>
          <a:prstGeom prst="rect">
            <a:avLst/>
          </a:prstGeom>
          <a:noFill/>
        </p:spPr>
        <p:txBody>
          <a:bodyPr wrap="square">
            <a:spAutoFit/>
          </a:bodyPr>
          <a:lstStyle/>
          <a:p>
            <a:pPr algn="l">
              <a:defRPr sz="1100" b="0">
                <a:solidFill>
                  <a:srgbClr val="1A1A1A"/>
                </a:solidFill>
              </a:defRPr>
            </a:pPr>
            <a:r>
              <a:t>• Deploy API in a Docker container</a:t>
            </a:r>
            <a:br/>
            <a:r>
              <a:t>• Set strict token rate-limits</a:t>
            </a:r>
            <a:br/>
            <a:r>
              <a:t>• Add logging dashboards (logs.js)</a:t>
            </a:r>
            <a:br/>
            <a:r>
              <a:t>• Launch beta version for user testing</a:t>
            </a:r>
          </a:p>
        </p:txBody>
      </p:sp>
      <p:sp>
        <p:nvSpPr>
          <p:cNvPr id="18" name="TextBox 17"/>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914400"/>
          </a:xfrm>
          <a:prstGeom prst="rect">
            <a:avLst/>
          </a:prstGeom>
          <a:noFill/>
        </p:spPr>
        <p:txBody>
          <a:bodyPr wrap="square">
            <a:spAutoFit/>
          </a:bodyPr>
          <a:lstStyle/>
          <a:p>
            <a:pPr algn="ctr">
              <a:defRPr sz="5200" b="1">
                <a:solidFill>
                  <a:srgbClr val="3B82F6"/>
                </a:solidFill>
              </a:defRPr>
            </a:pPr>
            <a:r>
              <a:t>Systems Design Q&amp;A</a:t>
            </a:r>
          </a:p>
        </p:txBody>
      </p:sp>
      <p:sp>
        <p:nvSpPr>
          <p:cNvPr id="3" name="TextBox 2"/>
          <p:cNvSpPr txBox="1"/>
          <p:nvPr/>
        </p:nvSpPr>
        <p:spPr>
          <a:xfrm>
            <a:off x="914400" y="2743200"/>
            <a:ext cx="10332720" cy="731520"/>
          </a:xfrm>
          <a:prstGeom prst="rect">
            <a:avLst/>
          </a:prstGeom>
          <a:noFill/>
        </p:spPr>
        <p:txBody>
          <a:bodyPr wrap="square">
            <a:spAutoFit/>
          </a:bodyPr>
          <a:lstStyle/>
          <a:p>
            <a:pPr algn="ctr">
              <a:defRPr sz="1800" b="0">
                <a:solidFill>
                  <a:srgbClr val="1A1A1A"/>
                </a:solidFill>
              </a:defRPr>
            </a:pPr>
            <a:r>
              <a:t>Ask me anything about RAG architectures, model selections, or API costs</a:t>
            </a:r>
          </a:p>
        </p:txBody>
      </p:sp>
      <p:sp>
        <p:nvSpPr>
          <p:cNvPr id="4" name="TextBox 3"/>
          <p:cNvSpPr txBox="1"/>
          <p:nvPr/>
        </p:nvSpPr>
        <p:spPr>
          <a:xfrm>
            <a:off x="914400" y="4114800"/>
            <a:ext cx="10332720" cy="548640"/>
          </a:xfrm>
          <a:prstGeom prst="rect">
            <a:avLst/>
          </a:prstGeom>
          <a:noFill/>
        </p:spPr>
        <p:txBody>
          <a:bodyPr wrap="square">
            <a:spAutoFit/>
          </a:bodyPr>
          <a:lstStyle/>
          <a:p>
            <a:pPr algn="ctr">
              <a:defRPr sz="1400" b="0">
                <a:solidFill>
                  <a:srgbClr val="888880"/>
                </a:solidFill>
              </a:defRPr>
            </a:pPr>
            <a:r>
              <a:t>Visit the Playbook: ai-playbook.pages.dev  •  Cursor  •  Pinecone</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