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Beginner Presentation. Today, we will unpack what Artificial Intelligence and Large Language Models actually are, debunk common myths, review the modern landscape, and cover practical methods to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first part, we will explore the AI landscape, clarify core concepts, and build a solid conceptual foundation.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LLMs as highly advanced autocomplete engines. By recognizing patterns across trillions of words, they generate text. They do not have feelings or sentience—they are math and pattern-matching at a massive scale.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 realistic expectations is crucial. LLMs are narrow assistants. They are world-class at generating, editing, and summarizing text, but they can and will hallucinate occasionally. Verify anything critical.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2026, AI is a commodity. Prices drop over 50% yearly, memory sizes have ballooned to 1M tokens, and open models like Llama or DeepSeek offer state-of-the-art capability for free or pennies.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Part 2, we will look at prompt engineering—the art and science of writing high-quality instructions to get high-quality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engineering is 'garbage in, garbage out'. Being specific, providing examples, and asking for structure will improve your outputs by 10x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temperature simply. It is the probability scale. Low temp = math and code. High temp = naming products and writing poetry. Most chat platforms manage this automatically, but understanding it helps when building systems.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the user. AI is a habit, not just a tool. Suggest small, daily steps. By starting with 30-minute experiments and graduating to weekly habits, you earn familiarity and speed.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floor for Q&amp;A. Focus on practical starting points and address any initial doubts.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1371600"/>
          </a:xfrm>
          <a:prstGeom prst="rect">
            <a:avLst/>
          </a:prstGeom>
          <a:noFill/>
        </p:spPr>
        <p:txBody>
          <a:bodyPr wrap="square">
            <a:spAutoFit/>
          </a:bodyPr>
          <a:lstStyle/>
          <a:p>
            <a:pPr algn="l">
              <a:defRPr sz="4400" b="1">
                <a:solidFill>
                  <a:srgbClr val="3B82F6"/>
                </a:solidFill>
              </a:defRPr>
            </a:pPr>
            <a:r>
              <a:t>AI &amp; LLMs: The Basics for Everyone</a:t>
            </a:r>
          </a:p>
        </p:txBody>
      </p:sp>
      <p:sp>
        <p:nvSpPr>
          <p:cNvPr id="3" name="TextBox 2"/>
          <p:cNvSpPr txBox="1"/>
          <p:nvPr/>
        </p:nvSpPr>
        <p:spPr>
          <a:xfrm>
            <a:off x="914400" y="2926080"/>
            <a:ext cx="10332720" cy="914400"/>
          </a:xfrm>
          <a:prstGeom prst="rect">
            <a:avLst/>
          </a:prstGeom>
          <a:noFill/>
        </p:spPr>
        <p:txBody>
          <a:bodyPr wrap="square">
            <a:spAutoFit/>
          </a:bodyPr>
          <a:lstStyle/>
          <a:p>
            <a:pPr algn="l">
              <a:defRPr sz="2200" b="0">
                <a:solidFill>
                  <a:srgbClr val="1A1A1A"/>
                </a:solidFill>
              </a:defRPr>
            </a:pPr>
            <a:r>
              <a:t>A Non-Technical Grounding in Generative AI</a:t>
            </a:r>
          </a:p>
        </p:txBody>
      </p:sp>
      <p:sp>
        <p:nvSpPr>
          <p:cNvPr id="4" name="TextBox 3"/>
          <p:cNvSpPr txBox="1"/>
          <p:nvPr/>
        </p:nvSpPr>
        <p:spPr>
          <a:xfrm>
            <a:off x="914400" y="3840480"/>
            <a:ext cx="10332720" cy="548640"/>
          </a:xfrm>
          <a:prstGeom prst="rect">
            <a:avLst/>
          </a:prstGeom>
          <a:noFill/>
        </p:spPr>
        <p:txBody>
          <a:bodyPr wrap="square">
            <a:spAutoFit/>
          </a:bodyPr>
          <a:lstStyle/>
          <a:p>
            <a:pPr algn="l">
              <a:defRPr sz="1300" b="0">
                <a:solidFill>
                  <a:srgbClr val="888880"/>
                </a:solidFill>
              </a:defRPr>
            </a:pPr>
            <a:r>
              <a:t>Level 1: Beginner Presentation  •  AI Playbook</a:t>
            </a:r>
          </a:p>
        </p:txBody>
      </p:sp>
      <p:sp>
        <p:nvSpPr>
          <p:cNvPr id="5" name="Rectangle 4"/>
          <p:cNvSpPr/>
          <p:nvPr/>
        </p:nvSpPr>
        <p:spPr>
          <a:xfrm>
            <a:off x="914400" y="2834640"/>
            <a:ext cx="164592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1</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The AI Landscape</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De-mystifying generative AI and explaining what is real vs. hype</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What is an LLM? Autocomplete on Steroids</a:t>
            </a:r>
          </a:p>
        </p:txBody>
      </p:sp>
      <p:sp>
        <p:nvSpPr>
          <p:cNvPr id="3" name="TextBox 2"/>
          <p:cNvSpPr txBox="1"/>
          <p:nvPr/>
        </p:nvSpPr>
        <p:spPr>
          <a:xfrm>
            <a:off x="914400" y="914400"/>
            <a:ext cx="4754880" cy="4572000"/>
          </a:xfrm>
          <a:prstGeom prst="rect">
            <a:avLst/>
          </a:prstGeom>
          <a:noFill/>
        </p:spPr>
        <p:txBody>
          <a:bodyPr wrap="square">
            <a:spAutoFit/>
          </a:bodyPr>
          <a:lstStyle/>
          <a:p>
            <a:pPr algn="l">
              <a:defRPr sz="1300" b="0">
                <a:solidFill>
                  <a:srgbClr val="1A1A1A"/>
                </a:solidFill>
              </a:defRPr>
            </a:pPr>
            <a:r>
              <a:t>A Large Language Model (LLM) is software that predicts the next word in a sentence.</a:t>
            </a:r>
            <a:br/>
            <a:br/>
            <a:r>
              <a:t>It acts like the autocomplete feature on your mobile phone, but trained on massive amounts of data from the internet, books, and code.</a:t>
            </a:r>
            <a:br/>
            <a:br/>
            <a:r>
              <a:t>Key mechanics of the scale:</a:t>
            </a:r>
            <a:br/>
            <a:r>
              <a:t>• Trillions of words of training data</a:t>
            </a:r>
            <a:br/>
            <a:r>
              <a:t>• Billions of prediction parameters ('dials')</a:t>
            </a:r>
            <a:br/>
            <a:r>
              <a:t>• Massive memory windows (context)</a:t>
            </a:r>
          </a:p>
        </p:txBody>
      </p:sp>
      <p:sp>
        <p:nvSpPr>
          <p:cNvPr id="4" name="Rounded Rectangle 3"/>
          <p:cNvSpPr/>
          <p:nvPr/>
        </p:nvSpPr>
        <p:spPr>
          <a:xfrm>
            <a:off x="6217920" y="1097280"/>
            <a:ext cx="5029200" cy="109728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0" y="1188720"/>
            <a:ext cx="4663440" cy="365760"/>
          </a:xfrm>
          <a:prstGeom prst="rect">
            <a:avLst/>
          </a:prstGeom>
          <a:noFill/>
        </p:spPr>
        <p:txBody>
          <a:bodyPr wrap="square">
            <a:spAutoFit/>
          </a:bodyPr>
          <a:lstStyle/>
          <a:p>
            <a:pPr algn="l">
              <a:defRPr sz="1400" b="0">
                <a:solidFill>
                  <a:srgbClr val="4A4A4A"/>
                </a:solidFill>
              </a:defRPr>
            </a:pPr>
            <a:r>
              <a:t>The best thing about an AI assistant is its ability to...</a:t>
            </a:r>
          </a:p>
        </p:txBody>
      </p:sp>
      <p:sp>
        <p:nvSpPr>
          <p:cNvPr id="6" name="TextBox 5"/>
          <p:cNvSpPr txBox="1"/>
          <p:nvPr/>
        </p:nvSpPr>
        <p:spPr>
          <a:xfrm>
            <a:off x="6400800" y="1645920"/>
            <a:ext cx="4663440" cy="365760"/>
          </a:xfrm>
          <a:prstGeom prst="rect">
            <a:avLst/>
          </a:prstGeom>
          <a:noFill/>
        </p:spPr>
        <p:txBody>
          <a:bodyPr wrap="square">
            <a:spAutoFit/>
          </a:bodyPr>
          <a:lstStyle/>
          <a:p>
            <a:pPr algn="l">
              <a:defRPr sz="1400" b="1">
                <a:solidFill>
                  <a:srgbClr val="3B82F6"/>
                </a:solidFill>
              </a:defRPr>
            </a:pPr>
            <a:r>
              <a:t>[ help ]   [ listen ]   [ write ]</a:t>
            </a:r>
          </a:p>
        </p:txBody>
      </p:sp>
      <p:sp>
        <p:nvSpPr>
          <p:cNvPr id="7" name="Rounded Rectangle 6"/>
          <p:cNvSpPr/>
          <p:nvPr/>
        </p:nvSpPr>
        <p:spPr>
          <a:xfrm>
            <a:off x="6217920" y="2743200"/>
            <a:ext cx="5029200" cy="91440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834640"/>
            <a:ext cx="2926080" cy="274320"/>
          </a:xfrm>
          <a:prstGeom prst="rect">
            <a:avLst/>
          </a:prstGeom>
          <a:noFill/>
        </p:spPr>
        <p:txBody>
          <a:bodyPr wrap="square">
            <a:spAutoFit/>
          </a:bodyPr>
          <a:lstStyle/>
          <a:p>
            <a:pPr algn="l">
              <a:defRPr sz="1300" b="1">
                <a:solidFill>
                  <a:srgbClr val="3B82F6"/>
                </a:solidFill>
              </a:defRPr>
            </a:pPr>
            <a:r>
              <a:t>Parameters</a:t>
            </a:r>
          </a:p>
        </p:txBody>
      </p:sp>
      <p:sp>
        <p:nvSpPr>
          <p:cNvPr id="9" name="TextBox 8"/>
          <p:cNvSpPr txBox="1"/>
          <p:nvPr/>
        </p:nvSpPr>
        <p:spPr>
          <a:xfrm>
            <a:off x="6400800" y="3154680"/>
            <a:ext cx="2926080" cy="365760"/>
          </a:xfrm>
          <a:prstGeom prst="rect">
            <a:avLst/>
          </a:prstGeom>
          <a:noFill/>
        </p:spPr>
        <p:txBody>
          <a:bodyPr wrap="square">
            <a:spAutoFit/>
          </a:bodyPr>
          <a:lstStyle/>
          <a:p>
            <a:pPr algn="l">
              <a:defRPr sz="1000" b="0">
                <a:solidFill>
                  <a:srgbClr val="888880"/>
                </a:solidFill>
              </a:defRPr>
            </a:pPr>
            <a:r>
              <a:t>Dials that control pattern matches</a:t>
            </a:r>
          </a:p>
        </p:txBody>
      </p:sp>
      <p:sp>
        <p:nvSpPr>
          <p:cNvPr id="10" name="TextBox 9"/>
          <p:cNvSpPr txBox="1"/>
          <p:nvPr/>
        </p:nvSpPr>
        <p:spPr>
          <a:xfrm>
            <a:off x="9326880" y="2926080"/>
            <a:ext cx="1737360" cy="457200"/>
          </a:xfrm>
          <a:prstGeom prst="rect">
            <a:avLst/>
          </a:prstGeom>
          <a:noFill/>
        </p:spPr>
        <p:txBody>
          <a:bodyPr wrap="square">
            <a:spAutoFit/>
          </a:bodyPr>
          <a:lstStyle/>
          <a:p>
            <a:pPr algn="r">
              <a:defRPr sz="1800" b="1">
                <a:solidFill>
                  <a:srgbClr val="1A1A1A"/>
                </a:solidFill>
              </a:defRPr>
            </a:pPr>
            <a:r>
              <a:t>10B - 1.7T</a:t>
            </a:r>
          </a:p>
        </p:txBody>
      </p:sp>
      <p:sp>
        <p:nvSpPr>
          <p:cNvPr id="11" name="Rounded Rectangle 10"/>
          <p:cNvSpPr/>
          <p:nvPr/>
        </p:nvSpPr>
        <p:spPr>
          <a:xfrm>
            <a:off x="6217920" y="3840480"/>
            <a:ext cx="5029200" cy="91440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931920"/>
            <a:ext cx="2926080" cy="274320"/>
          </a:xfrm>
          <a:prstGeom prst="rect">
            <a:avLst/>
          </a:prstGeom>
          <a:noFill/>
        </p:spPr>
        <p:txBody>
          <a:bodyPr wrap="square">
            <a:spAutoFit/>
          </a:bodyPr>
          <a:lstStyle/>
          <a:p>
            <a:pPr algn="l">
              <a:defRPr sz="1300" b="1">
                <a:solidFill>
                  <a:srgbClr val="3B82F6"/>
                </a:solidFill>
              </a:defRPr>
            </a:pPr>
            <a:r>
              <a:t>Context</a:t>
            </a:r>
          </a:p>
        </p:txBody>
      </p:sp>
      <p:sp>
        <p:nvSpPr>
          <p:cNvPr id="13" name="TextBox 12"/>
          <p:cNvSpPr txBox="1"/>
          <p:nvPr/>
        </p:nvSpPr>
        <p:spPr>
          <a:xfrm>
            <a:off x="6400800" y="4251960"/>
            <a:ext cx="2926080" cy="365760"/>
          </a:xfrm>
          <a:prstGeom prst="rect">
            <a:avLst/>
          </a:prstGeom>
          <a:noFill/>
        </p:spPr>
        <p:txBody>
          <a:bodyPr wrap="square">
            <a:spAutoFit/>
          </a:bodyPr>
          <a:lstStyle/>
          <a:p>
            <a:pPr algn="l">
              <a:defRPr sz="1000" b="0">
                <a:solidFill>
                  <a:srgbClr val="888880"/>
                </a:solidFill>
              </a:defRPr>
            </a:pPr>
            <a:r>
              <a:t>Conversation memory window</a:t>
            </a:r>
          </a:p>
        </p:txBody>
      </p:sp>
      <p:sp>
        <p:nvSpPr>
          <p:cNvPr id="14" name="TextBox 13"/>
          <p:cNvSpPr txBox="1"/>
          <p:nvPr/>
        </p:nvSpPr>
        <p:spPr>
          <a:xfrm>
            <a:off x="9326880" y="4023360"/>
            <a:ext cx="1737360" cy="457200"/>
          </a:xfrm>
          <a:prstGeom prst="rect">
            <a:avLst/>
          </a:prstGeom>
          <a:noFill/>
        </p:spPr>
        <p:txBody>
          <a:bodyPr wrap="square">
            <a:spAutoFit/>
          </a:bodyPr>
          <a:lstStyle/>
          <a:p>
            <a:pPr algn="r">
              <a:defRPr sz="1800" b="1">
                <a:solidFill>
                  <a:srgbClr val="1A1A1A"/>
                </a:solidFill>
              </a:defRPr>
            </a:pPr>
            <a:r>
              <a:t>128K - 1M tokens</a:t>
            </a:r>
          </a:p>
        </p:txBody>
      </p:sp>
      <p:sp>
        <p:nvSpPr>
          <p:cNvPr id="15" name="Rounded Rectangle 14"/>
          <p:cNvSpPr/>
          <p:nvPr/>
        </p:nvSpPr>
        <p:spPr>
          <a:xfrm>
            <a:off x="6217920" y="4937760"/>
            <a:ext cx="5029200" cy="91440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5029200"/>
            <a:ext cx="2926080" cy="274320"/>
          </a:xfrm>
          <a:prstGeom prst="rect">
            <a:avLst/>
          </a:prstGeom>
          <a:noFill/>
        </p:spPr>
        <p:txBody>
          <a:bodyPr wrap="square">
            <a:spAutoFit/>
          </a:bodyPr>
          <a:lstStyle/>
          <a:p>
            <a:pPr algn="l">
              <a:defRPr sz="1300" b="1">
                <a:solidFill>
                  <a:srgbClr val="3B82F6"/>
                </a:solidFill>
              </a:defRPr>
            </a:pPr>
            <a:r>
              <a:t>Tokens</a:t>
            </a:r>
          </a:p>
        </p:txBody>
      </p:sp>
      <p:sp>
        <p:nvSpPr>
          <p:cNvPr id="17" name="TextBox 16"/>
          <p:cNvSpPr txBox="1"/>
          <p:nvPr/>
        </p:nvSpPr>
        <p:spPr>
          <a:xfrm>
            <a:off x="6400800" y="5349240"/>
            <a:ext cx="2926080" cy="365760"/>
          </a:xfrm>
          <a:prstGeom prst="rect">
            <a:avLst/>
          </a:prstGeom>
          <a:noFill/>
        </p:spPr>
        <p:txBody>
          <a:bodyPr wrap="square">
            <a:spAutoFit/>
          </a:bodyPr>
          <a:lstStyle/>
          <a:p>
            <a:pPr algn="l">
              <a:defRPr sz="1000" b="0">
                <a:solidFill>
                  <a:srgbClr val="888880"/>
                </a:solidFill>
              </a:defRPr>
            </a:pPr>
            <a:r>
              <a:t>Basic units of text processing</a:t>
            </a:r>
          </a:p>
        </p:txBody>
      </p:sp>
      <p:sp>
        <p:nvSpPr>
          <p:cNvPr id="18" name="TextBox 17"/>
          <p:cNvSpPr txBox="1"/>
          <p:nvPr/>
        </p:nvSpPr>
        <p:spPr>
          <a:xfrm>
            <a:off x="9326880" y="5120640"/>
            <a:ext cx="1737360" cy="457200"/>
          </a:xfrm>
          <a:prstGeom prst="rect">
            <a:avLst/>
          </a:prstGeom>
          <a:noFill/>
        </p:spPr>
        <p:txBody>
          <a:bodyPr wrap="square">
            <a:spAutoFit/>
          </a:bodyPr>
          <a:lstStyle/>
          <a:p>
            <a:pPr algn="r">
              <a:defRPr sz="1800" b="1">
                <a:solidFill>
                  <a:srgbClr val="1A1A1A"/>
                </a:solidFill>
              </a:defRPr>
            </a:pPr>
            <a:r>
              <a:t>1 token ≈ ¾ word</a:t>
            </a:r>
          </a:p>
        </p:txBody>
      </p:sp>
      <p:sp>
        <p:nvSpPr>
          <p:cNvPr id="19" name="TextBox 1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Reality Check: Myths vs. Actual Capabilities</a:t>
            </a:r>
          </a:p>
        </p:txBody>
      </p:sp>
      <p:sp>
        <p:nvSpPr>
          <p:cNvPr id="3" name="Rounded Rectangle 2"/>
          <p:cNvSpPr/>
          <p:nvPr/>
        </p:nvSpPr>
        <p:spPr>
          <a:xfrm>
            <a:off x="914400" y="914400"/>
            <a:ext cx="4846320" cy="438912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4023360" cy="411480"/>
          </a:xfrm>
          <a:prstGeom prst="rect">
            <a:avLst/>
          </a:prstGeom>
          <a:noFill/>
        </p:spPr>
        <p:txBody>
          <a:bodyPr wrap="square">
            <a:spAutoFit/>
          </a:bodyPr>
          <a:lstStyle/>
          <a:p>
            <a:pPr algn="l">
              <a:defRPr sz="1600" b="1">
                <a:solidFill>
                  <a:srgbClr val="DC2626"/>
                </a:solidFill>
              </a:defRPr>
            </a:pPr>
            <a:r>
              <a:t>Common Myths (✕)</a:t>
            </a:r>
          </a:p>
        </p:txBody>
      </p:sp>
      <p:sp>
        <p:nvSpPr>
          <p:cNvPr id="5" name="TextBox 4"/>
          <p:cNvSpPr txBox="1"/>
          <p:nvPr/>
        </p:nvSpPr>
        <p:spPr>
          <a:xfrm>
            <a:off x="1097280" y="1645920"/>
            <a:ext cx="4023360" cy="3840480"/>
          </a:xfrm>
          <a:prstGeom prst="rect">
            <a:avLst/>
          </a:prstGeom>
          <a:noFill/>
        </p:spPr>
        <p:txBody>
          <a:bodyPr wrap="square">
            <a:spAutoFit/>
          </a:bodyPr>
          <a:lstStyle/>
          <a:p>
            <a:pPr>
              <a:spcAft>
                <a:spcPts val="1400"/>
              </a:spcAft>
              <a:defRPr sz="1100">
                <a:solidFill>
                  <a:srgbClr val="1A1A1A"/>
                </a:solidFill>
              </a:defRPr>
            </a:pPr>
            <a:r>
              <a:t>✕  LLMs understand language like humans do.</a:t>
            </a:r>
            <a:br/>
            <a:r>
              <a:t>(They recognize and reproduce patterns.)</a:t>
            </a:r>
          </a:p>
          <a:p>
            <a:pPr>
              <a:spcAft>
                <a:spcPts val="1400"/>
              </a:spcAft>
              <a:defRPr sz="1100">
                <a:solidFill>
                  <a:srgbClr val="1A1A1A"/>
                </a:solidFill>
              </a:defRPr>
            </a:pPr>
            <a:r>
              <a:t>✕  ChatGPT is always accurate and factual.</a:t>
            </a:r>
            <a:br/>
            <a:r>
              <a:t>(They hallucinate and make up plausible facts.)</a:t>
            </a:r>
          </a:p>
          <a:p>
            <a:pPr>
              <a:spcAft>
                <a:spcPts val="1400"/>
              </a:spcAft>
              <a:defRPr sz="1100">
                <a:solidFill>
                  <a:srgbClr val="1A1A1A"/>
                </a:solidFill>
              </a:defRPr>
            </a:pPr>
            <a:r>
              <a:t>✕  More parameters automatically means smarter.</a:t>
            </a:r>
            <a:br/>
            <a:r>
              <a:t>(Data quality and architecture matter more.)</a:t>
            </a:r>
          </a:p>
          <a:p>
            <a:pPr>
              <a:spcAft>
                <a:spcPts val="1400"/>
              </a:spcAft>
              <a:defRPr sz="1100">
                <a:solidFill>
                  <a:srgbClr val="1A1A1A"/>
                </a:solidFill>
              </a:defRPr>
            </a:pPr>
            <a:r>
              <a:t>✕  AI assistants will immediately replace humans.</a:t>
            </a:r>
            <a:br/>
            <a:r>
              <a:t>(They augment humans; human oversight is vital.)</a:t>
            </a:r>
          </a:p>
        </p:txBody>
      </p:sp>
      <p:sp>
        <p:nvSpPr>
          <p:cNvPr id="6" name="Rounded Rectangle 5"/>
          <p:cNvSpPr/>
          <p:nvPr/>
        </p:nvSpPr>
        <p:spPr>
          <a:xfrm>
            <a:off x="6400800" y="914400"/>
            <a:ext cx="4846320" cy="438912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097280"/>
            <a:ext cx="4480560" cy="411480"/>
          </a:xfrm>
          <a:prstGeom prst="rect">
            <a:avLst/>
          </a:prstGeom>
          <a:noFill/>
        </p:spPr>
        <p:txBody>
          <a:bodyPr wrap="square">
            <a:spAutoFit/>
          </a:bodyPr>
          <a:lstStyle/>
          <a:p>
            <a:pPr algn="l">
              <a:defRPr sz="1600" b="1">
                <a:solidFill>
                  <a:srgbClr val="16A34A"/>
                </a:solidFill>
              </a:defRPr>
            </a:pPr>
            <a:r>
              <a:t>Actual Capabilities (✓)</a:t>
            </a:r>
          </a:p>
        </p:txBody>
      </p:sp>
      <p:sp>
        <p:nvSpPr>
          <p:cNvPr id="8" name="TextBox 7"/>
          <p:cNvSpPr txBox="1"/>
          <p:nvPr/>
        </p:nvSpPr>
        <p:spPr>
          <a:xfrm>
            <a:off x="6583680" y="1645920"/>
            <a:ext cx="4480560" cy="3840480"/>
          </a:xfrm>
          <a:prstGeom prst="rect">
            <a:avLst/>
          </a:prstGeom>
          <a:noFill/>
        </p:spPr>
        <p:txBody>
          <a:bodyPr wrap="square">
            <a:spAutoFit/>
          </a:bodyPr>
          <a:lstStyle/>
          <a:p>
            <a:pPr>
              <a:spcAft>
                <a:spcPts val="1200"/>
              </a:spcAft>
              <a:defRPr sz="1100">
                <a:solidFill>
                  <a:srgbClr val="1A1A1A"/>
                </a:solidFill>
              </a:defRPr>
            </a:pPr>
            <a:r>
              <a:t>✓  Drafting, editing, and restructuring copy.</a:t>
            </a:r>
          </a:p>
          <a:p>
            <a:pPr>
              <a:spcAft>
                <a:spcPts val="1200"/>
              </a:spcAft>
              <a:defRPr sz="1100">
                <a:solidFill>
                  <a:srgbClr val="1A1A1A"/>
                </a:solidFill>
              </a:defRPr>
            </a:pPr>
            <a:r>
              <a:t>✓  Explaining complex subjects at various user levels.</a:t>
            </a:r>
          </a:p>
          <a:p>
            <a:pPr>
              <a:spcAft>
                <a:spcPts val="1200"/>
              </a:spcAft>
              <a:defRPr sz="1100">
                <a:solidFill>
                  <a:srgbClr val="1A1A1A"/>
                </a:solidFill>
              </a:defRPr>
            </a:pPr>
            <a:r>
              <a:t>✓  Generating and debugging programming code.</a:t>
            </a:r>
          </a:p>
          <a:p>
            <a:pPr>
              <a:spcAft>
                <a:spcPts val="1200"/>
              </a:spcAft>
              <a:defRPr sz="1100">
                <a:solidFill>
                  <a:srgbClr val="1A1A1A"/>
                </a:solidFill>
              </a:defRPr>
            </a:pPr>
            <a:r>
              <a:t>✓  Summarizing hundreds of pages into bullet points.</a:t>
            </a:r>
          </a:p>
          <a:p>
            <a:pPr>
              <a:spcAft>
                <a:spcPts val="1200"/>
              </a:spcAft>
              <a:defRPr sz="1100">
                <a:solidFill>
                  <a:srgbClr val="1A1A1A"/>
                </a:solidFill>
              </a:defRPr>
            </a:pPr>
            <a:r>
              <a:t>✓  Translating between natural languages and code.</a:t>
            </a:r>
          </a:p>
          <a:p>
            <a:pPr>
              <a:spcAft>
                <a:spcPts val="1200"/>
              </a:spcAft>
              <a:defRPr sz="1100">
                <a:solidFill>
                  <a:srgbClr val="1A1A1A"/>
                </a:solidFill>
              </a:defRPr>
            </a:pPr>
            <a:r>
              <a:t>✓  Tireless brainstorming partner for ideation.</a:t>
            </a:r>
          </a:p>
        </p:txBody>
      </p:sp>
      <p:sp>
        <p:nvSpPr>
          <p:cNvPr id="9" name="Rounded Rectangle 8"/>
          <p:cNvSpPr/>
          <p:nvPr/>
        </p:nvSpPr>
        <p:spPr>
          <a:xfrm>
            <a:off x="914400" y="5486400"/>
            <a:ext cx="10332720" cy="73152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5577840"/>
            <a:ext cx="9784080" cy="548640"/>
          </a:xfrm>
          <a:prstGeom prst="rect">
            <a:avLst/>
          </a:prstGeom>
          <a:noFill/>
        </p:spPr>
        <p:txBody>
          <a:bodyPr wrap="square">
            <a:spAutoFit/>
          </a:bodyPr>
          <a:lstStyle/>
          <a:p>
            <a:pPr algn="l">
              <a:defRPr sz="1100" b="1">
                <a:solidFill>
                  <a:srgbClr val="DC2626"/>
                </a:solidFill>
              </a:defRPr>
            </a:pPr>
            <a:r>
              <a:t>Rule of Thumb: Never trust critical answers from an LLM blindly. Always verify facts.</a:t>
            </a:r>
          </a:p>
        </p:txBody>
      </p:sp>
      <p:sp>
        <p:nvSpPr>
          <p:cNvPr id="11" name="TextBox 10"/>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The 2026 AI Landscape: Key Players &amp; Costs</a:t>
            </a:r>
          </a:p>
        </p:txBody>
      </p:sp>
      <p:sp>
        <p:nvSpPr>
          <p:cNvPr id="3" name="Rounded Rectangle 2"/>
          <p:cNvSpPr/>
          <p:nvPr/>
        </p:nvSpPr>
        <p:spPr>
          <a:xfrm>
            <a:off x="914400" y="914400"/>
            <a:ext cx="237744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16A34A"/>
                </a:solidFill>
              </a:defRPr>
            </a:pPr>
            <a:r>
              <a:t>50%+</a:t>
            </a:r>
          </a:p>
          <a:p>
            <a:pPr algn="ctr">
              <a:defRPr sz="1000">
                <a:solidFill>
                  <a:srgbClr val="888880"/>
                </a:solidFill>
              </a:defRPr>
            </a:pPr>
            <a:r>
              <a:t>Price Drop per Year</a:t>
            </a:r>
          </a:p>
        </p:txBody>
      </p:sp>
      <p:sp>
        <p:nvSpPr>
          <p:cNvPr id="4" name="Rounded Rectangle 3"/>
          <p:cNvSpPr/>
          <p:nvPr/>
        </p:nvSpPr>
        <p:spPr>
          <a:xfrm>
            <a:off x="3474720" y="914400"/>
            <a:ext cx="237744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3B82F6"/>
                </a:solidFill>
              </a:defRPr>
            </a:pPr>
            <a:r>
              <a:t>1 Million</a:t>
            </a:r>
          </a:p>
          <a:p>
            <a:pPr algn="ctr">
              <a:defRPr sz="1000">
                <a:solidFill>
                  <a:srgbClr val="888880"/>
                </a:solidFill>
              </a:defRPr>
            </a:pPr>
            <a:r>
              <a:t>Max Memory (Tokens)</a:t>
            </a:r>
          </a:p>
        </p:txBody>
      </p:sp>
      <p:sp>
        <p:nvSpPr>
          <p:cNvPr id="5" name="Rounded Rectangle 4"/>
          <p:cNvSpPr/>
          <p:nvPr/>
        </p:nvSpPr>
        <p:spPr>
          <a:xfrm>
            <a:off x="6035040" y="914400"/>
            <a:ext cx="237744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D97706"/>
                </a:solidFill>
              </a:defRPr>
            </a:pPr>
            <a:r>
              <a:t>87%</a:t>
            </a:r>
          </a:p>
          <a:p>
            <a:pPr algn="ctr">
              <a:defRPr sz="1000">
                <a:solidFill>
                  <a:srgbClr val="888880"/>
                </a:solidFill>
              </a:defRPr>
            </a:pPr>
            <a:r>
              <a:t>Devs Using AI Tools</a:t>
            </a:r>
          </a:p>
        </p:txBody>
      </p:sp>
      <p:sp>
        <p:nvSpPr>
          <p:cNvPr id="6" name="Rounded Rectangle 5"/>
          <p:cNvSpPr/>
          <p:nvPr/>
        </p:nvSpPr>
        <p:spPr>
          <a:xfrm>
            <a:off x="8595360" y="914400"/>
            <a:ext cx="2651760" cy="91440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16A34A"/>
                </a:solidFill>
              </a:defRPr>
            </a:pPr>
            <a:r>
              <a:t>$0.14/1M</a:t>
            </a:r>
          </a:p>
          <a:p>
            <a:pPr algn="ctr">
              <a:defRPr sz="1000">
                <a:solidFill>
                  <a:srgbClr val="888880"/>
                </a:solidFill>
              </a:defRPr>
            </a:pPr>
            <a:r>
              <a:t>Cheapest Model cost</a:t>
            </a:r>
          </a:p>
        </p:txBody>
      </p:sp>
      <p:sp>
        <p:nvSpPr>
          <p:cNvPr id="7" name="TextBox 6"/>
          <p:cNvSpPr txBox="1"/>
          <p:nvPr/>
        </p:nvSpPr>
        <p:spPr>
          <a:xfrm>
            <a:off x="914400" y="2011680"/>
            <a:ext cx="10332720" cy="365760"/>
          </a:xfrm>
          <a:prstGeom prst="rect">
            <a:avLst/>
          </a:prstGeom>
          <a:noFill/>
        </p:spPr>
        <p:txBody>
          <a:bodyPr wrap="square">
            <a:spAutoFit/>
          </a:bodyPr>
          <a:lstStyle/>
          <a:p>
            <a:pPr algn="l">
              <a:defRPr sz="1600" b="1">
                <a:solidFill>
                  <a:srgbClr val="3B82F6"/>
                </a:solidFill>
              </a:defRPr>
            </a:pPr>
            <a:r>
              <a:t>Major AI Assistants &amp; Services</a:t>
            </a:r>
          </a:p>
        </p:txBody>
      </p:sp>
      <p:sp>
        <p:nvSpPr>
          <p:cNvPr id="8" name="Rounded Rectangle 7"/>
          <p:cNvSpPr/>
          <p:nvPr/>
        </p:nvSpPr>
        <p:spPr>
          <a:xfrm>
            <a:off x="914400" y="2560320"/>
            <a:ext cx="5029200" cy="7772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33472"/>
            <a:ext cx="4663440" cy="228600"/>
          </a:xfrm>
          <a:prstGeom prst="rect">
            <a:avLst/>
          </a:prstGeom>
          <a:noFill/>
        </p:spPr>
        <p:txBody>
          <a:bodyPr wrap="square">
            <a:spAutoFit/>
          </a:bodyPr>
          <a:lstStyle/>
          <a:p>
            <a:pPr algn="l">
              <a:defRPr sz="1200" b="1">
                <a:solidFill>
                  <a:srgbClr val="3B82F6"/>
                </a:solidFill>
              </a:defRPr>
            </a:pPr>
            <a:r>
              <a:t>Claude (Anthropic)</a:t>
            </a:r>
          </a:p>
        </p:txBody>
      </p:sp>
      <p:sp>
        <p:nvSpPr>
          <p:cNvPr id="10" name="TextBox 9"/>
          <p:cNvSpPr txBox="1"/>
          <p:nvPr/>
        </p:nvSpPr>
        <p:spPr>
          <a:xfrm>
            <a:off x="1097280" y="2880360"/>
            <a:ext cx="4663440" cy="411480"/>
          </a:xfrm>
          <a:prstGeom prst="rect">
            <a:avLst/>
          </a:prstGeom>
          <a:noFill/>
        </p:spPr>
        <p:txBody>
          <a:bodyPr wrap="square">
            <a:spAutoFit/>
          </a:bodyPr>
          <a:lstStyle/>
          <a:p>
            <a:pPr algn="l">
              <a:defRPr sz="950" b="0">
                <a:solidFill>
                  <a:srgbClr val="4A4A4A"/>
                </a:solidFill>
              </a:defRPr>
            </a:pPr>
            <a:r>
              <a:t>Outstanding at writing, logical reasoning, and complex coding. High quality.</a:t>
            </a:r>
          </a:p>
        </p:txBody>
      </p:sp>
      <p:sp>
        <p:nvSpPr>
          <p:cNvPr id="11" name="Rounded Rectangle 10"/>
          <p:cNvSpPr/>
          <p:nvPr/>
        </p:nvSpPr>
        <p:spPr>
          <a:xfrm>
            <a:off x="6217920" y="2560320"/>
            <a:ext cx="5029200" cy="7772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633472"/>
            <a:ext cx="4663440" cy="228600"/>
          </a:xfrm>
          <a:prstGeom prst="rect">
            <a:avLst/>
          </a:prstGeom>
          <a:noFill/>
        </p:spPr>
        <p:txBody>
          <a:bodyPr wrap="square">
            <a:spAutoFit/>
          </a:bodyPr>
          <a:lstStyle/>
          <a:p>
            <a:pPr algn="l">
              <a:defRPr sz="1200" b="1">
                <a:solidFill>
                  <a:srgbClr val="3B82F6"/>
                </a:solidFill>
              </a:defRPr>
            </a:pPr>
            <a:r>
              <a:t>ChatGPT (OpenAI)</a:t>
            </a:r>
          </a:p>
        </p:txBody>
      </p:sp>
      <p:sp>
        <p:nvSpPr>
          <p:cNvPr id="13" name="TextBox 12"/>
          <p:cNvSpPr txBox="1"/>
          <p:nvPr/>
        </p:nvSpPr>
        <p:spPr>
          <a:xfrm>
            <a:off x="6400800" y="2880360"/>
            <a:ext cx="4663440" cy="411480"/>
          </a:xfrm>
          <a:prstGeom prst="rect">
            <a:avLst/>
          </a:prstGeom>
          <a:noFill/>
        </p:spPr>
        <p:txBody>
          <a:bodyPr wrap="square">
            <a:spAutoFit/>
          </a:bodyPr>
          <a:lstStyle/>
          <a:p>
            <a:pPr algn="l">
              <a:defRPr sz="950" b="0">
                <a:solidFill>
                  <a:srgbClr val="4A4A4A"/>
                </a:solidFill>
              </a:defRPr>
            </a:pPr>
            <a:r>
              <a:t>Excellent general-purpose utility, very fast, integrated web search features.</a:t>
            </a:r>
          </a:p>
        </p:txBody>
      </p:sp>
      <p:sp>
        <p:nvSpPr>
          <p:cNvPr id="14" name="Rounded Rectangle 13"/>
          <p:cNvSpPr/>
          <p:nvPr/>
        </p:nvSpPr>
        <p:spPr>
          <a:xfrm>
            <a:off x="914400" y="3474720"/>
            <a:ext cx="5029200" cy="7772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547872"/>
            <a:ext cx="4663440" cy="228600"/>
          </a:xfrm>
          <a:prstGeom prst="rect">
            <a:avLst/>
          </a:prstGeom>
          <a:noFill/>
        </p:spPr>
        <p:txBody>
          <a:bodyPr wrap="square">
            <a:spAutoFit/>
          </a:bodyPr>
          <a:lstStyle/>
          <a:p>
            <a:pPr algn="l">
              <a:defRPr sz="1200" b="1">
                <a:solidFill>
                  <a:srgbClr val="3B82F6"/>
                </a:solidFill>
              </a:defRPr>
            </a:pPr>
            <a:r>
              <a:t>Gemini (Google)</a:t>
            </a:r>
          </a:p>
        </p:txBody>
      </p:sp>
      <p:sp>
        <p:nvSpPr>
          <p:cNvPr id="16" name="TextBox 15"/>
          <p:cNvSpPr txBox="1"/>
          <p:nvPr/>
        </p:nvSpPr>
        <p:spPr>
          <a:xfrm>
            <a:off x="1097280" y="3794760"/>
            <a:ext cx="4663440" cy="411480"/>
          </a:xfrm>
          <a:prstGeom prst="rect">
            <a:avLst/>
          </a:prstGeom>
          <a:noFill/>
        </p:spPr>
        <p:txBody>
          <a:bodyPr wrap="square">
            <a:spAutoFit/>
          </a:bodyPr>
          <a:lstStyle/>
          <a:p>
            <a:pPr algn="l">
              <a:defRPr sz="950" b="0">
                <a:solidFill>
                  <a:srgbClr val="4A4A4A"/>
                </a:solidFill>
              </a:defRPr>
            </a:pPr>
            <a:r>
              <a:t>Largest memory window (up to 1M tokens), perfect for summarizing entire books.</a:t>
            </a:r>
          </a:p>
        </p:txBody>
      </p:sp>
      <p:sp>
        <p:nvSpPr>
          <p:cNvPr id="17" name="Rounded Rectangle 16"/>
          <p:cNvSpPr/>
          <p:nvPr/>
        </p:nvSpPr>
        <p:spPr>
          <a:xfrm>
            <a:off x="6217920" y="3474720"/>
            <a:ext cx="5029200" cy="7772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547872"/>
            <a:ext cx="4663440" cy="228600"/>
          </a:xfrm>
          <a:prstGeom prst="rect">
            <a:avLst/>
          </a:prstGeom>
          <a:noFill/>
        </p:spPr>
        <p:txBody>
          <a:bodyPr wrap="square">
            <a:spAutoFit/>
          </a:bodyPr>
          <a:lstStyle/>
          <a:p>
            <a:pPr algn="l">
              <a:defRPr sz="1200" b="1">
                <a:solidFill>
                  <a:srgbClr val="3B82F6"/>
                </a:solidFill>
              </a:defRPr>
            </a:pPr>
            <a:r>
              <a:t>DeepSeek V4</a:t>
            </a:r>
          </a:p>
        </p:txBody>
      </p:sp>
      <p:sp>
        <p:nvSpPr>
          <p:cNvPr id="19" name="TextBox 18"/>
          <p:cNvSpPr txBox="1"/>
          <p:nvPr/>
        </p:nvSpPr>
        <p:spPr>
          <a:xfrm>
            <a:off x="6400800" y="3794760"/>
            <a:ext cx="4663440" cy="411480"/>
          </a:xfrm>
          <a:prstGeom prst="rect">
            <a:avLst/>
          </a:prstGeom>
          <a:noFill/>
        </p:spPr>
        <p:txBody>
          <a:bodyPr wrap="square">
            <a:spAutoFit/>
          </a:bodyPr>
          <a:lstStyle/>
          <a:p>
            <a:pPr algn="l">
              <a:defRPr sz="950" b="0">
                <a:solidFill>
                  <a:srgbClr val="4A4A4A"/>
                </a:solidFill>
              </a:defRPr>
            </a:pPr>
            <a:r>
              <a:t>Astonishingly inexpensive open-weight model matching closed systems.</a:t>
            </a:r>
          </a:p>
        </p:txBody>
      </p:sp>
      <p:sp>
        <p:nvSpPr>
          <p:cNvPr id="20" name="Rounded Rectangle 19"/>
          <p:cNvSpPr/>
          <p:nvPr/>
        </p:nvSpPr>
        <p:spPr>
          <a:xfrm>
            <a:off x="914400" y="4389120"/>
            <a:ext cx="5029200" cy="777240"/>
          </a:xfrm>
          <a:prstGeom prst="roundRect">
            <a:avLst/>
          </a:prstGeom>
          <a:solidFill>
            <a:srgbClr val="FFFFFF"/>
          </a:solidFill>
          <a:ln w="12700">
            <a:solidFill>
              <a:srgbClr val="E0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462272"/>
            <a:ext cx="4663440" cy="228600"/>
          </a:xfrm>
          <a:prstGeom prst="rect">
            <a:avLst/>
          </a:prstGeom>
          <a:noFill/>
        </p:spPr>
        <p:txBody>
          <a:bodyPr wrap="square">
            <a:spAutoFit/>
          </a:bodyPr>
          <a:lstStyle/>
          <a:p>
            <a:pPr algn="l">
              <a:defRPr sz="1200" b="1">
                <a:solidFill>
                  <a:srgbClr val="3B82F6"/>
                </a:solidFill>
              </a:defRPr>
            </a:pPr>
            <a:r>
              <a:t>Llama (Meta)</a:t>
            </a:r>
          </a:p>
        </p:txBody>
      </p:sp>
      <p:sp>
        <p:nvSpPr>
          <p:cNvPr id="22" name="TextBox 21"/>
          <p:cNvSpPr txBox="1"/>
          <p:nvPr/>
        </p:nvSpPr>
        <p:spPr>
          <a:xfrm>
            <a:off x="1097280" y="4709160"/>
            <a:ext cx="4663440" cy="411480"/>
          </a:xfrm>
          <a:prstGeom prst="rect">
            <a:avLst/>
          </a:prstGeom>
          <a:noFill/>
        </p:spPr>
        <p:txBody>
          <a:bodyPr wrap="square">
            <a:spAutoFit/>
          </a:bodyPr>
          <a:lstStyle/>
          <a:p>
            <a:pPr algn="l">
              <a:defRPr sz="950" b="0">
                <a:solidFill>
                  <a:srgbClr val="4A4A4A"/>
                </a:solidFill>
              </a:defRPr>
            </a:pPr>
            <a:r>
              <a:t>Open-source foundation, free to self-host and customize completely.</a:t>
            </a:r>
          </a:p>
        </p:txBody>
      </p:sp>
      <p:sp>
        <p:nvSpPr>
          <p:cNvPr id="23" name="Rounded Rectangle 22"/>
          <p:cNvSpPr/>
          <p:nvPr/>
        </p:nvSpPr>
        <p:spPr>
          <a:xfrm>
            <a:off x="914400" y="4572000"/>
            <a:ext cx="10332720" cy="731520"/>
          </a:xfrm>
          <a:prstGeom prst="round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663440"/>
            <a:ext cx="9784080" cy="548640"/>
          </a:xfrm>
          <a:prstGeom prst="rect">
            <a:avLst/>
          </a:prstGeom>
          <a:noFill/>
        </p:spPr>
        <p:txBody>
          <a:bodyPr wrap="square">
            <a:spAutoFit/>
          </a:bodyPr>
          <a:lstStyle/>
          <a:p>
            <a:pPr algn="l">
              <a:defRPr sz="1100" b="0">
                <a:solidFill>
                  <a:srgbClr val="3B82F6"/>
                </a:solidFill>
              </a:defRPr>
            </a:pPr>
            <a:r>
              <a:t>Note: AI costs are declining incredibly fast, and open-weight models are making high-quality AI universally accessible.</a:t>
            </a:r>
          </a:p>
        </p:txBody>
      </p:sp>
      <p:sp>
        <p:nvSpPr>
          <p:cNvPr id="25" name="TextBox 2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3B82F6"/>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l">
              <a:defRPr sz="1800" b="0">
                <a:solidFill>
                  <a:srgbClr val="FFFFFF"/>
                </a:solidFill>
              </a:defRPr>
            </a:pPr>
            <a:r>
              <a:t>Part 2</a:t>
            </a:r>
          </a:p>
        </p:txBody>
      </p:sp>
      <p:sp>
        <p:nvSpPr>
          <p:cNvPr id="3" name="TextBox 2"/>
          <p:cNvSpPr txBox="1"/>
          <p:nvPr/>
        </p:nvSpPr>
        <p:spPr>
          <a:xfrm>
            <a:off x="914400" y="2743200"/>
            <a:ext cx="10332720" cy="1371600"/>
          </a:xfrm>
          <a:prstGeom prst="rect">
            <a:avLst/>
          </a:prstGeom>
          <a:noFill/>
        </p:spPr>
        <p:txBody>
          <a:bodyPr wrap="square">
            <a:spAutoFit/>
          </a:bodyPr>
          <a:lstStyle/>
          <a:p>
            <a:pPr algn="l">
              <a:defRPr sz="3600" b="1">
                <a:solidFill>
                  <a:srgbClr val="FFFFFF"/>
                </a:solidFill>
              </a:defRPr>
            </a:pPr>
            <a:r>
              <a:t>Prompting &amp; Basic Workflows</a:t>
            </a:r>
          </a:p>
        </p:txBody>
      </p:sp>
      <p:sp>
        <p:nvSpPr>
          <p:cNvPr id="4" name="TextBox 3"/>
          <p:cNvSpPr txBox="1"/>
          <p:nvPr/>
        </p:nvSpPr>
        <p:spPr>
          <a:xfrm>
            <a:off x="914400" y="3840480"/>
            <a:ext cx="10332720" cy="914400"/>
          </a:xfrm>
          <a:prstGeom prst="rect">
            <a:avLst/>
          </a:prstGeom>
          <a:noFill/>
        </p:spPr>
        <p:txBody>
          <a:bodyPr wrap="square">
            <a:spAutoFit/>
          </a:bodyPr>
          <a:lstStyle/>
          <a:p>
            <a:pPr algn="l">
              <a:defRPr sz="1600" b="0">
                <a:solidFill>
                  <a:srgbClr val="BFDBFE"/>
                </a:solidFill>
              </a:defRPr>
            </a:pPr>
            <a:r>
              <a:t>How to communicate with language models effectively for daily work</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Three Core Prompting Principles</a:t>
            </a:r>
          </a:p>
        </p:txBody>
      </p:sp>
      <p:sp>
        <p:nvSpPr>
          <p:cNvPr id="3" name="Rounded Rectangle 2"/>
          <p:cNvSpPr/>
          <p:nvPr/>
        </p:nvSpPr>
        <p:spPr>
          <a:xfrm>
            <a:off x="914400" y="1005840"/>
            <a:ext cx="3200400" cy="411480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2834640" cy="365760"/>
          </a:xfrm>
          <a:prstGeom prst="rect">
            <a:avLst/>
          </a:prstGeom>
          <a:noFill/>
        </p:spPr>
        <p:txBody>
          <a:bodyPr wrap="square">
            <a:spAutoFit/>
          </a:bodyPr>
          <a:lstStyle/>
          <a:p>
            <a:pPr algn="l">
              <a:defRPr sz="1400" b="1">
                <a:solidFill>
                  <a:srgbClr val="3B82F6"/>
                </a:solidFill>
              </a:defRPr>
            </a:pPr>
            <a:r>
              <a:t>1. Be Highly Specific</a:t>
            </a:r>
          </a:p>
        </p:txBody>
      </p:sp>
      <p:sp>
        <p:nvSpPr>
          <p:cNvPr id="5" name="TextBox 4"/>
          <p:cNvSpPr txBox="1"/>
          <p:nvPr/>
        </p:nvSpPr>
        <p:spPr>
          <a:xfrm>
            <a:off x="1097280" y="1645920"/>
            <a:ext cx="2834640" cy="3291840"/>
          </a:xfrm>
          <a:prstGeom prst="rect">
            <a:avLst/>
          </a:prstGeom>
          <a:noFill/>
        </p:spPr>
        <p:txBody>
          <a:bodyPr wrap="square">
            <a:spAutoFit/>
          </a:bodyPr>
          <a:lstStyle/>
          <a:p>
            <a:pPr algn="l">
              <a:defRPr sz="1100" b="0">
                <a:solidFill>
                  <a:srgbClr val="1A1A1A"/>
                </a:solidFill>
              </a:defRPr>
            </a:pPr>
            <a:r>
              <a:t>Tell the model exactly what you want.</a:t>
            </a:r>
            <a:br/>
            <a:br/>
            <a:r>
              <a:t>Bad: 'Write a summary of this.'</a:t>
            </a:r>
            <a:br/>
            <a:r>
              <a:t>Good: 'Write a 3-bullet-point summary focusing only on the financial action items.'</a:t>
            </a:r>
          </a:p>
        </p:txBody>
      </p:sp>
      <p:sp>
        <p:nvSpPr>
          <p:cNvPr id="6" name="Rounded Rectangle 5"/>
          <p:cNvSpPr/>
          <p:nvPr/>
        </p:nvSpPr>
        <p:spPr>
          <a:xfrm>
            <a:off x="4480560" y="1005840"/>
            <a:ext cx="3200400" cy="411480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1188720"/>
            <a:ext cx="2834640" cy="365760"/>
          </a:xfrm>
          <a:prstGeom prst="rect">
            <a:avLst/>
          </a:prstGeom>
          <a:noFill/>
        </p:spPr>
        <p:txBody>
          <a:bodyPr wrap="square">
            <a:spAutoFit/>
          </a:bodyPr>
          <a:lstStyle/>
          <a:p>
            <a:pPr algn="l">
              <a:defRPr sz="1400" b="1">
                <a:solidFill>
                  <a:srgbClr val="16A34A"/>
                </a:solidFill>
              </a:defRPr>
            </a:pPr>
            <a:r>
              <a:t>2. Provide Examples (Few-Shot)</a:t>
            </a:r>
          </a:p>
        </p:txBody>
      </p:sp>
      <p:sp>
        <p:nvSpPr>
          <p:cNvPr id="8" name="TextBox 7"/>
          <p:cNvSpPr txBox="1"/>
          <p:nvPr/>
        </p:nvSpPr>
        <p:spPr>
          <a:xfrm>
            <a:off x="4663440" y="1645920"/>
            <a:ext cx="2834640" cy="3291840"/>
          </a:xfrm>
          <a:prstGeom prst="rect">
            <a:avLst/>
          </a:prstGeom>
          <a:noFill/>
        </p:spPr>
        <p:txBody>
          <a:bodyPr wrap="square">
            <a:spAutoFit/>
          </a:bodyPr>
          <a:lstStyle/>
          <a:p>
            <a:pPr algn="l">
              <a:defRPr sz="1100" b="0">
                <a:solidFill>
                  <a:srgbClr val="1A1A1A"/>
                </a:solidFill>
              </a:defRPr>
            </a:pPr>
            <a:r>
              <a:t>Show, don't just tell. Providing 1-2 examples of desired input/output pairs vastly improves structure.</a:t>
            </a:r>
            <a:br/>
            <a:br/>
            <a:r>
              <a:t>Bad: 'Write a product review.'</a:t>
            </a:r>
            <a:br/>
            <a:r>
              <a:t>Good: 'Here are 2 reviews I wrote... now write one in that same voice.'</a:t>
            </a:r>
          </a:p>
        </p:txBody>
      </p:sp>
      <p:sp>
        <p:nvSpPr>
          <p:cNvPr id="9" name="Rounded Rectangle 8"/>
          <p:cNvSpPr/>
          <p:nvPr/>
        </p:nvSpPr>
        <p:spPr>
          <a:xfrm>
            <a:off x="8046720" y="1005840"/>
            <a:ext cx="3200400" cy="411480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188720"/>
            <a:ext cx="2834640" cy="365760"/>
          </a:xfrm>
          <a:prstGeom prst="rect">
            <a:avLst/>
          </a:prstGeom>
          <a:noFill/>
        </p:spPr>
        <p:txBody>
          <a:bodyPr wrap="square">
            <a:spAutoFit/>
          </a:bodyPr>
          <a:lstStyle/>
          <a:p>
            <a:pPr algn="l">
              <a:defRPr sz="1400" b="1">
                <a:solidFill>
                  <a:srgbClr val="D97706"/>
                </a:solidFill>
              </a:defRPr>
            </a:pPr>
            <a:r>
              <a:t>3. Ask for Explicit Structure</a:t>
            </a:r>
          </a:p>
        </p:txBody>
      </p:sp>
      <p:sp>
        <p:nvSpPr>
          <p:cNvPr id="11" name="TextBox 10"/>
          <p:cNvSpPr txBox="1"/>
          <p:nvPr/>
        </p:nvSpPr>
        <p:spPr>
          <a:xfrm>
            <a:off x="8229600" y="1645920"/>
            <a:ext cx="2834640" cy="3291840"/>
          </a:xfrm>
          <a:prstGeom prst="rect">
            <a:avLst/>
          </a:prstGeom>
          <a:noFill/>
        </p:spPr>
        <p:txBody>
          <a:bodyPr wrap="square">
            <a:spAutoFit/>
          </a:bodyPr>
          <a:lstStyle/>
          <a:p>
            <a:pPr algn="l">
              <a:defRPr sz="1100" b="0">
                <a:solidFill>
                  <a:srgbClr val="1A1A1A"/>
                </a:solidFill>
              </a:defRPr>
            </a:pPr>
            <a:r>
              <a:t>Request specific output formats like bulleted lists, standard markdown tables, or plain JSON structures.</a:t>
            </a:r>
            <a:br/>
            <a:br/>
            <a:r>
              <a:t>Bad: 'Compare these two.'</a:t>
            </a:r>
            <a:br/>
            <a:r>
              <a:t>Good: 'Compare A and B in a markdown table with columns for Cost, Speed, and Ease of Use.'</a:t>
            </a:r>
          </a:p>
        </p:txBody>
      </p:sp>
      <p:sp>
        <p:nvSpPr>
          <p:cNvPr id="12" name="Rounded Rectangle 11"/>
          <p:cNvSpPr/>
          <p:nvPr/>
        </p:nvSpPr>
        <p:spPr>
          <a:xfrm>
            <a:off x="914400" y="5303520"/>
            <a:ext cx="10332720" cy="73152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5394960"/>
            <a:ext cx="9784080" cy="548640"/>
          </a:xfrm>
          <a:prstGeom prst="rect">
            <a:avLst/>
          </a:prstGeom>
          <a:noFill/>
        </p:spPr>
        <p:txBody>
          <a:bodyPr wrap="square">
            <a:spAutoFit/>
          </a:bodyPr>
          <a:lstStyle/>
          <a:p>
            <a:pPr algn="l">
              <a:defRPr sz="1100" b="1">
                <a:solidFill>
                  <a:srgbClr val="16A34A"/>
                </a:solidFill>
              </a:defRPr>
            </a:pPr>
            <a:r>
              <a:t>Pro Tip: If the model gives a poor answer, don't restart. Reply with: 'That's too technical, explain it simpler' or 'Format it as a table.'</a:t>
            </a:r>
          </a:p>
        </p:txBody>
      </p:sp>
      <p:sp>
        <p:nvSpPr>
          <p:cNvPr id="14" name="TextBox 13"/>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Temperature: The Creativity Knob</a:t>
            </a:r>
          </a:p>
        </p:txBody>
      </p:sp>
      <p:sp>
        <p:nvSpPr>
          <p:cNvPr id="3" name="TextBox 2"/>
          <p:cNvSpPr txBox="1"/>
          <p:nvPr/>
        </p:nvSpPr>
        <p:spPr>
          <a:xfrm>
            <a:off x="914400" y="914400"/>
            <a:ext cx="10332720" cy="914400"/>
          </a:xfrm>
          <a:prstGeom prst="rect">
            <a:avLst/>
          </a:prstGeom>
          <a:noFill/>
        </p:spPr>
        <p:txBody>
          <a:bodyPr wrap="square">
            <a:spAutoFit/>
          </a:bodyPr>
          <a:lstStyle/>
          <a:p>
            <a:pPr algn="l">
              <a:defRPr sz="1300" b="0">
                <a:solidFill>
                  <a:srgbClr val="1A1A1A"/>
                </a:solidFill>
              </a:defRPr>
            </a:pPr>
            <a:r>
              <a:t>Temperature is a setting from 0.0 to 1.0+ that controls how 'creative' or 'variable' the model's outputs are.</a:t>
            </a:r>
            <a:br/>
            <a:r>
              <a:t>Low temperature forces the model to pick the most mathematically probable words. High temperature introduces randomness.</a:t>
            </a:r>
          </a:p>
        </p:txBody>
      </p:sp>
      <p:sp>
        <p:nvSpPr>
          <p:cNvPr id="4" name="Rounded Rectangle 3"/>
          <p:cNvSpPr/>
          <p:nvPr/>
        </p:nvSpPr>
        <p:spPr>
          <a:xfrm>
            <a:off x="914400" y="2011680"/>
            <a:ext cx="3200400" cy="3017520"/>
          </a:xfrm>
          <a:prstGeom prst="roundRect">
            <a:avLst/>
          </a:prstGeom>
          <a:solidFill>
            <a:srgbClr val="FFFFFF"/>
          </a:solidFill>
          <a:ln w="19050">
            <a:solidFill>
              <a:srgbClr val="1A2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48840"/>
            <a:ext cx="2834640" cy="274320"/>
          </a:xfrm>
          <a:prstGeom prst="rect">
            <a:avLst/>
          </a:prstGeom>
          <a:noFill/>
        </p:spPr>
        <p:txBody>
          <a:bodyPr wrap="square">
            <a:spAutoFit/>
          </a:bodyPr>
          <a:lstStyle/>
          <a:p>
            <a:pPr algn="l">
              <a:defRPr sz="1300" b="1">
                <a:solidFill>
                  <a:srgbClr val="1A2D4D"/>
                </a:solidFill>
              </a:defRPr>
            </a:pPr>
            <a:r>
              <a:t>Low Temperature (0.0)</a:t>
            </a:r>
          </a:p>
        </p:txBody>
      </p:sp>
      <p:sp>
        <p:nvSpPr>
          <p:cNvPr id="6" name="TextBox 5"/>
          <p:cNvSpPr txBox="1"/>
          <p:nvPr/>
        </p:nvSpPr>
        <p:spPr>
          <a:xfrm>
            <a:off x="1097280" y="2450592"/>
            <a:ext cx="2834640" cy="228600"/>
          </a:xfrm>
          <a:prstGeom prst="rect">
            <a:avLst/>
          </a:prstGeom>
          <a:noFill/>
        </p:spPr>
        <p:txBody>
          <a:bodyPr wrap="square">
            <a:spAutoFit/>
          </a:bodyPr>
          <a:lstStyle/>
          <a:p>
            <a:pPr algn="l">
              <a:defRPr sz="1000" b="0">
                <a:solidFill>
                  <a:srgbClr val="888880"/>
                </a:solidFill>
              </a:defRPr>
            </a:pPr>
            <a:r>
              <a:t>Highly predictable &amp; consistent.</a:t>
            </a:r>
          </a:p>
        </p:txBody>
      </p:sp>
      <p:sp>
        <p:nvSpPr>
          <p:cNvPr id="7" name="Rounded Rectangle 6"/>
          <p:cNvSpPr/>
          <p:nvPr/>
        </p:nvSpPr>
        <p:spPr>
          <a:xfrm>
            <a:off x="1097280" y="2743200"/>
            <a:ext cx="1828800" cy="228600"/>
          </a:xfrm>
          <a:prstGeom prst="roundRect">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800">
                <a:solidFill>
                  <a:srgbClr val="FFFFFF"/>
                </a:solidFill>
              </a:defRPr>
            </a:pPr>
            <a:r>
              <a:t>Deterministic</a:t>
            </a:r>
          </a:p>
        </p:txBody>
      </p:sp>
      <p:sp>
        <p:nvSpPr>
          <p:cNvPr id="8" name="TextBox 7"/>
          <p:cNvSpPr txBox="1"/>
          <p:nvPr/>
        </p:nvSpPr>
        <p:spPr>
          <a:xfrm>
            <a:off x="1097280" y="3108960"/>
            <a:ext cx="2834640" cy="1737360"/>
          </a:xfrm>
          <a:prstGeom prst="rect">
            <a:avLst/>
          </a:prstGeom>
          <a:noFill/>
        </p:spPr>
        <p:txBody>
          <a:bodyPr wrap="square">
            <a:spAutoFit/>
          </a:bodyPr>
          <a:lstStyle/>
          <a:p>
            <a:pPr algn="l">
              <a:defRPr sz="1100" b="0">
                <a:solidFill>
                  <a:srgbClr val="1A1A1A"/>
                </a:solidFill>
              </a:defRPr>
            </a:pPr>
            <a:r>
              <a:t>• Writing software code</a:t>
            </a:r>
            <a:br/>
            <a:r>
              <a:t>• Math calculations</a:t>
            </a:r>
            <a:br/>
            <a:r>
              <a:t>• Fact extraction</a:t>
            </a:r>
            <a:br/>
            <a:r>
              <a:t>• Structured JSON output</a:t>
            </a:r>
          </a:p>
        </p:txBody>
      </p:sp>
      <p:sp>
        <p:nvSpPr>
          <p:cNvPr id="9" name="Rounded Rectangle 8"/>
          <p:cNvSpPr/>
          <p:nvPr/>
        </p:nvSpPr>
        <p:spPr>
          <a:xfrm>
            <a:off x="4480560" y="2011680"/>
            <a:ext cx="3200400" cy="301752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148840"/>
            <a:ext cx="2834640" cy="274320"/>
          </a:xfrm>
          <a:prstGeom prst="rect">
            <a:avLst/>
          </a:prstGeom>
          <a:noFill/>
        </p:spPr>
        <p:txBody>
          <a:bodyPr wrap="square">
            <a:spAutoFit/>
          </a:bodyPr>
          <a:lstStyle/>
          <a:p>
            <a:pPr algn="l">
              <a:defRPr sz="1300" b="1">
                <a:solidFill>
                  <a:srgbClr val="3B82F6"/>
                </a:solidFill>
              </a:defRPr>
            </a:pPr>
            <a:r>
              <a:t>Balanced Temperature (0.5)</a:t>
            </a:r>
          </a:p>
        </p:txBody>
      </p:sp>
      <p:sp>
        <p:nvSpPr>
          <p:cNvPr id="11" name="TextBox 10"/>
          <p:cNvSpPr txBox="1"/>
          <p:nvPr/>
        </p:nvSpPr>
        <p:spPr>
          <a:xfrm>
            <a:off x="4663440" y="2450592"/>
            <a:ext cx="2834640" cy="228600"/>
          </a:xfrm>
          <a:prstGeom prst="rect">
            <a:avLst/>
          </a:prstGeom>
          <a:noFill/>
        </p:spPr>
        <p:txBody>
          <a:bodyPr wrap="square">
            <a:spAutoFit/>
          </a:bodyPr>
          <a:lstStyle/>
          <a:p>
            <a:pPr algn="l">
              <a:defRPr sz="1000" b="0">
                <a:solidFill>
                  <a:srgbClr val="888880"/>
                </a:solidFill>
              </a:defRPr>
            </a:pPr>
            <a:r>
              <a:t>Blend of focus and fluidity.</a:t>
            </a:r>
          </a:p>
        </p:txBody>
      </p:sp>
      <p:sp>
        <p:nvSpPr>
          <p:cNvPr id="12" name="Rounded Rectangle 11"/>
          <p:cNvSpPr/>
          <p:nvPr/>
        </p:nvSpPr>
        <p:spPr>
          <a:xfrm>
            <a:off x="4663440" y="2743200"/>
            <a:ext cx="1828800" cy="2286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800">
                <a:solidFill>
                  <a:srgbClr val="FFFFFF"/>
                </a:solidFill>
              </a:defRPr>
            </a:pPr>
            <a:r>
              <a:t>Optimal for most tasks</a:t>
            </a:r>
          </a:p>
        </p:txBody>
      </p:sp>
      <p:sp>
        <p:nvSpPr>
          <p:cNvPr id="13" name="TextBox 12"/>
          <p:cNvSpPr txBox="1"/>
          <p:nvPr/>
        </p:nvSpPr>
        <p:spPr>
          <a:xfrm>
            <a:off x="4663440" y="3108960"/>
            <a:ext cx="2834640" cy="1737360"/>
          </a:xfrm>
          <a:prstGeom prst="rect">
            <a:avLst/>
          </a:prstGeom>
          <a:noFill/>
        </p:spPr>
        <p:txBody>
          <a:bodyPr wrap="square">
            <a:spAutoFit/>
          </a:bodyPr>
          <a:lstStyle/>
          <a:p>
            <a:pPr algn="l">
              <a:defRPr sz="1100" b="0">
                <a:solidFill>
                  <a:srgbClr val="1A1A1A"/>
                </a:solidFill>
              </a:defRPr>
            </a:pPr>
            <a:r>
              <a:t>• Summarizing articles</a:t>
            </a:r>
            <a:br/>
            <a:r>
              <a:t>• Answering general Q&amp;A</a:t>
            </a:r>
            <a:br/>
            <a:r>
              <a:t>• Drafting emails</a:t>
            </a:r>
            <a:br/>
            <a:r>
              <a:t>• Document editing</a:t>
            </a:r>
          </a:p>
        </p:txBody>
      </p:sp>
      <p:sp>
        <p:nvSpPr>
          <p:cNvPr id="14" name="Rounded Rectangle 13"/>
          <p:cNvSpPr/>
          <p:nvPr/>
        </p:nvSpPr>
        <p:spPr>
          <a:xfrm>
            <a:off x="8046720" y="2011680"/>
            <a:ext cx="3200400" cy="30175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148840"/>
            <a:ext cx="2834640" cy="274320"/>
          </a:xfrm>
          <a:prstGeom prst="rect">
            <a:avLst/>
          </a:prstGeom>
          <a:noFill/>
        </p:spPr>
        <p:txBody>
          <a:bodyPr wrap="square">
            <a:spAutoFit/>
          </a:bodyPr>
          <a:lstStyle/>
          <a:p>
            <a:pPr algn="l">
              <a:defRPr sz="1300" b="1">
                <a:solidFill>
                  <a:srgbClr val="16A34A"/>
                </a:solidFill>
              </a:defRPr>
            </a:pPr>
            <a:r>
              <a:t>High Temperature (1.0)</a:t>
            </a:r>
          </a:p>
        </p:txBody>
      </p:sp>
      <p:sp>
        <p:nvSpPr>
          <p:cNvPr id="16" name="TextBox 15"/>
          <p:cNvSpPr txBox="1"/>
          <p:nvPr/>
        </p:nvSpPr>
        <p:spPr>
          <a:xfrm>
            <a:off x="8229600" y="2450592"/>
            <a:ext cx="2834640" cy="228600"/>
          </a:xfrm>
          <a:prstGeom prst="rect">
            <a:avLst/>
          </a:prstGeom>
          <a:noFill/>
        </p:spPr>
        <p:txBody>
          <a:bodyPr wrap="square">
            <a:spAutoFit/>
          </a:bodyPr>
          <a:lstStyle/>
          <a:p>
            <a:pPr algn="l">
              <a:defRPr sz="1000" b="0">
                <a:solidFill>
                  <a:srgbClr val="888880"/>
                </a:solidFill>
              </a:defRPr>
            </a:pPr>
            <a:r>
              <a:t>Highly random and diverse.</a:t>
            </a:r>
          </a:p>
        </p:txBody>
      </p:sp>
      <p:sp>
        <p:nvSpPr>
          <p:cNvPr id="17" name="Rounded Rectangle 16"/>
          <p:cNvSpPr/>
          <p:nvPr/>
        </p:nvSpPr>
        <p:spPr>
          <a:xfrm>
            <a:off x="8229600" y="2743200"/>
            <a:ext cx="1828800" cy="22860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defRPr sz="800">
                <a:solidFill>
                  <a:srgbClr val="FFFFFF"/>
                </a:solidFill>
              </a:defRPr>
            </a:pPr>
            <a:r>
              <a:t>Creative &amp; brainstorm</a:t>
            </a:r>
          </a:p>
        </p:txBody>
      </p:sp>
      <p:sp>
        <p:nvSpPr>
          <p:cNvPr id="18" name="TextBox 17"/>
          <p:cNvSpPr txBox="1"/>
          <p:nvPr/>
        </p:nvSpPr>
        <p:spPr>
          <a:xfrm>
            <a:off x="8229600" y="3108960"/>
            <a:ext cx="2834640" cy="1737360"/>
          </a:xfrm>
          <a:prstGeom prst="rect">
            <a:avLst/>
          </a:prstGeom>
          <a:noFill/>
        </p:spPr>
        <p:txBody>
          <a:bodyPr wrap="square">
            <a:spAutoFit/>
          </a:bodyPr>
          <a:lstStyle/>
          <a:p>
            <a:pPr algn="l">
              <a:defRPr sz="1100" b="0">
                <a:solidFill>
                  <a:srgbClr val="1A1A1A"/>
                </a:solidFill>
              </a:defRPr>
            </a:pPr>
            <a:r>
              <a:t>• Generating fiction stories</a:t>
            </a:r>
            <a:br/>
            <a:r>
              <a:t>• Naming products</a:t>
            </a:r>
            <a:br/>
            <a:r>
              <a:t>• Brainstorming ideas</a:t>
            </a:r>
            <a:br/>
            <a:r>
              <a:t>• Creative marketing slogans</a:t>
            </a:r>
          </a:p>
        </p:txBody>
      </p:sp>
      <p:sp>
        <p:nvSpPr>
          <p:cNvPr id="19" name="TextBox 18"/>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0"/>
          <a:lstStyle/>
          <a:p>
            <a:pPr algn="l">
              <a:defRPr sz="1200" b="1">
                <a:solidFill>
                  <a:srgbClr val="FFFFFF"/>
                </a:solidFill>
              </a:defRPr>
            </a:pPr>
            <a:r>
              <a:t>Getting Started: Your First Month with AI</a:t>
            </a:r>
          </a:p>
        </p:txBody>
      </p:sp>
      <p:sp>
        <p:nvSpPr>
          <p:cNvPr id="3" name="Rectangle 2"/>
          <p:cNvSpPr/>
          <p:nvPr/>
        </p:nvSpPr>
        <p:spPr>
          <a:xfrm>
            <a:off x="1828800" y="2743200"/>
            <a:ext cx="7772400" cy="38100"/>
          </a:xfrm>
          <a:prstGeom prst="rect">
            <a:avLst/>
          </a:prstGeom>
          <a:solidFill>
            <a:srgbClr val="E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0" y="2606040"/>
            <a:ext cx="320040" cy="3200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188720"/>
            <a:ext cx="2194560" cy="365760"/>
          </a:xfrm>
          <a:prstGeom prst="rect">
            <a:avLst/>
          </a:prstGeom>
          <a:noFill/>
        </p:spPr>
        <p:txBody>
          <a:bodyPr wrap="square">
            <a:spAutoFit/>
          </a:bodyPr>
          <a:lstStyle/>
          <a:p>
            <a:pPr algn="ctr">
              <a:defRPr sz="1400" b="1">
                <a:solidFill>
                  <a:srgbClr val="3B82F6"/>
                </a:solidFill>
              </a:defRPr>
            </a:pPr>
            <a:r>
              <a:t>30 Minutes</a:t>
            </a:r>
          </a:p>
        </p:txBody>
      </p:sp>
      <p:sp>
        <p:nvSpPr>
          <p:cNvPr id="6" name="Rounded Rectangle 5"/>
          <p:cNvSpPr/>
          <p:nvPr/>
        </p:nvSpPr>
        <p:spPr>
          <a:xfrm>
            <a:off x="914400" y="3200400"/>
            <a:ext cx="2240280" cy="256032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91840"/>
            <a:ext cx="2057400" cy="2377440"/>
          </a:xfrm>
          <a:prstGeom prst="rect">
            <a:avLst/>
          </a:prstGeom>
          <a:noFill/>
        </p:spPr>
        <p:txBody>
          <a:bodyPr wrap="square">
            <a:spAutoFit/>
          </a:bodyPr>
          <a:lstStyle/>
          <a:p>
            <a:pPr algn="l">
              <a:defRPr sz="1000" b="0">
                <a:solidFill>
                  <a:srgbClr val="1A1A1A"/>
                </a:solidFill>
              </a:defRPr>
            </a:pPr>
            <a:r>
              <a:t>Sign up at Claude.ai or ChatGPT.com</a:t>
            </a:r>
            <a:br/>
            <a:br/>
            <a:r>
              <a:t>Ask the model to explain a hard concept in 3 different ways. Paste a long email and ask for a 2-sentence summary.</a:t>
            </a:r>
          </a:p>
        </p:txBody>
      </p:sp>
      <p:sp>
        <p:nvSpPr>
          <p:cNvPr id="8" name="Oval 7"/>
          <p:cNvSpPr/>
          <p:nvPr/>
        </p:nvSpPr>
        <p:spPr>
          <a:xfrm>
            <a:off x="4389120" y="2606040"/>
            <a:ext cx="320040" cy="32004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188720"/>
            <a:ext cx="2194560" cy="365760"/>
          </a:xfrm>
          <a:prstGeom prst="rect">
            <a:avLst/>
          </a:prstGeom>
          <a:noFill/>
        </p:spPr>
        <p:txBody>
          <a:bodyPr wrap="square">
            <a:spAutoFit/>
          </a:bodyPr>
          <a:lstStyle/>
          <a:p>
            <a:pPr algn="ctr">
              <a:defRPr sz="1400" b="1">
                <a:solidFill>
                  <a:srgbClr val="16A34A"/>
                </a:solidFill>
              </a:defRPr>
            </a:pPr>
            <a:r>
              <a:t>1 Day</a:t>
            </a:r>
          </a:p>
        </p:txBody>
      </p:sp>
      <p:sp>
        <p:nvSpPr>
          <p:cNvPr id="10" name="Rounded Rectangle 9"/>
          <p:cNvSpPr/>
          <p:nvPr/>
        </p:nvSpPr>
        <p:spPr>
          <a:xfrm>
            <a:off x="3474720" y="3200400"/>
            <a:ext cx="2240280" cy="25603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3291840"/>
            <a:ext cx="2057400" cy="2377440"/>
          </a:xfrm>
          <a:prstGeom prst="rect">
            <a:avLst/>
          </a:prstGeom>
          <a:noFill/>
        </p:spPr>
        <p:txBody>
          <a:bodyPr wrap="square">
            <a:spAutoFit/>
          </a:bodyPr>
          <a:lstStyle/>
          <a:p>
            <a:pPr algn="l">
              <a:defRPr sz="1000" b="0">
                <a:solidFill>
                  <a:srgbClr val="1A1A1A"/>
                </a:solidFill>
              </a:defRPr>
            </a:pPr>
            <a:r>
              <a:t>Use AI for one task on your active agenda</a:t>
            </a:r>
            <a:br/>
            <a:br/>
            <a:r>
              <a:t>Draft a polite response to a difficult email, format a messy text list into a table, or brainstorm 10 ideas.</a:t>
            </a:r>
          </a:p>
        </p:txBody>
      </p:sp>
      <p:sp>
        <p:nvSpPr>
          <p:cNvPr id="12" name="Oval 11"/>
          <p:cNvSpPr/>
          <p:nvPr/>
        </p:nvSpPr>
        <p:spPr>
          <a:xfrm>
            <a:off x="6949440" y="2606040"/>
            <a:ext cx="320040" cy="32004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1188720"/>
            <a:ext cx="2194560" cy="365760"/>
          </a:xfrm>
          <a:prstGeom prst="rect">
            <a:avLst/>
          </a:prstGeom>
          <a:noFill/>
        </p:spPr>
        <p:txBody>
          <a:bodyPr wrap="square">
            <a:spAutoFit/>
          </a:bodyPr>
          <a:lstStyle/>
          <a:p>
            <a:pPr algn="ctr">
              <a:defRPr sz="1400" b="1">
                <a:solidFill>
                  <a:srgbClr val="D97706"/>
                </a:solidFill>
              </a:defRPr>
            </a:pPr>
            <a:r>
              <a:t>1 Week</a:t>
            </a:r>
          </a:p>
        </p:txBody>
      </p:sp>
      <p:sp>
        <p:nvSpPr>
          <p:cNvPr id="14" name="Rounded Rectangle 13"/>
          <p:cNvSpPr/>
          <p:nvPr/>
        </p:nvSpPr>
        <p:spPr>
          <a:xfrm>
            <a:off x="6035040" y="3200400"/>
            <a:ext cx="2240280" cy="2560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3291840"/>
            <a:ext cx="2057400" cy="2377440"/>
          </a:xfrm>
          <a:prstGeom prst="rect">
            <a:avLst/>
          </a:prstGeom>
          <a:noFill/>
        </p:spPr>
        <p:txBody>
          <a:bodyPr wrap="square">
            <a:spAutoFit/>
          </a:bodyPr>
          <a:lstStyle/>
          <a:p>
            <a:pPr algn="l">
              <a:defRPr sz="1000" b="0">
                <a:solidFill>
                  <a:srgbClr val="1A1A1A"/>
                </a:solidFill>
              </a:defRPr>
            </a:pPr>
            <a:r>
              <a:t>Introduce structure &amp; prompt helper templates</a:t>
            </a:r>
            <a:br/>
            <a:br/>
            <a:r>
              <a:t>Set up a 'custom system prompt' to define your preferred output voice, format, and common parameters.</a:t>
            </a:r>
          </a:p>
        </p:txBody>
      </p:sp>
      <p:sp>
        <p:nvSpPr>
          <p:cNvPr id="16" name="Oval 15"/>
          <p:cNvSpPr/>
          <p:nvPr/>
        </p:nvSpPr>
        <p:spPr>
          <a:xfrm>
            <a:off x="9509760" y="2606040"/>
            <a:ext cx="320040" cy="320040"/>
          </a:xfrm>
          <a:prstGeom prst="ellipse">
            <a:avLst/>
          </a:prstGeom>
          <a:solidFill>
            <a:srgbClr val="1A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188720"/>
            <a:ext cx="2194560" cy="365760"/>
          </a:xfrm>
          <a:prstGeom prst="rect">
            <a:avLst/>
          </a:prstGeom>
          <a:noFill/>
        </p:spPr>
        <p:txBody>
          <a:bodyPr wrap="square">
            <a:spAutoFit/>
          </a:bodyPr>
          <a:lstStyle/>
          <a:p>
            <a:pPr algn="ctr">
              <a:defRPr sz="1400" b="1">
                <a:solidFill>
                  <a:srgbClr val="1A2D4D"/>
                </a:solidFill>
              </a:defRPr>
            </a:pPr>
            <a:r>
              <a:t>1 Month</a:t>
            </a:r>
          </a:p>
        </p:txBody>
      </p:sp>
      <p:sp>
        <p:nvSpPr>
          <p:cNvPr id="18" name="Rounded Rectangle 17"/>
          <p:cNvSpPr/>
          <p:nvPr/>
        </p:nvSpPr>
        <p:spPr>
          <a:xfrm>
            <a:off x="8595360" y="3200400"/>
            <a:ext cx="2240280" cy="2560320"/>
          </a:xfrm>
          <a:prstGeom prst="roundRect">
            <a:avLst/>
          </a:prstGeom>
          <a:solidFill>
            <a:srgbClr val="FFFFFF"/>
          </a:solidFill>
          <a:ln w="19050">
            <a:solidFill>
              <a:srgbClr val="1A2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3291840"/>
            <a:ext cx="2057400" cy="2377440"/>
          </a:xfrm>
          <a:prstGeom prst="rect">
            <a:avLst/>
          </a:prstGeom>
          <a:noFill/>
        </p:spPr>
        <p:txBody>
          <a:bodyPr wrap="square">
            <a:spAutoFit/>
          </a:bodyPr>
          <a:lstStyle/>
          <a:p>
            <a:pPr algn="l">
              <a:defRPr sz="1000" b="0">
                <a:solidFill>
                  <a:srgbClr val="1A1A1A"/>
                </a:solidFill>
              </a:defRPr>
            </a:pPr>
            <a:r>
              <a:t>Standardize workflow automation</a:t>
            </a:r>
            <a:br/>
            <a:br/>
            <a:r>
              <a:t>Automate a recurring report summary, deploy a custom prompt pipeline, or share template checklists with team members.</a:t>
            </a:r>
          </a:p>
        </p:txBody>
      </p:sp>
      <p:sp>
        <p:nvSpPr>
          <p:cNvPr id="20" name="TextBox 19"/>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914400"/>
          </a:xfrm>
          <a:prstGeom prst="rect">
            <a:avLst/>
          </a:prstGeom>
          <a:noFill/>
        </p:spPr>
        <p:txBody>
          <a:bodyPr wrap="square">
            <a:spAutoFit/>
          </a:bodyPr>
          <a:lstStyle/>
          <a:p>
            <a:pPr algn="ctr">
              <a:defRPr sz="5200" b="1">
                <a:solidFill>
                  <a:srgbClr val="3B82F6"/>
                </a:solidFill>
              </a:defRPr>
            </a:pPr>
            <a:r>
              <a:t>Questions &amp; Discussion</a:t>
            </a:r>
          </a:p>
        </p:txBody>
      </p:sp>
      <p:sp>
        <p:nvSpPr>
          <p:cNvPr id="3" name="TextBox 2"/>
          <p:cNvSpPr txBox="1"/>
          <p:nvPr/>
        </p:nvSpPr>
        <p:spPr>
          <a:xfrm>
            <a:off x="914400" y="2743200"/>
            <a:ext cx="10332720" cy="731520"/>
          </a:xfrm>
          <a:prstGeom prst="rect">
            <a:avLst/>
          </a:prstGeom>
          <a:noFill/>
        </p:spPr>
        <p:txBody>
          <a:bodyPr wrap="square">
            <a:spAutoFit/>
          </a:bodyPr>
          <a:lstStyle/>
          <a:p>
            <a:pPr algn="ctr">
              <a:defRPr sz="1800" b="0">
                <a:solidFill>
                  <a:srgbClr val="1A1A1A"/>
                </a:solidFill>
              </a:defRPr>
            </a:pPr>
            <a:r>
              <a:t>Ask me anything about generative AI, prompting, or getting started</a:t>
            </a:r>
          </a:p>
        </p:txBody>
      </p:sp>
      <p:sp>
        <p:nvSpPr>
          <p:cNvPr id="4" name="TextBox 3"/>
          <p:cNvSpPr txBox="1"/>
          <p:nvPr/>
        </p:nvSpPr>
        <p:spPr>
          <a:xfrm>
            <a:off x="914400" y="4114800"/>
            <a:ext cx="10332720" cy="548640"/>
          </a:xfrm>
          <a:prstGeom prst="rect">
            <a:avLst/>
          </a:prstGeom>
          <a:noFill/>
        </p:spPr>
        <p:txBody>
          <a:bodyPr wrap="square">
            <a:spAutoFit/>
          </a:bodyPr>
          <a:lstStyle/>
          <a:p>
            <a:pPr algn="ctr">
              <a:defRPr sz="1400" b="0">
                <a:solidFill>
                  <a:srgbClr val="888880"/>
                </a:solidFill>
              </a:defRPr>
            </a:pPr>
            <a:r>
              <a:t>Visit the Playbook: ai-playbook.pages.dev  •  Claude  •  ChatGPT</a:t>
            </a:r>
          </a:p>
        </p:txBody>
      </p:sp>
      <p:sp>
        <p:nvSpPr>
          <p:cNvPr id="5" name="TextBox 4"/>
          <p:cNvSpPr txBox="1"/>
          <p:nvPr/>
        </p:nvSpPr>
        <p:spPr>
          <a:xfrm>
            <a:off x="10972800" y="6446520"/>
            <a:ext cx="914400" cy="320040"/>
          </a:xfrm>
          <a:prstGeom prst="rect">
            <a:avLst/>
          </a:prstGeom>
          <a:noFill/>
        </p:spPr>
        <p:txBody>
          <a:bodyPr wrap="none">
            <a:spAutoFit/>
          </a:bodyPr>
          <a:lstStyle/>
          <a:p>
            <a:pPr algn="r">
              <a:defRPr sz="900">
                <a:solidFill>
                  <a:srgbClr val="888880"/>
                </a:solidFill>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